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Palatino Linotype"/>
              </a:rPr>
              <a:t>Woorden leren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0" i="0">
                <a:solidFill>
                  <a:srgbClr val="8FC8E6"/>
                </a:solidFill>
                <a:latin typeface="Palatino Linotype"/>
              </a:rPr>
              <a:t>met het grootste rendement eerst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794760"/>
            <a:ext cx="1371600" cy="36576"/>
          </a:xfrm>
          <a:prstGeom prst="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2354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 i="0">
                <a:solidFill>
                  <a:srgbClr val="B9C3CE"/>
                </a:solidFill>
                <a:latin typeface="Calibri"/>
              </a:rPr>
              <a:t>Je lijst van 778 woorden dekt 87% van alle woorden in het Nieuwe Testament.</a:t>
            </a:r>
          </a:p>
          <a:p>
            <a:pPr algn="ctr"/>
            <a:r>
              <a:rPr sz="1500" b="0" i="0">
                <a:solidFill>
                  <a:srgbClr val="B9C3CE"/>
                </a:solidFill>
                <a:latin typeface="Calibri"/>
              </a:rPr>
              <a:t>Maar dat rendement is extreem ongelijk verdeeld — en dat kun je uitbuiten.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 i="0">
                <a:solidFill>
                  <a:srgbClr val="7C8A99"/>
                </a:solidFill>
                <a:latin typeface="Calibri"/>
              </a:rPr>
              <a:t>Geteld over basis_woorden_verrijkt.json (778 woorden) en de 138.131 woorden van het 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Het rendement van woord nummer 1 tot 778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Hoeveel procent van álle woorden in het NT je kunt lezen na X geleerde woorden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250691"/>
            <a:ext cx="1040130" cy="118414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610612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8E5A"/>
                </a:solidFill>
                <a:latin typeface="Calibri"/>
              </a:rPr>
              <a:t>37%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10 woorden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45969" y="2866644"/>
            <a:ext cx="1040130" cy="1568196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45969" y="2226564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8E5A"/>
                </a:solidFill>
                <a:latin typeface="Calibri"/>
              </a:rPr>
              <a:t>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5969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25 woorden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6140" y="2578608"/>
            <a:ext cx="1040130" cy="1856231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6140" y="1938528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8E5A"/>
                </a:solidFill>
                <a:latin typeface="Calibri"/>
              </a:rPr>
              <a:t>58%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6140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50 woorden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6310" y="2322575"/>
            <a:ext cx="1040130" cy="2112264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6310" y="1682495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8E5A"/>
                </a:solidFill>
                <a:latin typeface="Calibri"/>
              </a:rPr>
              <a:t>66%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6310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100 woorden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66543"/>
            <a:ext cx="1040130" cy="2368296"/>
          </a:xfrm>
          <a:prstGeom prst="round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26464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A75906"/>
                </a:solidFill>
                <a:latin typeface="Calibri"/>
              </a:rPr>
              <a:t>74%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200 woorden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6650" y="1906523"/>
            <a:ext cx="1040130" cy="2528316"/>
          </a:xfrm>
          <a:prstGeom prst="round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6650" y="1266443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A75906"/>
                </a:solidFill>
                <a:latin typeface="Calibri"/>
              </a:rPr>
              <a:t>79%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6650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300 woorden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6820" y="1746503"/>
            <a:ext cx="1040130" cy="2688336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6820" y="1106424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6B7280"/>
                </a:solidFill>
                <a:latin typeface="Calibri"/>
              </a:rPr>
              <a:t>84%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6820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500 woorden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06990" y="1650491"/>
            <a:ext cx="1040130" cy="278434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06990" y="1010412"/>
            <a:ext cx="104013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6B7280"/>
                </a:solidFill>
                <a:latin typeface="Calibri"/>
              </a:rPr>
              <a:t>87%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6990" y="4480560"/>
            <a:ext cx="104013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778 woorden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983480"/>
            <a:ext cx="5349240" cy="123444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E8E5A"/>
                </a:solidFill>
                <a:latin typeface="Calibri"/>
              </a:rPr>
              <a:t>De eerste 100 woorden = twee derde van de tekst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Honderd woorden leren en je herkent al 66 van elke 100 woorden die je in het NT tegenkomt. Dit is verreweg het meest lonende dat je kunt doen.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983480"/>
            <a:ext cx="5212080" cy="1234440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Daarna vlakt het af — en dat is normaal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Van woord 500 tot 778 win je nog maar 3 procentpunt. Die woorden leer je niet voor de dekking, maar omdat ze in jouw tekst staan.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De twaalf woorden die je sowieso kent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Samen 54.807 vindplaatsen — 40% van alle woorden in het Nieuwe Testament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ὁ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de/het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19783×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0591" y="1097280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καί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en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8978×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097280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αὐτός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hij/zelf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5550×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5936" y="1097280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σύ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jij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2892×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3608" y="1097280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δέ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maar/en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2787×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097280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ἐν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in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2743×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39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ἐγώ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ik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2567×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2148839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εἰμί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zijn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2457×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48839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λέγω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zeggen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2255×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148839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εἰς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naar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1766×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93608" y="2148839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οὐ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niet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1622×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148839"/>
            <a:ext cx="1828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1B6E9C"/>
                </a:solidFill>
                <a:latin typeface="Palatino Linotype"/>
              </a:rPr>
              <a:t>ὅς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die/dat</a:t>
            </a:r>
          </a:p>
          <a:p>
            <a:pPr algn="ctr"/>
            <a:r>
              <a:rPr sz="1000" b="0" i="0">
                <a:solidFill>
                  <a:srgbClr val="5A6270"/>
                </a:solidFill>
                <a:latin typeface="Calibri"/>
              </a:rPr>
              <a:t>1407×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1115568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71A1F"/>
                </a:solidFill>
                <a:latin typeface="Calibri"/>
              </a:rPr>
              <a:t>Wat opvalt aan dit lijstje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365760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B6E9C"/>
                </a:solidFill>
                <a:latin typeface="Calibri"/>
              </a:rPr>
              <a:t>Het zijn bijna geen 'woorden'</a:t>
            </a:r>
          </a:p>
          <a:p>
            <a:pPr algn="l"/>
            <a:r>
              <a:rPr sz="1150" b="0" i="0">
                <a:solidFill>
                  <a:srgbClr val="5A6270"/>
                </a:solidFill>
                <a:latin typeface="Calibri"/>
              </a:rPr>
              <a:t>Lidwoord, voegwoorden, voornaamwoorden, voorzetsels — de bouwstenen van de zin, niet de inhoud.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657600"/>
            <a:ext cx="365760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8E2C48"/>
                </a:solidFill>
                <a:latin typeface="Calibri"/>
              </a:rPr>
              <a:t>Ze zijn allemaal onregelmatig</a:t>
            </a:r>
          </a:p>
          <a:p>
            <a:pPr algn="l"/>
            <a:r>
              <a:rPr sz="1150" b="0" i="0">
                <a:solidFill>
                  <a:srgbClr val="5A6270"/>
                </a:solidFill>
                <a:latin typeface="Calibri"/>
              </a:rPr>
              <a:t>ὁ, αὐτός, ἐγώ, εἰμί: juist deze hebben eigen rijtjes. Frequent en onregelmatig gaan samen.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3657600"/>
            <a:ext cx="365760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E8E5A"/>
                </a:solidFill>
                <a:latin typeface="Calibri"/>
              </a:rPr>
              <a:t>Ze dragen de grammatica</a:t>
            </a:r>
          </a:p>
          <a:p>
            <a:pPr algn="l"/>
            <a:r>
              <a:rPr sz="1150" b="0" i="0">
                <a:solidFill>
                  <a:srgbClr val="5A6270"/>
                </a:solidFill>
                <a:latin typeface="Calibri"/>
              </a:rPr>
              <a:t>Wie ὁ en αὐτός in alle naamvallen kent, leest de structuur van elke zin — nog vóór de inhoud.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74920"/>
            <a:ext cx="11155680" cy="1097280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171A1F"/>
                </a:solidFill>
                <a:latin typeface="Calibri"/>
              </a:rPr>
              <a:t>Daarom begint het Leerpad met deze woorden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Ze zijn saai om te leren en ze staan in elke zin. Dat is precies waarom ze bovenaan staan: elke minuut die je hierin steekt, betaalt zich in élke tekst terug.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Waar je lijst uit bestaat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778 woorden, verdeeld over veertien lessen van ongeveer vijftig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1B6E9C"/>
                </a:solidFill>
                <a:latin typeface="Calibri"/>
              </a:rPr>
              <a:t>290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Werkwoorden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09728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A75906"/>
                </a:solidFill>
                <a:latin typeface="Calibri"/>
              </a:rPr>
              <a:t>264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Zelfst. naamwoorden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09728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4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5B469E"/>
                </a:solidFill>
                <a:latin typeface="Calibri"/>
              </a:rPr>
              <a:t>70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Bijv. naamwoorden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09728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6B7280"/>
                </a:solidFill>
                <a:latin typeface="Calibri"/>
              </a:rPr>
              <a:t>51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Bijwoorden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09728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1E8E5A"/>
                </a:solidFill>
                <a:latin typeface="Calibri"/>
              </a:rPr>
              <a:t>28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Voegwoorden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8E2C48"/>
                </a:solidFill>
                <a:latin typeface="Calibri"/>
              </a:rPr>
              <a:t>26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Voornaamwoorden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28600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1B6E9C"/>
                </a:solidFill>
                <a:latin typeface="Calibri"/>
              </a:rPr>
              <a:t>25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Voorzetsels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28600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6B7280"/>
                </a:solidFill>
                <a:latin typeface="Calibri"/>
              </a:rPr>
              <a:t>14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Telwoorden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286000"/>
            <a:ext cx="21488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6B7280"/>
                </a:solidFill>
                <a:latin typeface="Calibri"/>
              </a:rPr>
              <a:t>9</a:t>
            </a:r>
          </a:p>
          <a:p>
            <a:pPr algn="ctr"/>
            <a:r>
              <a:rPr sz="1100" b="0" i="0">
                <a:solidFill>
                  <a:srgbClr val="171A1F"/>
                </a:solidFill>
                <a:latin typeface="Calibri"/>
              </a:rPr>
              <a:t>Partikels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5486400" cy="118872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1B6E9C"/>
                </a:solidFill>
                <a:latin typeface="Calibri"/>
              </a:rPr>
              <a:t>Werkwoorden zijn je grootste post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290 van de 778 — en 75 daarvan hebben ook nog vijf stamtijden. Reken erop dat je hier het meeste tijd kwijt bent; plan die tijd bewust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566160"/>
            <a:ext cx="5486400" cy="118872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1E8E5A"/>
                </a:solidFill>
                <a:latin typeface="Calibri"/>
              </a:rPr>
              <a:t>De kleine woordjes zijn klein in aantal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Samen 88 voegwoorden, voornaamwoorden, voorzetsels en partikels — maar ze vormen wel de helft van alles wat je léést. Hoog rendement, weinig werk.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37760"/>
            <a:ext cx="11155680" cy="1188720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171A1F"/>
                </a:solidFill>
                <a:latin typeface="Calibri"/>
              </a:rPr>
              <a:t>Bij een zelfstandig naamwoord leer je drie dingen tegelijk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Het woord, het geslacht (via het lidwoord) én de genitivus — want die verraadt de verbuigingsgroep. Leer ze daarom altijd als drieslag: ὁ λόγος, τοῦ λόγου  ·  τὸ σῶμα, τοῦ σώματος.</a:t>
            </a:r>
          </a:p>
          <a:p>
            <a:pPr algn="ctr"/>
            <a:r>
              <a:rPr sz="1150" b="0" i="0">
                <a:solidFill>
                  <a:srgbClr val="8E2C48"/>
                </a:solidFill>
                <a:latin typeface="Calibri"/>
              </a:rPr>
              <a:t>Sla je het lidwoord over, dan moet je het geslacht later alsnog apart leren.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Eén op de zes woorden is een samenstelling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125 van je 778 woorden beginnen met een voorzetsel — ken je het voorzetsel en het grondwoord, dan ken je het woord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54864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109728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Voorzetsel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Betekenis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×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πρός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naar toe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ἐπί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op, bij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ἐκ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ἀπό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vanaf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παρά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naast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κατά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neer, tegen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ἀνά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omhoog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Palatino Linotype"/>
                        </a:rPr>
                        <a:t>διά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door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A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051560"/>
            <a:ext cx="534924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71A1F"/>
                </a:solidFill>
                <a:latin typeface="Calibri"/>
              </a:rPr>
              <a:t>Zo werkt het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3492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1" i="0">
                <a:solidFill>
                  <a:srgbClr val="1B6E9C"/>
                </a:solidFill>
                <a:latin typeface="Palatino Linotype"/>
              </a:rPr>
              <a:t>ἀναβαίνω</a:t>
            </a:r>
          </a:p>
          <a:p>
            <a:pPr algn="l"/>
            <a:r>
              <a:rPr sz="1150" b="0" i="0">
                <a:solidFill>
                  <a:srgbClr val="171A1F"/>
                </a:solidFill>
                <a:latin typeface="Palatino Linotype"/>
              </a:rPr>
              <a:t>ἀνά (omhoog) + βαίνω (gaan)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omhoog gaan, opstijgen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13432"/>
            <a:ext cx="53492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1" i="0">
                <a:solidFill>
                  <a:srgbClr val="1B6E9C"/>
                </a:solidFill>
                <a:latin typeface="Palatino Linotype"/>
              </a:rPr>
              <a:t>ἐκβάλλω</a:t>
            </a:r>
          </a:p>
          <a:p>
            <a:pPr algn="l"/>
            <a:r>
              <a:rPr sz="1150" b="0" i="0">
                <a:solidFill>
                  <a:srgbClr val="171A1F"/>
                </a:solidFill>
                <a:latin typeface="Palatino Linotype"/>
              </a:rPr>
              <a:t>ἐκ (uit) + βάλλω (werpen)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uitwerpen, verdrijven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209544"/>
            <a:ext cx="53492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1" i="0">
                <a:solidFill>
                  <a:srgbClr val="1B6E9C"/>
                </a:solidFill>
                <a:latin typeface="Palatino Linotype"/>
              </a:rPr>
              <a:t>προσέρχομαι</a:t>
            </a:r>
          </a:p>
          <a:p>
            <a:pPr algn="l"/>
            <a:r>
              <a:rPr sz="1150" b="0" i="0">
                <a:solidFill>
                  <a:srgbClr val="171A1F"/>
                </a:solidFill>
                <a:latin typeface="Palatino Linotype"/>
              </a:rPr>
              <a:t>πρός (naar toe) + ἔρχομαι (gaan)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naartoe komen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05656"/>
            <a:ext cx="53492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1" i="0">
                <a:solidFill>
                  <a:srgbClr val="1B6E9C"/>
                </a:solidFill>
                <a:latin typeface="Palatino Linotype"/>
              </a:rPr>
              <a:t>παραδίδωμι</a:t>
            </a:r>
          </a:p>
          <a:p>
            <a:pPr algn="l"/>
            <a:r>
              <a:rPr sz="1150" b="0" i="0">
                <a:solidFill>
                  <a:srgbClr val="171A1F"/>
                </a:solidFill>
                <a:latin typeface="Palatino Linotype"/>
              </a:rPr>
              <a:t>παρά (naast) + δίδωμι (geven)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overleveren, uitleveren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5486400" cy="1051560"/>
          </a:xfrm>
          <a:prstGeom prst="roundRect">
            <a:avLst/>
          </a:prstGeom>
          <a:solidFill>
            <a:srgbClr val="F9E9ED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8E2C48"/>
                </a:solidFill>
                <a:latin typeface="Calibri"/>
              </a:rPr>
              <a:t>Let op: de betekenis is niet altijd optelbaar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παραδίδωμι is letterlijk ‘naast‑geven’, maar betekent overleveren — ook in de zin van verraden. Gebruik de opbouw als geheugensteun, niet als vertaling.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40680"/>
            <a:ext cx="11155680" cy="77724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E8E5A"/>
                </a:solidFill>
                <a:latin typeface="Calibri"/>
              </a:rPr>
              <a:t>Waarom dit de moeite loont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Ken je de veertien voorzetsels die dit doen, dan hoef je die 125 samenstellingen niet als losse woorden te leren — je kunt ze uit elkaar halen. En je leert de voorzetsels toch al voor de naamvallen.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Palatino Linotype"/>
              </a:rPr>
              <a:t>Vier dingen om te onthouden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286000"/>
            <a:ext cx="530352" cy="530352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2249424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alatino Linotype"/>
              </a:rPr>
              <a:t>Frequentie eerst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596896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A8B4C0"/>
                </a:solidFill>
                <a:latin typeface="Calibri"/>
              </a:rPr>
              <a:t>De eerste 100 woorden geven je twee derde van elke tekst. Begin daar, ook al zijn ze saai.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3337560"/>
            <a:ext cx="530352" cy="530352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300984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alatino Linotype"/>
              </a:rPr>
              <a:t>De kleine woordjes dragen de zin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648456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A8B4C0"/>
                </a:solidFill>
                <a:latin typeface="Calibri"/>
              </a:rPr>
              <a:t>Lidwoord, voegwoorden en voorzetsels zijn weinig werk en enorm rendement.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4389120"/>
            <a:ext cx="530352" cy="530352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352544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alatino Linotype"/>
              </a:rPr>
              <a:t>Leer naamwoorden als drieslag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700016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A8B4C0"/>
                </a:solidFill>
                <a:latin typeface="Calibri"/>
              </a:rPr>
              <a:t>Woord + lidwoord + genitivus. Dan heb je meteen geslacht en verbuigingsgroep.</a:t>
            </a:r>
          </a:p>
        </p:txBody>
      </p:sp>
      <p:sp>
        <p:nvSpPr>
          <p:cNvPr id="13" name="Oval 12"/>
          <p:cNvSpPr/>
          <p:nvPr/>
        </p:nvSpPr>
        <p:spPr>
          <a:xfrm>
            <a:off x="1463040" y="5440679"/>
            <a:ext cx="530352" cy="530352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404103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alatino Linotype"/>
              </a:rPr>
              <a:t>Haal samenstellingen uit elkaar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751575"/>
            <a:ext cx="8686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A8B4C0"/>
                </a:solidFill>
                <a:latin typeface="Calibri"/>
              </a:rPr>
              <a:t>Eén op de zes woorden is voorzetsel + grondwoord dat je al kent.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