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20240"/>
            <a:ext cx="10332720" cy="1097280"/>
          </a:xfrm>
          <a:prstGeom prst="rect">
            <a:avLst/>
          </a:prstGeom>
          <a:noFill/>
        </p:spPr>
        <p:txBody>
          <a:bodyPr wrap="square" lIns="109728" rIns="109728" tIns="54864" bIns="54864" anchor="ctr">
            <a:spAutoFit/>
          </a:bodyPr>
          <a:lstStyle/>
          <a:p>
            <a:pPr algn="ctr"/>
            <a:r>
              <a:rPr sz="5400" b="1" i="0">
                <a:solidFill>
                  <a:srgbClr val="FFFFFF"/>
                </a:solidFill>
                <a:latin typeface="Calibri"/>
              </a:rPr>
              <a:t>Grieks Cloud Tutor</a:t>
            </a:r>
          </a:p>
        </p:txBody>
      </p:sp>
      <p:sp>
        <p:nvSpPr>
          <p:cNvPr id="4" name="TextBox 3"/>
          <p:cNvSpPr txBox="1"/>
          <p:nvPr/>
        </p:nvSpPr>
        <p:spPr>
          <a:xfrm>
            <a:off x="914400" y="3017520"/>
            <a:ext cx="10332720" cy="731520"/>
          </a:xfrm>
          <a:prstGeom prst="rect">
            <a:avLst/>
          </a:prstGeom>
          <a:noFill/>
        </p:spPr>
        <p:txBody>
          <a:bodyPr wrap="square" lIns="109728" rIns="109728" tIns="54864" bIns="54864" anchor="ctr">
            <a:spAutoFit/>
          </a:bodyPr>
          <a:lstStyle/>
          <a:p>
            <a:pPr algn="ctr"/>
            <a:r>
              <a:rPr sz="2200" b="0" i="0">
                <a:solidFill>
                  <a:srgbClr val="D6EEF8"/>
                </a:solidFill>
                <a:latin typeface="Calibri"/>
              </a:rPr>
              <a:t>Nieuwtestamentisch Grieks leren — en de didactiek eronder</a:t>
            </a:r>
          </a:p>
        </p:txBody>
      </p:sp>
      <p:sp>
        <p:nvSpPr>
          <p:cNvPr id="5" name="Rectangle 4"/>
          <p:cNvSpPr/>
          <p:nvPr/>
        </p:nvSpPr>
        <p:spPr>
          <a:xfrm>
            <a:off x="5120640" y="3886200"/>
            <a:ext cx="192024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206240"/>
            <a:ext cx="10332720" cy="822960"/>
          </a:xfrm>
          <a:prstGeom prst="rect">
            <a:avLst/>
          </a:prstGeom>
          <a:noFill/>
        </p:spPr>
        <p:txBody>
          <a:bodyPr wrap="square" lIns="109728" rIns="109728" tIns="54864" bIns="54864" anchor="ctr">
            <a:spAutoFit/>
          </a:bodyPr>
          <a:lstStyle/>
          <a:p>
            <a:pPr algn="ctr"/>
            <a:r>
              <a:rPr sz="1500" b="0" i="0">
                <a:solidFill>
                  <a:srgbClr val="C7E6F5"/>
                </a:solidFill>
                <a:latin typeface="Calibri"/>
              </a:rPr>
              <a:t>Een complete rondleiding: wat je per tabblad kunt doen,</a:t>
            </a:r>
          </a:p>
          <a:p>
            <a:pPr algn="ctr"/>
            <a:r>
              <a:rPr sz="1500" b="0" i="0">
                <a:solidFill>
                  <a:srgbClr val="C7E6F5"/>
                </a:solidFill>
                <a:latin typeface="Calibri"/>
              </a:rPr>
              <a:t>en hoe de app bepaalt wélk woord je wanneer krijgt.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In het kort</a:t>
            </a:r>
          </a:p>
          <a:p>
            <a:r>
              <a:rPr sz="1300">
                <a:solidFill>
                  <a:srgbClr val="D6EEF8"/>
                </a:solidFill>
                <a:latin typeface="Calibri"/>
              </a:rPr>
              <a:t>Wat doet deze app — en wat maakt hem anders?</a:t>
            </a:r>
          </a:p>
        </p:txBody>
      </p:sp>
      <p:sp>
        <p:nvSpPr>
          <p:cNvPr id="4" name="Rounded Rectangle 3"/>
          <p:cNvSpPr/>
          <p:nvPr/>
        </p:nvSpPr>
        <p:spPr>
          <a:xfrm>
            <a:off x="548640" y="1234440"/>
            <a:ext cx="3566160" cy="160020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733"/>
                </a:solidFill>
                <a:latin typeface="Calibri"/>
              </a:rPr>
              <a:t>📚  Alles uit het echte NT</a:t>
            </a:r>
          </a:p>
          <a:p>
            <a:pPr algn="ctr"/>
            <a:r>
              <a:rPr sz="1300" b="0" i="0">
                <a:solidFill>
                  <a:srgbClr val="1F2733"/>
                </a:solidFill>
                <a:latin typeface="Calibri"/>
              </a:rPr>
              <a:t/>
            </a:r>
          </a:p>
          <a:p>
            <a:pPr algn="ctr"/>
            <a:r>
              <a:rPr sz="1300" b="0" i="0">
                <a:solidFill>
                  <a:srgbClr val="1F2733"/>
                </a:solidFill>
                <a:latin typeface="Calibri"/>
              </a:rPr>
              <a:t>Elk woord, elke vorm en elke</a:t>
            </a:r>
          </a:p>
          <a:p>
            <a:pPr algn="ctr"/>
            <a:r>
              <a:rPr sz="1300" b="0" i="0">
                <a:solidFill>
                  <a:srgbClr val="1F2733"/>
                </a:solidFill>
                <a:latin typeface="Calibri"/>
              </a:rPr>
              <a:t>voorbeeldzin komt uit de</a:t>
            </a:r>
          </a:p>
          <a:p>
            <a:pPr algn="ctr"/>
            <a:r>
              <a:rPr sz="1300" b="0" i="0">
                <a:solidFill>
                  <a:srgbClr val="1F2733"/>
                </a:solidFill>
                <a:latin typeface="Calibri"/>
              </a:rPr>
              <a:t>Griekse tekst zelf.</a:t>
            </a:r>
          </a:p>
        </p:txBody>
      </p:sp>
      <p:sp>
        <p:nvSpPr>
          <p:cNvPr id="5" name="Rounded Rectangle 4"/>
          <p:cNvSpPr/>
          <p:nvPr/>
        </p:nvSpPr>
        <p:spPr>
          <a:xfrm>
            <a:off x="4343400" y="1234440"/>
            <a:ext cx="3566160" cy="160020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733"/>
                </a:solidFill>
                <a:latin typeface="Calibri"/>
              </a:rPr>
              <a:t>🧠  Slimme herhaling</a:t>
            </a:r>
          </a:p>
          <a:p>
            <a:pPr algn="ctr"/>
            <a:r>
              <a:rPr sz="1300" b="0" i="0">
                <a:solidFill>
                  <a:srgbClr val="1F2733"/>
                </a:solidFill>
                <a:latin typeface="Calibri"/>
              </a:rPr>
              <a:t/>
            </a:r>
          </a:p>
          <a:p>
            <a:pPr algn="ctr"/>
            <a:r>
              <a:rPr sz="1300" b="0" i="0">
                <a:solidFill>
                  <a:srgbClr val="1F2733"/>
                </a:solidFill>
                <a:latin typeface="Calibri"/>
              </a:rPr>
              <a:t>De app kiest zélf wat je moet</a:t>
            </a:r>
          </a:p>
          <a:p>
            <a:pPr algn="ctr"/>
            <a:r>
              <a:rPr sz="1300" b="0" i="0">
                <a:solidFill>
                  <a:srgbClr val="1F2733"/>
                </a:solidFill>
                <a:latin typeface="Calibri"/>
              </a:rPr>
              <a:t>oefenen: achterstallig en</a:t>
            </a:r>
          </a:p>
          <a:p>
            <a:pPr algn="ctr"/>
            <a:r>
              <a:rPr sz="1300" b="0" i="0">
                <a:solidFill>
                  <a:srgbClr val="1F2733"/>
                </a:solidFill>
                <a:latin typeface="Calibri"/>
              </a:rPr>
              <a:t>foutgevoelig eerst.</a:t>
            </a:r>
          </a:p>
        </p:txBody>
      </p:sp>
      <p:sp>
        <p:nvSpPr>
          <p:cNvPr id="6" name="Rounded Rectangle 5"/>
          <p:cNvSpPr/>
          <p:nvPr/>
        </p:nvSpPr>
        <p:spPr>
          <a:xfrm>
            <a:off x="8138160" y="1234440"/>
            <a:ext cx="3566160" cy="1600200"/>
          </a:xfrm>
          <a:prstGeom prst="roundRect">
            <a:avLst/>
          </a:prstGeom>
          <a:solidFill>
            <a:srgbClr val="EEE9FB"/>
          </a:solidFill>
          <a:ln w="15875">
            <a:solidFill>
              <a:srgbClr val="6B4BC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733"/>
                </a:solidFill>
                <a:latin typeface="Calibri"/>
              </a:rPr>
              <a:t>🪜  Oplopende moeilijkheid</a:t>
            </a:r>
          </a:p>
          <a:p>
            <a:pPr algn="ctr"/>
            <a:r>
              <a:rPr sz="1300" b="0" i="0">
                <a:solidFill>
                  <a:srgbClr val="1F2733"/>
                </a:solidFill>
                <a:latin typeface="Calibri"/>
              </a:rPr>
              <a:t/>
            </a:r>
          </a:p>
          <a:p>
            <a:pPr algn="ctr"/>
            <a:r>
              <a:rPr sz="1300" b="0" i="0">
                <a:solidFill>
                  <a:srgbClr val="1F2733"/>
                </a:solidFill>
                <a:latin typeface="Calibri"/>
              </a:rPr>
              <a:t>Eerst herkennen, dan kiezen,</a:t>
            </a:r>
          </a:p>
          <a:p>
            <a:pPr algn="ctr"/>
            <a:r>
              <a:rPr sz="1300" b="0" i="0">
                <a:solidFill>
                  <a:srgbClr val="1F2733"/>
                </a:solidFill>
                <a:latin typeface="Calibri"/>
              </a:rPr>
              <a:t>dan zelf typen — per woord</a:t>
            </a:r>
          </a:p>
          <a:p>
            <a:pPr algn="ctr"/>
            <a:r>
              <a:rPr sz="1300" b="0" i="0">
                <a:solidFill>
                  <a:srgbClr val="1F2733"/>
                </a:solidFill>
                <a:latin typeface="Calibri"/>
              </a:rPr>
              <a:t>op jouw niveau.</a:t>
            </a:r>
          </a:p>
        </p:txBody>
      </p:sp>
      <p:sp>
        <p:nvSpPr>
          <p:cNvPr id="7" name="TextBox 6"/>
          <p:cNvSpPr txBox="1"/>
          <p:nvPr/>
        </p:nvSpPr>
        <p:spPr>
          <a:xfrm>
            <a:off x="548640" y="3063240"/>
            <a:ext cx="11155680" cy="365760"/>
          </a:xfrm>
          <a:prstGeom prst="rect">
            <a:avLst/>
          </a:prstGeom>
          <a:noFill/>
        </p:spPr>
        <p:txBody>
          <a:bodyPr wrap="square" lIns="109728" rIns="109728" tIns="54864" bIns="54864" anchor="ctr">
            <a:spAutoFit/>
          </a:bodyPr>
          <a:lstStyle/>
          <a:p>
            <a:pPr algn="l"/>
            <a:r>
              <a:rPr sz="1700" b="1" i="0">
                <a:solidFill>
                  <a:srgbClr val="0B6E99"/>
                </a:solidFill>
                <a:latin typeface="Calibri"/>
              </a:rPr>
              <a:t>Het uitgangspunt: liever niets beweren dan iets fout beweren</a:t>
            </a:r>
          </a:p>
        </p:txBody>
      </p:sp>
      <p:sp>
        <p:nvSpPr>
          <p:cNvPr id="8" name="TextBox 7"/>
          <p:cNvSpPr txBox="1"/>
          <p:nvPr/>
        </p:nvSpPr>
        <p:spPr>
          <a:xfrm>
            <a:off x="548640" y="3474720"/>
            <a:ext cx="11155680" cy="1371600"/>
          </a:xfrm>
          <a:prstGeom prst="rect">
            <a:avLst/>
          </a:prstGeom>
          <a:noFill/>
        </p:spPr>
        <p:txBody>
          <a:bodyPr wrap="square" lIns="109728" rIns="109728" tIns="54864" bIns="54864" anchor="ctr">
            <a:spAutoFit/>
          </a:bodyPr>
          <a:lstStyle/>
          <a:p>
            <a:pPr algn="l"/>
            <a:r>
              <a:rPr sz="1400" b="0" i="0">
                <a:solidFill>
                  <a:srgbClr val="5B6673"/>
                </a:solidFill>
                <a:latin typeface="Calibri"/>
              </a:rPr>
              <a:t>De app legt alleen een grammaticale regel uit als hij die aantoonbaar kan verantwoorden. Kan hij een vorm niet met zekerheid ontleden of verklaren, dan zegt hij niets — in plaats van een plausibel ogende maar onjuiste regel te tonen. Elke uitlegregel is getoetst tegen alle ±140.000 woorden van het Nieuwe Testament.</a:t>
            </a:r>
          </a:p>
        </p:txBody>
      </p:sp>
      <p:sp>
        <p:nvSpPr>
          <p:cNvPr id="9" name="Rounded Rectangle 8"/>
          <p:cNvSpPr/>
          <p:nvPr/>
        </p:nvSpPr>
        <p:spPr>
          <a:xfrm>
            <a:off x="548640" y="4800600"/>
            <a:ext cx="11155680" cy="96012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Waarom dat belangrijk is: een verkeerd aangeleerde regel kost later veel meer tijd dan een regel die je nog moet leren.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De leerroute</a:t>
            </a:r>
          </a:p>
          <a:p>
            <a:r>
              <a:rPr sz="1300">
                <a:solidFill>
                  <a:srgbClr val="D6EEF8"/>
                </a:solidFill>
                <a:latin typeface="Calibri"/>
              </a:rPr>
              <a:t>Van los woord naar het lezen van een Bijbelvers</a:t>
            </a:r>
          </a:p>
        </p:txBody>
      </p:sp>
      <p:sp>
        <p:nvSpPr>
          <p:cNvPr id="4" name="Rounded Rectangle 3"/>
          <p:cNvSpPr/>
          <p:nvPr/>
        </p:nvSpPr>
        <p:spPr>
          <a:xfrm>
            <a:off x="594360" y="1554480"/>
            <a:ext cx="1965960" cy="137160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a:t>
            </a:r>
          </a:p>
          <a:p>
            <a:pPr algn="ctr"/>
            <a:r>
              <a:rPr sz="1400" b="1" i="0">
                <a:solidFill>
                  <a:srgbClr val="1F2733"/>
                </a:solidFill>
                <a:latin typeface="Calibri"/>
              </a:rPr>
              <a:t>Woorden</a:t>
            </a:r>
          </a:p>
          <a:p>
            <a:pPr algn="ctr"/>
            <a:r>
              <a:rPr sz="1400" b="1" i="0">
                <a:solidFill>
                  <a:srgbClr val="1F2733"/>
                </a:solidFill>
                <a:latin typeface="Calibri"/>
              </a:rPr>
              <a:t>leren</a:t>
            </a:r>
          </a:p>
        </p:txBody>
      </p:sp>
      <p:sp>
        <p:nvSpPr>
          <p:cNvPr id="5" name="Oval 4"/>
          <p:cNvSpPr/>
          <p:nvPr/>
        </p:nvSpPr>
        <p:spPr>
          <a:xfrm>
            <a:off x="1371600" y="1298448"/>
            <a:ext cx="411480" cy="411480"/>
          </a:xfrm>
          <a:prstGeom prst="ellipse">
            <a:avLst/>
          </a:prstGeom>
          <a:solidFill>
            <a:srgbClr val="0B6E99"/>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FFFFFF"/>
                </a:solidFill>
                <a:latin typeface="Calibri"/>
              </a:rPr>
              <a:t>1</a:t>
            </a:r>
          </a:p>
        </p:txBody>
      </p:sp>
      <p:cxnSp>
        <p:nvCxnSpPr>
          <p:cNvPr id="6" name="Connector 5"/>
          <p:cNvCxnSpPr/>
          <p:nvPr/>
        </p:nvCxnSpPr>
        <p:spPr>
          <a:xfrm>
            <a:off x="2606040" y="2240280"/>
            <a:ext cx="320039"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926079" y="1554480"/>
            <a:ext cx="1965960" cy="1371600"/>
          </a:xfrm>
          <a:prstGeom prst="roundRect">
            <a:avLst/>
          </a:prstGeom>
          <a:solidFill>
            <a:srgbClr val="EEE9FB"/>
          </a:solidFill>
          <a:ln w="15875">
            <a:solidFill>
              <a:srgbClr val="6B4BC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a:t>
            </a:r>
          </a:p>
          <a:p>
            <a:pPr algn="ctr"/>
            <a:r>
              <a:rPr sz="1400" b="1" i="0">
                <a:solidFill>
                  <a:srgbClr val="1F2733"/>
                </a:solidFill>
                <a:latin typeface="Calibri"/>
              </a:rPr>
              <a:t>Vormen</a:t>
            </a:r>
          </a:p>
          <a:p>
            <a:pPr algn="ctr"/>
            <a:r>
              <a:rPr sz="1400" b="1" i="0">
                <a:solidFill>
                  <a:srgbClr val="1F2733"/>
                </a:solidFill>
                <a:latin typeface="Calibri"/>
              </a:rPr>
              <a:t>herkennen</a:t>
            </a:r>
          </a:p>
        </p:txBody>
      </p:sp>
      <p:sp>
        <p:nvSpPr>
          <p:cNvPr id="8" name="Oval 7"/>
          <p:cNvSpPr/>
          <p:nvPr/>
        </p:nvSpPr>
        <p:spPr>
          <a:xfrm>
            <a:off x="3703320" y="1298448"/>
            <a:ext cx="411480" cy="411480"/>
          </a:xfrm>
          <a:prstGeom prst="ellipse">
            <a:avLst/>
          </a:prstGeom>
          <a:solidFill>
            <a:srgbClr val="6B4BC4"/>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FFFFFF"/>
                </a:solidFill>
                <a:latin typeface="Calibri"/>
              </a:rPr>
              <a:t>2</a:t>
            </a:r>
          </a:p>
        </p:txBody>
      </p:sp>
      <p:cxnSp>
        <p:nvCxnSpPr>
          <p:cNvPr id="9" name="Connector 8"/>
          <p:cNvCxnSpPr/>
          <p:nvPr/>
        </p:nvCxnSpPr>
        <p:spPr>
          <a:xfrm>
            <a:off x="4937760" y="2240280"/>
            <a:ext cx="32004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57800" y="1554480"/>
            <a:ext cx="1965960" cy="137160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a:t>
            </a:r>
          </a:p>
          <a:p>
            <a:pPr algn="ctr"/>
            <a:r>
              <a:rPr sz="1400" b="1" i="0">
                <a:solidFill>
                  <a:srgbClr val="1F2733"/>
                </a:solidFill>
                <a:latin typeface="Calibri"/>
              </a:rPr>
              <a:t>Rijtjes uit</a:t>
            </a:r>
          </a:p>
          <a:p>
            <a:pPr algn="ctr"/>
            <a:r>
              <a:rPr sz="1400" b="1" i="0">
                <a:solidFill>
                  <a:srgbClr val="1F2733"/>
                </a:solidFill>
                <a:latin typeface="Calibri"/>
              </a:rPr>
              <a:t>het hoofd</a:t>
            </a:r>
          </a:p>
        </p:txBody>
      </p:sp>
      <p:sp>
        <p:nvSpPr>
          <p:cNvPr id="11" name="Oval 10"/>
          <p:cNvSpPr/>
          <p:nvPr/>
        </p:nvSpPr>
        <p:spPr>
          <a:xfrm>
            <a:off x="6035040" y="1298448"/>
            <a:ext cx="411480" cy="411480"/>
          </a:xfrm>
          <a:prstGeom prst="ellipse">
            <a:avLst/>
          </a:prstGeom>
          <a:solidFill>
            <a:srgbClr val="B4860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FFFFFF"/>
                </a:solidFill>
                <a:latin typeface="Calibri"/>
              </a:rPr>
              <a:t>3</a:t>
            </a:r>
          </a:p>
        </p:txBody>
      </p:sp>
      <p:cxnSp>
        <p:nvCxnSpPr>
          <p:cNvPr id="12" name="Connector 11"/>
          <p:cNvCxnSpPr/>
          <p:nvPr/>
        </p:nvCxnSpPr>
        <p:spPr>
          <a:xfrm>
            <a:off x="7269480" y="2240280"/>
            <a:ext cx="32004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89520" y="1554480"/>
            <a:ext cx="1965960" cy="137160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a:t>
            </a:r>
          </a:p>
          <a:p>
            <a:pPr algn="ctr"/>
            <a:r>
              <a:rPr sz="1400" b="1" i="0">
                <a:solidFill>
                  <a:srgbClr val="1F2733"/>
                </a:solidFill>
                <a:latin typeface="Calibri"/>
              </a:rPr>
              <a:t>Klankwetten</a:t>
            </a:r>
          </a:p>
          <a:p>
            <a:pPr algn="ctr"/>
            <a:r>
              <a:rPr sz="1400" b="1" i="0">
                <a:solidFill>
                  <a:srgbClr val="1F2733"/>
                </a:solidFill>
                <a:latin typeface="Calibri"/>
              </a:rPr>
              <a:t>doorzien</a:t>
            </a:r>
          </a:p>
        </p:txBody>
      </p:sp>
      <p:sp>
        <p:nvSpPr>
          <p:cNvPr id="14" name="Oval 13"/>
          <p:cNvSpPr/>
          <p:nvPr/>
        </p:nvSpPr>
        <p:spPr>
          <a:xfrm>
            <a:off x="8366760" y="1298448"/>
            <a:ext cx="411480" cy="411480"/>
          </a:xfrm>
          <a:prstGeom prst="ellipse">
            <a:avLst/>
          </a:prstGeom>
          <a:solidFill>
            <a:srgbClr val="1E8E5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FFFFFF"/>
                </a:solidFill>
                <a:latin typeface="Calibri"/>
              </a:rPr>
              <a:t>4</a:t>
            </a:r>
          </a:p>
        </p:txBody>
      </p:sp>
      <p:cxnSp>
        <p:nvCxnSpPr>
          <p:cNvPr id="15" name="Connector 14"/>
          <p:cNvCxnSpPr/>
          <p:nvPr/>
        </p:nvCxnSpPr>
        <p:spPr>
          <a:xfrm>
            <a:off x="9601200" y="2240280"/>
            <a:ext cx="32004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21240" y="1554480"/>
            <a:ext cx="1965960" cy="137160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a:t>
            </a:r>
          </a:p>
          <a:p>
            <a:pPr algn="ctr"/>
            <a:r>
              <a:rPr sz="1400" b="1" i="0">
                <a:solidFill>
                  <a:srgbClr val="1F2733"/>
                </a:solidFill>
                <a:latin typeface="Calibri"/>
              </a:rPr>
              <a:t>Teksten</a:t>
            </a:r>
          </a:p>
          <a:p>
            <a:pPr algn="ctr"/>
            <a:r>
              <a:rPr sz="1400" b="1" i="0">
                <a:solidFill>
                  <a:srgbClr val="1F2733"/>
                </a:solidFill>
                <a:latin typeface="Calibri"/>
              </a:rPr>
              <a:t>lezen</a:t>
            </a:r>
          </a:p>
        </p:txBody>
      </p:sp>
      <p:sp>
        <p:nvSpPr>
          <p:cNvPr id="17" name="Oval 16"/>
          <p:cNvSpPr/>
          <p:nvPr/>
        </p:nvSpPr>
        <p:spPr>
          <a:xfrm>
            <a:off x="10698480" y="1298448"/>
            <a:ext cx="411480" cy="411480"/>
          </a:xfrm>
          <a:prstGeom prst="ellipse">
            <a:avLst/>
          </a:prstGeom>
          <a:solidFill>
            <a:srgbClr val="0B6E99"/>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FFFFFF"/>
                </a:solidFill>
                <a:latin typeface="Calibri"/>
              </a:rPr>
              <a:t>5</a:t>
            </a:r>
          </a:p>
        </p:txBody>
      </p:sp>
      <p:sp>
        <p:nvSpPr>
          <p:cNvPr id="18" name="TextBox 17"/>
          <p:cNvSpPr txBox="1"/>
          <p:nvPr/>
        </p:nvSpPr>
        <p:spPr>
          <a:xfrm>
            <a:off x="594360" y="3200400"/>
            <a:ext cx="11064240" cy="365760"/>
          </a:xfrm>
          <a:prstGeom prst="rect">
            <a:avLst/>
          </a:prstGeom>
          <a:noFill/>
        </p:spPr>
        <p:txBody>
          <a:bodyPr wrap="square" lIns="109728" rIns="109728" tIns="54864" bIns="54864" anchor="ctr">
            <a:spAutoFit/>
          </a:bodyPr>
          <a:lstStyle/>
          <a:p>
            <a:pPr algn="l"/>
            <a:r>
              <a:rPr sz="1600" b="1" i="0">
                <a:solidFill>
                  <a:srgbClr val="0B6E99"/>
                </a:solidFill>
                <a:latin typeface="Calibri"/>
              </a:rPr>
              <a:t>Je hoeft dit niet strikt op volgorde te doen</a:t>
            </a:r>
          </a:p>
        </p:txBody>
      </p:sp>
      <p:sp>
        <p:nvSpPr>
          <p:cNvPr id="19" name="TextBox 18"/>
          <p:cNvSpPr txBox="1"/>
          <p:nvPr/>
        </p:nvSpPr>
        <p:spPr>
          <a:xfrm>
            <a:off x="594360" y="3611880"/>
            <a:ext cx="1106424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De app ontgrendelt onderdelen vanzelf: stamtijden komen pas als je het basiswoord kent (streak ≥ 5).</a:t>
            </a:r>
          </a:p>
        </p:txBody>
      </p:sp>
      <p:sp>
        <p:nvSpPr>
          <p:cNvPr id="20" name="TextBox 19"/>
          <p:cNvSpPr txBox="1"/>
          <p:nvPr/>
        </p:nvSpPr>
        <p:spPr>
          <a:xfrm>
            <a:off x="594360" y="3995928"/>
            <a:ext cx="1106424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In Ontleden en Klankwetten krijg je alléén woorden die je al hebt geoefend — geen onbekende stof.</a:t>
            </a:r>
          </a:p>
        </p:txBody>
      </p:sp>
      <p:sp>
        <p:nvSpPr>
          <p:cNvPr id="21" name="TextBox 20"/>
          <p:cNvSpPr txBox="1"/>
          <p:nvPr/>
        </p:nvSpPr>
        <p:spPr>
          <a:xfrm>
            <a:off x="594360" y="4379976"/>
            <a:ext cx="1106424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Elk onderdeel heeft een 🎮 Leerpad: kleine levels die je een voor een vrijspeelt.</a:t>
            </a:r>
          </a:p>
        </p:txBody>
      </p:sp>
      <p:sp>
        <p:nvSpPr>
          <p:cNvPr id="22" name="TextBox 21"/>
          <p:cNvSpPr txBox="1"/>
          <p:nvPr/>
        </p:nvSpPr>
        <p:spPr>
          <a:xfrm>
            <a:off x="594360" y="4764024"/>
            <a:ext cx="1106424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Gebruik je iets niet? Zet het tabblad uit in ℹ️ Uitleg &amp; Hulp — de app oogt dan een stuk rustiger.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De motor: hoe kiest de app een woord?</a:t>
            </a:r>
          </a:p>
          <a:p>
            <a:r>
              <a:rPr sz="1300">
                <a:solidFill>
                  <a:srgbClr val="D6EEF8"/>
                </a:solidFill>
                <a:latin typeface="Calibri"/>
              </a:rPr>
              <a:t>Elke sessie doorloopt de app deze stappen</a:t>
            </a:r>
          </a:p>
        </p:txBody>
      </p:sp>
      <p:sp>
        <p:nvSpPr>
          <p:cNvPr id="4" name="Rounded Rectangle 3"/>
          <p:cNvSpPr/>
          <p:nvPr/>
        </p:nvSpPr>
        <p:spPr>
          <a:xfrm>
            <a:off x="457200" y="1188720"/>
            <a:ext cx="2103120" cy="868680"/>
          </a:xfrm>
          <a:prstGeom prst="roundRect">
            <a:avLst/>
          </a:prstGeom>
          <a:solidFill>
            <a:srgbClr val="F2F5F8"/>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Jouw selectie</a:t>
            </a:r>
          </a:p>
          <a:p>
            <a:pPr algn="ctr"/>
            <a:r>
              <a:rPr sz="1200" b="1" i="0">
                <a:solidFill>
                  <a:srgbClr val="1F2733"/>
                </a:solidFill>
                <a:latin typeface="Calibri"/>
              </a:rPr>
              <a:t>(lessen / modus)</a:t>
            </a:r>
          </a:p>
        </p:txBody>
      </p:sp>
      <p:cxnSp>
        <p:nvCxnSpPr>
          <p:cNvPr id="5" name="Connector 4"/>
          <p:cNvCxnSpPr/>
          <p:nvPr/>
        </p:nvCxnSpPr>
        <p:spPr>
          <a:xfrm>
            <a:off x="2606040" y="1627632"/>
            <a:ext cx="36576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017520" y="1188720"/>
            <a:ext cx="2286000" cy="86868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1. Sorteren</a:t>
            </a:r>
          </a:p>
          <a:p>
            <a:pPr algn="ctr"/>
            <a:r>
              <a:rPr sz="1200" b="1" i="0">
                <a:solidFill>
                  <a:srgbClr val="1F2733"/>
                </a:solidFill>
                <a:latin typeface="Calibri"/>
              </a:rPr>
              <a:t>in 4 fasen</a:t>
            </a:r>
          </a:p>
        </p:txBody>
      </p:sp>
      <p:cxnSp>
        <p:nvCxnSpPr>
          <p:cNvPr id="7" name="Connector 6"/>
          <p:cNvCxnSpPr/>
          <p:nvPr/>
        </p:nvCxnSpPr>
        <p:spPr>
          <a:xfrm>
            <a:off x="5349240" y="1627632"/>
            <a:ext cx="36576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760720" y="1188720"/>
            <a:ext cx="2377440" cy="86868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2. Urgentie</a:t>
            </a:r>
          </a:p>
          <a:p>
            <a:pPr algn="ctr"/>
            <a:r>
              <a:rPr sz="1200" b="1" i="0">
                <a:solidFill>
                  <a:srgbClr val="1F2733"/>
                </a:solidFill>
                <a:latin typeface="Calibri"/>
              </a:rPr>
              <a:t>berekenen</a:t>
            </a:r>
          </a:p>
        </p:txBody>
      </p:sp>
      <p:cxnSp>
        <p:nvCxnSpPr>
          <p:cNvPr id="9" name="Connector 8"/>
          <p:cNvCxnSpPr/>
          <p:nvPr/>
        </p:nvCxnSpPr>
        <p:spPr>
          <a:xfrm>
            <a:off x="8183879" y="1627632"/>
            <a:ext cx="365761"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595360" y="1188720"/>
            <a:ext cx="2286000" cy="86868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3. Sessie</a:t>
            </a:r>
          </a:p>
          <a:p>
            <a:pPr algn="ctr"/>
            <a:r>
              <a:rPr sz="1200" b="1" i="0">
                <a:solidFill>
                  <a:srgbClr val="1F2733"/>
                </a:solidFill>
                <a:latin typeface="Calibri"/>
              </a:rPr>
              <a:t>samenstellen</a:t>
            </a:r>
          </a:p>
        </p:txBody>
      </p:sp>
      <p:cxnSp>
        <p:nvCxnSpPr>
          <p:cNvPr id="11" name="Connector 10"/>
          <p:cNvCxnSpPr/>
          <p:nvPr/>
        </p:nvCxnSpPr>
        <p:spPr>
          <a:xfrm>
            <a:off x="9738360" y="2103120"/>
            <a:ext cx="0" cy="41148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863840" y="2560320"/>
            <a:ext cx="3840480" cy="731520"/>
          </a:xfrm>
          <a:prstGeom prst="roundRect">
            <a:avLst/>
          </a:prstGeom>
          <a:solidFill>
            <a:srgbClr val="EEE9FB"/>
          </a:solidFill>
          <a:ln w="15875">
            <a:solidFill>
              <a:srgbClr val="6B4BC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4. Oefenvorm kiezen per woord</a:t>
            </a:r>
          </a:p>
          <a:p>
            <a:pPr algn="ctr"/>
            <a:r>
              <a:rPr sz="1200" b="1" i="0">
                <a:solidFill>
                  <a:srgbClr val="1F2733"/>
                </a:solidFill>
                <a:latin typeface="Calibri"/>
              </a:rPr>
              <a:t>(flashcard → meerkeuze → typen)</a:t>
            </a:r>
          </a:p>
        </p:txBody>
      </p:sp>
      <p:sp>
        <p:nvSpPr>
          <p:cNvPr id="13" name="TextBox 12"/>
          <p:cNvSpPr txBox="1"/>
          <p:nvPr/>
        </p:nvSpPr>
        <p:spPr>
          <a:xfrm>
            <a:off x="457200" y="3566160"/>
            <a:ext cx="11247120" cy="320040"/>
          </a:xfrm>
          <a:prstGeom prst="rect">
            <a:avLst/>
          </a:prstGeom>
          <a:noFill/>
        </p:spPr>
        <p:txBody>
          <a:bodyPr wrap="square" lIns="109728" rIns="109728" tIns="54864" bIns="54864" anchor="ctr">
            <a:spAutoFit/>
          </a:bodyPr>
          <a:lstStyle/>
          <a:p>
            <a:pPr algn="l"/>
            <a:r>
              <a:rPr sz="1500" b="1" i="0">
                <a:solidFill>
                  <a:srgbClr val="0B6E99"/>
                </a:solidFill>
                <a:latin typeface="Calibri"/>
              </a:rPr>
              <a:t>Stap 1 — elk woord zit in één van vier fasen (op basis van je streak)</a:t>
            </a:r>
          </a:p>
        </p:txBody>
      </p:sp>
      <p:sp>
        <p:nvSpPr>
          <p:cNvPr id="14" name="Rounded Rectangle 13"/>
          <p:cNvSpPr/>
          <p:nvPr/>
        </p:nvSpPr>
        <p:spPr>
          <a:xfrm>
            <a:off x="457200" y="3931920"/>
            <a:ext cx="2331720" cy="777240"/>
          </a:xfrm>
          <a:prstGeom prst="roundRect">
            <a:avLst/>
          </a:prstGeom>
          <a:solidFill>
            <a:srgbClr val="E9ECEF"/>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Nieuw</a:t>
            </a:r>
          </a:p>
          <a:p>
            <a:pPr algn="ctr"/>
            <a:r>
              <a:rPr sz="1200" b="1" i="0">
                <a:solidFill>
                  <a:srgbClr val="1F2733"/>
                </a:solidFill>
                <a:latin typeface="Calibri"/>
              </a:rPr>
              <a:t>streak 0</a:t>
            </a:r>
          </a:p>
        </p:txBody>
      </p:sp>
      <p:sp>
        <p:nvSpPr>
          <p:cNvPr id="15" name="Rounded Rectangle 14"/>
          <p:cNvSpPr/>
          <p:nvPr/>
        </p:nvSpPr>
        <p:spPr>
          <a:xfrm>
            <a:off x="2971800" y="3931920"/>
            <a:ext cx="2331720" cy="77724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In training</a:t>
            </a:r>
          </a:p>
          <a:p>
            <a:pPr algn="ctr"/>
            <a:r>
              <a:rPr sz="1200" b="1" i="0">
                <a:solidFill>
                  <a:srgbClr val="1F2733"/>
                </a:solidFill>
                <a:latin typeface="Calibri"/>
              </a:rPr>
              <a:t>streak 1–15</a:t>
            </a:r>
          </a:p>
        </p:txBody>
      </p:sp>
      <p:sp>
        <p:nvSpPr>
          <p:cNvPr id="16" name="Rounded Rectangle 15"/>
          <p:cNvSpPr/>
          <p:nvPr/>
        </p:nvSpPr>
        <p:spPr>
          <a:xfrm>
            <a:off x="5486400" y="3931920"/>
            <a:ext cx="2331720" cy="77724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Beheerst</a:t>
            </a:r>
          </a:p>
          <a:p>
            <a:pPr algn="ctr"/>
            <a:r>
              <a:rPr sz="1200" b="1" i="0">
                <a:solidFill>
                  <a:srgbClr val="1F2733"/>
                </a:solidFill>
                <a:latin typeface="Calibri"/>
              </a:rPr>
              <a:t>streak 16–29</a:t>
            </a:r>
          </a:p>
        </p:txBody>
      </p:sp>
      <p:sp>
        <p:nvSpPr>
          <p:cNvPr id="17" name="Rounded Rectangle 16"/>
          <p:cNvSpPr/>
          <p:nvPr/>
        </p:nvSpPr>
        <p:spPr>
          <a:xfrm>
            <a:off x="8001000" y="3931920"/>
            <a:ext cx="2331720" cy="777240"/>
          </a:xfrm>
          <a:prstGeom prst="roundRect">
            <a:avLst/>
          </a:prstGeom>
          <a:solidFill>
            <a:srgbClr val="EEE9FB"/>
          </a:solidFill>
          <a:ln w="15875">
            <a:solidFill>
              <a:srgbClr val="6B4BC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Mastery</a:t>
            </a:r>
          </a:p>
          <a:p>
            <a:pPr algn="ctr"/>
            <a:r>
              <a:rPr sz="1200" b="1" i="0">
                <a:solidFill>
                  <a:srgbClr val="1F2733"/>
                </a:solidFill>
                <a:latin typeface="Calibri"/>
              </a:rPr>
              <a:t>streak 30+</a:t>
            </a:r>
          </a:p>
        </p:txBody>
      </p:sp>
      <p:sp>
        <p:nvSpPr>
          <p:cNvPr id="18" name="TextBox 17"/>
          <p:cNvSpPr txBox="1"/>
          <p:nvPr/>
        </p:nvSpPr>
        <p:spPr>
          <a:xfrm>
            <a:off x="10332720" y="4069080"/>
            <a:ext cx="1737360" cy="548640"/>
          </a:xfrm>
          <a:prstGeom prst="rect">
            <a:avLst/>
          </a:prstGeom>
          <a:noFill/>
        </p:spPr>
        <p:txBody>
          <a:bodyPr wrap="square" lIns="109728" rIns="109728" tIns="54864" bIns="54864" anchor="ctr">
            <a:spAutoFit/>
          </a:bodyPr>
          <a:lstStyle/>
          <a:p>
            <a:pPr algn="l"/>
            <a:r>
              <a:rPr sz="1100" b="0" i="1">
                <a:solidFill>
                  <a:srgbClr val="5B6673"/>
                </a:solidFill>
                <a:latin typeface="Calibri"/>
              </a:rPr>
              <a:t>→ hoe hoger,</a:t>
            </a:r>
          </a:p>
          <a:p>
            <a:pPr algn="l"/>
            <a:r>
              <a:rPr sz="1100" b="0" i="1">
                <a:solidFill>
                  <a:srgbClr val="5B6673"/>
                </a:solidFill>
                <a:latin typeface="Calibri"/>
              </a:rPr>
              <a:t>hoe minder vaak</a:t>
            </a:r>
          </a:p>
        </p:txBody>
      </p:sp>
      <p:sp>
        <p:nvSpPr>
          <p:cNvPr id="19" name="Rounded Rectangle 18"/>
          <p:cNvSpPr/>
          <p:nvPr/>
        </p:nvSpPr>
        <p:spPr>
          <a:xfrm>
            <a:off x="457200" y="4937760"/>
            <a:ext cx="11247120" cy="123444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733"/>
                </a:solidFill>
                <a:latin typeface="Calibri"/>
              </a:rPr>
              <a:t>Streak = hoe vaak je een woord achter elkaar goed had. Goed antwoord: +1 (meerkeuze) tot +3 (zelf typen).</a:t>
            </a:r>
          </a:p>
          <a:p>
            <a:pPr algn="ctr"/>
            <a:r>
              <a:rPr sz="1300" b="0" i="0">
                <a:solidFill>
                  <a:srgbClr val="1F2733"/>
                </a:solidFill>
                <a:latin typeface="Calibri"/>
              </a:rPr>
              <a:t>Fout antwoord: −2, en het woord komt later in dezelfde sessie terug om over te typen.</a:t>
            </a:r>
          </a:p>
          <a:p>
            <a:pPr algn="ctr"/>
            <a:r>
              <a:rPr sz="1300" b="0" i="0">
                <a:solidFill>
                  <a:srgbClr val="1F2733"/>
                </a:solidFill>
                <a:latin typeface="Calibri"/>
              </a:rPr>
              <a:t>Zo zakt een woord dat je toch niet kent vanzelf terug naar een lagere fase — en komt het weer vaker langs.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Stap 2: welk woord is het meest urgent?</a:t>
            </a:r>
          </a:p>
          <a:p>
            <a:r>
              <a:rPr sz="1300">
                <a:solidFill>
                  <a:srgbClr val="D6EEF8"/>
                </a:solidFill>
                <a:latin typeface="Calibri"/>
              </a:rPr>
              <a:t>Twee dingen bepalen de volgorde binnen elke fase</a:t>
            </a:r>
          </a:p>
        </p:txBody>
      </p:sp>
      <p:sp>
        <p:nvSpPr>
          <p:cNvPr id="4" name="Rounded Rectangle 3"/>
          <p:cNvSpPr/>
          <p:nvPr/>
        </p:nvSpPr>
        <p:spPr>
          <a:xfrm>
            <a:off x="548640" y="1188720"/>
            <a:ext cx="5394960" cy="64008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733"/>
                </a:solidFill>
                <a:latin typeface="Calibri"/>
              </a:rPr>
              <a:t>A.  Achterstalligheid  (spaced repetition)</a:t>
            </a:r>
          </a:p>
        </p:txBody>
      </p:sp>
      <p:sp>
        <p:nvSpPr>
          <p:cNvPr id="5" name="TextBox 4"/>
          <p:cNvSpPr txBox="1"/>
          <p:nvPr/>
        </p:nvSpPr>
        <p:spPr>
          <a:xfrm>
            <a:off x="548640" y="1920240"/>
            <a:ext cx="5394960" cy="822960"/>
          </a:xfrm>
          <a:prstGeom prst="rect">
            <a:avLst/>
          </a:prstGeom>
          <a:noFill/>
        </p:spPr>
        <p:txBody>
          <a:bodyPr wrap="square" lIns="109728" rIns="109728" tIns="54864" bIns="54864" anchor="ctr">
            <a:spAutoFit/>
          </a:bodyPr>
          <a:lstStyle/>
          <a:p>
            <a:pPr algn="l"/>
            <a:r>
              <a:rPr sz="1300" b="0" i="0">
                <a:solidFill>
                  <a:srgbClr val="5B6673"/>
                </a:solidFill>
                <a:latin typeface="Calibri"/>
              </a:rPr>
              <a:t>Elk woord heeft een rustperiode die groeit met je streak.</a:t>
            </a:r>
          </a:p>
          <a:p>
            <a:pPr algn="l"/>
            <a:r>
              <a:rPr sz="1300" b="0" i="0">
                <a:solidFill>
                  <a:srgbClr val="5B6673"/>
                </a:solidFill>
                <a:latin typeface="Calibri"/>
              </a:rPr>
              <a:t>Is die voorbij, dan is het woord 'achterstallig' en gaat het vooraan.</a:t>
            </a:r>
          </a:p>
        </p:txBody>
      </p:sp>
      <p:graphicFrame>
        <p:nvGraphicFramePr>
          <p:cNvPr id="6" name="Table 5"/>
          <p:cNvGraphicFramePr>
            <a:graphicFrameLocks noGrp="1"/>
          </p:cNvGraphicFramePr>
          <p:nvPr/>
        </p:nvGraphicFramePr>
        <p:xfrm>
          <a:off x="548640" y="2788920"/>
          <a:ext cx="5394960" cy="2176272"/>
        </p:xfrm>
        <a:graphic>
          <a:graphicData uri="http://schemas.openxmlformats.org/drawingml/2006/table">
            <a:tbl>
              <a:tblPr firstRow="1" bandRow="1">
                <a:tableStyleId>{5C22544A-7EE6-4342-B048-85BDC9FD1C3A}</a:tableStyleId>
              </a:tblPr>
              <a:tblGrid>
                <a:gridCol w="1188720"/>
                <a:gridCol w="1280160"/>
                <a:gridCol w="2926080"/>
              </a:tblGrid>
              <a:tr h="310896">
                <a:tc>
                  <a:txBody>
                    <a:bodyPr/>
                    <a:lstStyle/>
                    <a:p>
                      <a:r>
                        <a:rPr b="1" sz="1200">
                          <a:solidFill>
                            <a:srgbClr val="FFFFFF"/>
                          </a:solidFill>
                          <a:latin typeface="Calibri"/>
                        </a:rPr>
                        <a:t>Streak</a:t>
                      </a:r>
                    </a:p>
                  </a:txBody>
                  <a:tcPr>
                    <a:solidFill>
                      <a:srgbClr val="0B6E99"/>
                    </a:solidFill>
                  </a:tcPr>
                </a:tc>
                <a:tc>
                  <a:txBody>
                    <a:bodyPr/>
                    <a:lstStyle/>
                    <a:p>
                      <a:r>
                        <a:rPr b="1" sz="1200">
                          <a:solidFill>
                            <a:srgbClr val="FFFFFF"/>
                          </a:solidFill>
                          <a:latin typeface="Calibri"/>
                        </a:rPr>
                        <a:t>Rust</a:t>
                      </a:r>
                    </a:p>
                  </a:txBody>
                  <a:tcPr>
                    <a:solidFill>
                      <a:srgbClr val="0B6E99"/>
                    </a:solidFill>
                  </a:tcPr>
                </a:tc>
                <a:tc>
                  <a:txBody>
                    <a:bodyPr/>
                    <a:lstStyle/>
                    <a:p>
                      <a:r>
                        <a:rPr b="1" sz="1200">
                          <a:solidFill>
                            <a:srgbClr val="FFFFFF"/>
                          </a:solidFill>
                          <a:latin typeface="Calibri"/>
                        </a:rPr>
                        <a:t>Betekenis</a:t>
                      </a:r>
                    </a:p>
                  </a:txBody>
                  <a:tcPr>
                    <a:solidFill>
                      <a:srgbClr val="0B6E99"/>
                    </a:solidFill>
                  </a:tcPr>
                </a:tc>
              </a:tr>
              <a:tr h="310896">
                <a:tc>
                  <a:txBody>
                    <a:bodyPr/>
                    <a:lstStyle/>
                    <a:p>
                      <a:r>
                        <a:rPr sz="1200">
                          <a:solidFill>
                            <a:srgbClr val="1F2733"/>
                          </a:solidFill>
                          <a:latin typeface="Calibri"/>
                        </a:rPr>
                        <a:t>0 – 1</a:t>
                      </a:r>
                    </a:p>
                  </a:txBody>
                  <a:tcPr>
                    <a:solidFill>
                      <a:srgbClr val="FFFFFF"/>
                    </a:solidFill>
                  </a:tcPr>
                </a:tc>
                <a:tc>
                  <a:txBody>
                    <a:bodyPr/>
                    <a:lstStyle/>
                    <a:p>
                      <a:r>
                        <a:rPr sz="1200">
                          <a:solidFill>
                            <a:srgbClr val="1F2733"/>
                          </a:solidFill>
                          <a:latin typeface="Calibri"/>
                        </a:rPr>
                        <a:t>0 dagen</a:t>
                      </a:r>
                    </a:p>
                  </a:txBody>
                  <a:tcPr>
                    <a:solidFill>
                      <a:srgbClr val="FFFFFF"/>
                    </a:solidFill>
                  </a:tcPr>
                </a:tc>
                <a:tc>
                  <a:txBody>
                    <a:bodyPr/>
                    <a:lstStyle/>
                    <a:p>
                      <a:r>
                        <a:rPr sz="1200">
                          <a:solidFill>
                            <a:srgbClr val="1F2733"/>
                          </a:solidFill>
                          <a:latin typeface="Calibri"/>
                        </a:rPr>
                        <a:t>elke sessie</a:t>
                      </a:r>
                    </a:p>
                  </a:txBody>
                  <a:tcPr>
                    <a:solidFill>
                      <a:srgbClr val="FFFFFF"/>
                    </a:solidFill>
                  </a:tcPr>
                </a:tc>
              </a:tr>
              <a:tr h="310896">
                <a:tc>
                  <a:txBody>
                    <a:bodyPr/>
                    <a:lstStyle/>
                    <a:p>
                      <a:r>
                        <a:rPr sz="1200">
                          <a:solidFill>
                            <a:srgbClr val="1F2733"/>
                          </a:solidFill>
                          <a:latin typeface="Calibri"/>
                        </a:rPr>
                        <a:t>2 – 3</a:t>
                      </a:r>
                    </a:p>
                  </a:txBody>
                  <a:tcPr>
                    <a:solidFill>
                      <a:srgbClr val="F2F5F8"/>
                    </a:solidFill>
                  </a:tcPr>
                </a:tc>
                <a:tc>
                  <a:txBody>
                    <a:bodyPr/>
                    <a:lstStyle/>
                    <a:p>
                      <a:r>
                        <a:rPr sz="1200">
                          <a:solidFill>
                            <a:srgbClr val="1F2733"/>
                          </a:solidFill>
                          <a:latin typeface="Calibri"/>
                        </a:rPr>
                        <a:t>1 dag</a:t>
                      </a:r>
                    </a:p>
                  </a:txBody>
                  <a:tcPr>
                    <a:solidFill>
                      <a:srgbClr val="F2F5F8"/>
                    </a:solidFill>
                  </a:tcPr>
                </a:tc>
                <a:tc>
                  <a:txBody>
                    <a:bodyPr/>
                    <a:lstStyle/>
                    <a:p>
                      <a:r>
                        <a:rPr sz="1200">
                          <a:solidFill>
                            <a:srgbClr val="1F2733"/>
                          </a:solidFill>
                          <a:latin typeface="Calibri"/>
                        </a:rPr>
                        <a:t>ongeveer dagelijks</a:t>
                      </a:r>
                    </a:p>
                  </a:txBody>
                  <a:tcPr>
                    <a:solidFill>
                      <a:srgbClr val="F2F5F8"/>
                    </a:solidFill>
                  </a:tcPr>
                </a:tc>
              </a:tr>
              <a:tr h="310896">
                <a:tc>
                  <a:txBody>
                    <a:bodyPr/>
                    <a:lstStyle/>
                    <a:p>
                      <a:r>
                        <a:rPr sz="1200">
                          <a:solidFill>
                            <a:srgbClr val="1F2733"/>
                          </a:solidFill>
                          <a:latin typeface="Calibri"/>
                        </a:rPr>
                        <a:t>4 – 7</a:t>
                      </a:r>
                    </a:p>
                  </a:txBody>
                  <a:tcPr>
                    <a:solidFill>
                      <a:srgbClr val="FFFFFF"/>
                    </a:solidFill>
                  </a:tcPr>
                </a:tc>
                <a:tc>
                  <a:txBody>
                    <a:bodyPr/>
                    <a:lstStyle/>
                    <a:p>
                      <a:r>
                        <a:rPr sz="1200">
                          <a:solidFill>
                            <a:srgbClr val="1F2733"/>
                          </a:solidFill>
                          <a:latin typeface="Calibri"/>
                        </a:rPr>
                        <a:t>2 dagen</a:t>
                      </a:r>
                    </a:p>
                  </a:txBody>
                  <a:tcPr>
                    <a:solidFill>
                      <a:srgbClr val="FFFFFF"/>
                    </a:solidFill>
                  </a:tcPr>
                </a:tc>
                <a:tc>
                  <a:txBody>
                    <a:bodyPr/>
                    <a:lstStyle/>
                    <a:p>
                      <a:r>
                        <a:rPr sz="1200">
                          <a:solidFill>
                            <a:srgbClr val="1F2733"/>
                          </a:solidFill>
                          <a:latin typeface="Calibri"/>
                        </a:rPr>
                        <a:t>om de dag</a:t>
                      </a:r>
                    </a:p>
                  </a:txBody>
                  <a:tcPr>
                    <a:solidFill>
                      <a:srgbClr val="FFFFFF"/>
                    </a:solidFill>
                  </a:tcPr>
                </a:tc>
              </a:tr>
              <a:tr h="310896">
                <a:tc>
                  <a:txBody>
                    <a:bodyPr/>
                    <a:lstStyle/>
                    <a:p>
                      <a:r>
                        <a:rPr sz="1200">
                          <a:solidFill>
                            <a:srgbClr val="1F2733"/>
                          </a:solidFill>
                          <a:latin typeface="Calibri"/>
                        </a:rPr>
                        <a:t>8 – 15</a:t>
                      </a:r>
                    </a:p>
                  </a:txBody>
                  <a:tcPr>
                    <a:solidFill>
                      <a:srgbClr val="F2F5F8"/>
                    </a:solidFill>
                  </a:tcPr>
                </a:tc>
                <a:tc>
                  <a:txBody>
                    <a:bodyPr/>
                    <a:lstStyle/>
                    <a:p>
                      <a:r>
                        <a:rPr sz="1200">
                          <a:solidFill>
                            <a:srgbClr val="1F2733"/>
                          </a:solidFill>
                          <a:latin typeface="Calibri"/>
                        </a:rPr>
                        <a:t>4 dagen</a:t>
                      </a:r>
                    </a:p>
                  </a:txBody>
                  <a:tcPr>
                    <a:solidFill>
                      <a:srgbClr val="F2F5F8"/>
                    </a:solidFill>
                  </a:tcPr>
                </a:tc>
                <a:tc>
                  <a:txBody>
                    <a:bodyPr/>
                    <a:lstStyle/>
                    <a:p>
                      <a:r>
                        <a:rPr sz="1200">
                          <a:solidFill>
                            <a:srgbClr val="1F2733"/>
                          </a:solidFill>
                          <a:latin typeface="Calibri"/>
                        </a:rPr>
                        <a:t>twee keer per week</a:t>
                      </a:r>
                    </a:p>
                  </a:txBody>
                  <a:tcPr>
                    <a:solidFill>
                      <a:srgbClr val="F2F5F8"/>
                    </a:solidFill>
                  </a:tcPr>
                </a:tc>
              </a:tr>
              <a:tr h="310896">
                <a:tc>
                  <a:txBody>
                    <a:bodyPr/>
                    <a:lstStyle/>
                    <a:p>
                      <a:r>
                        <a:rPr sz="1200">
                          <a:solidFill>
                            <a:srgbClr val="1F2733"/>
                          </a:solidFill>
                          <a:latin typeface="Calibri"/>
                        </a:rPr>
                        <a:t>16 – 29</a:t>
                      </a:r>
                    </a:p>
                  </a:txBody>
                  <a:tcPr>
                    <a:solidFill>
                      <a:srgbClr val="FFFFFF"/>
                    </a:solidFill>
                  </a:tcPr>
                </a:tc>
                <a:tc>
                  <a:txBody>
                    <a:bodyPr/>
                    <a:lstStyle/>
                    <a:p>
                      <a:r>
                        <a:rPr sz="1200">
                          <a:solidFill>
                            <a:srgbClr val="1F2733"/>
                          </a:solidFill>
                          <a:latin typeface="Calibri"/>
                        </a:rPr>
                        <a:t>10 dagen</a:t>
                      </a:r>
                    </a:p>
                  </a:txBody>
                  <a:tcPr>
                    <a:solidFill>
                      <a:srgbClr val="FFFFFF"/>
                    </a:solidFill>
                  </a:tcPr>
                </a:tc>
                <a:tc>
                  <a:txBody>
                    <a:bodyPr/>
                    <a:lstStyle/>
                    <a:p>
                      <a:r>
                        <a:rPr sz="1200">
                          <a:solidFill>
                            <a:srgbClr val="1F2733"/>
                          </a:solidFill>
                          <a:latin typeface="Calibri"/>
                        </a:rPr>
                        <a:t>beheerst: rust</a:t>
                      </a:r>
                    </a:p>
                  </a:txBody>
                  <a:tcPr>
                    <a:solidFill>
                      <a:srgbClr val="FFFFFF"/>
                    </a:solidFill>
                  </a:tcPr>
                </a:tc>
              </a:tr>
              <a:tr h="310896">
                <a:tc>
                  <a:txBody>
                    <a:bodyPr/>
                    <a:lstStyle/>
                    <a:p>
                      <a:r>
                        <a:rPr sz="1200">
                          <a:solidFill>
                            <a:srgbClr val="1F2733"/>
                          </a:solidFill>
                          <a:latin typeface="Calibri"/>
                        </a:rPr>
                        <a:t>30+</a:t>
                      </a:r>
                    </a:p>
                  </a:txBody>
                  <a:tcPr>
                    <a:solidFill>
                      <a:srgbClr val="F2F5F8"/>
                    </a:solidFill>
                  </a:tcPr>
                </a:tc>
                <a:tc>
                  <a:txBody>
                    <a:bodyPr/>
                    <a:lstStyle/>
                    <a:p>
                      <a:r>
                        <a:rPr sz="1200">
                          <a:solidFill>
                            <a:srgbClr val="1F2733"/>
                          </a:solidFill>
                          <a:latin typeface="Calibri"/>
                        </a:rPr>
                        <a:t>25 dagen</a:t>
                      </a:r>
                    </a:p>
                  </a:txBody>
                  <a:tcPr>
                    <a:solidFill>
                      <a:srgbClr val="F2F5F8"/>
                    </a:solidFill>
                  </a:tcPr>
                </a:tc>
                <a:tc>
                  <a:txBody>
                    <a:bodyPr/>
                    <a:lstStyle/>
                    <a:p>
                      <a:r>
                        <a:rPr sz="1200">
                          <a:solidFill>
                            <a:srgbClr val="1F2733"/>
                          </a:solidFill>
                          <a:latin typeface="Calibri"/>
                        </a:rPr>
                        <a:t>mastery: opfrissen</a:t>
                      </a:r>
                    </a:p>
                  </a:txBody>
                  <a:tcPr>
                    <a:solidFill>
                      <a:srgbClr val="F2F5F8"/>
                    </a:solidFill>
                  </a:tcPr>
                </a:tc>
              </a:tr>
            </a:tbl>
          </a:graphicData>
        </a:graphic>
      </p:graphicFrame>
      <p:sp>
        <p:nvSpPr>
          <p:cNvPr id="7" name="Rounded Rectangle 6"/>
          <p:cNvSpPr/>
          <p:nvPr/>
        </p:nvSpPr>
        <p:spPr>
          <a:xfrm>
            <a:off x="6263640" y="1188720"/>
            <a:ext cx="5394960" cy="64008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733"/>
                </a:solidFill>
                <a:latin typeface="Calibri"/>
              </a:rPr>
              <a:t>B.  Worstel-score  (jouw foutgeschiedenis)</a:t>
            </a:r>
          </a:p>
        </p:txBody>
      </p:sp>
      <p:sp>
        <p:nvSpPr>
          <p:cNvPr id="8" name="TextBox 7"/>
          <p:cNvSpPr txBox="1"/>
          <p:nvPr/>
        </p:nvSpPr>
        <p:spPr>
          <a:xfrm>
            <a:off x="6263640" y="1920240"/>
            <a:ext cx="5394960" cy="822960"/>
          </a:xfrm>
          <a:prstGeom prst="rect">
            <a:avLst/>
          </a:prstGeom>
          <a:noFill/>
        </p:spPr>
        <p:txBody>
          <a:bodyPr wrap="square" lIns="109728" rIns="109728" tIns="54864" bIns="54864" anchor="ctr">
            <a:spAutoFit/>
          </a:bodyPr>
          <a:lstStyle/>
          <a:p>
            <a:pPr algn="l"/>
            <a:r>
              <a:rPr sz="1300" b="0" i="0">
                <a:solidFill>
                  <a:srgbClr val="5B6673"/>
                </a:solidFill>
                <a:latin typeface="Calibri"/>
              </a:rPr>
              <a:t>Woorden waar jij persoonlijk over struikelt, dringen voor.</a:t>
            </a:r>
          </a:p>
          <a:p>
            <a:pPr algn="l"/>
            <a:r>
              <a:rPr sz="1300" b="0" i="0">
                <a:solidFill>
                  <a:srgbClr val="5B6673"/>
                </a:solidFill>
                <a:latin typeface="Calibri"/>
              </a:rPr>
              <a:t>Uitgedrukt in 'extra dagen', zodat het optelt bij de achterstand.</a:t>
            </a:r>
          </a:p>
        </p:txBody>
      </p:sp>
      <p:graphicFrame>
        <p:nvGraphicFramePr>
          <p:cNvPr id="9" name="Table 8"/>
          <p:cNvGraphicFramePr>
            <a:graphicFrameLocks noGrp="1"/>
          </p:cNvGraphicFramePr>
          <p:nvPr/>
        </p:nvGraphicFramePr>
        <p:xfrm>
          <a:off x="6263640" y="2788920"/>
          <a:ext cx="5394960" cy="1865376"/>
        </p:xfrm>
        <a:graphic>
          <a:graphicData uri="http://schemas.openxmlformats.org/drawingml/2006/table">
            <a:tbl>
              <a:tblPr firstRow="1" bandRow="1">
                <a:tableStyleId>{5C22544A-7EE6-4342-B048-85BDC9FD1C3A}</a:tableStyleId>
              </a:tblPr>
              <a:tblGrid>
                <a:gridCol w="3566160"/>
                <a:gridCol w="1828800"/>
              </a:tblGrid>
              <a:tr h="310896">
                <a:tc>
                  <a:txBody>
                    <a:bodyPr/>
                    <a:lstStyle/>
                    <a:p>
                      <a:r>
                        <a:rPr b="1" sz="1200">
                          <a:solidFill>
                            <a:srgbClr val="FFFFFF"/>
                          </a:solidFill>
                          <a:latin typeface="Calibri"/>
                        </a:rPr>
                        <a:t>Situatie</a:t>
                      </a:r>
                    </a:p>
                  </a:txBody>
                  <a:tcPr>
                    <a:solidFill>
                      <a:srgbClr val="0B6E99"/>
                    </a:solidFill>
                  </a:tcPr>
                </a:tc>
                <a:tc>
                  <a:txBody>
                    <a:bodyPr/>
                    <a:lstStyle/>
                    <a:p>
                      <a:r>
                        <a:rPr b="1" sz="1200">
                          <a:solidFill>
                            <a:srgbClr val="FFFFFF"/>
                          </a:solidFill>
                          <a:latin typeface="Calibri"/>
                        </a:rPr>
                        <a:t>Extra voorrang</a:t>
                      </a:r>
                    </a:p>
                  </a:txBody>
                  <a:tcPr>
                    <a:solidFill>
                      <a:srgbClr val="0B6E99"/>
                    </a:solidFill>
                  </a:tcPr>
                </a:tc>
              </a:tr>
              <a:tr h="310896">
                <a:tc>
                  <a:txBody>
                    <a:bodyPr/>
                    <a:lstStyle/>
                    <a:p>
                      <a:r>
                        <a:rPr sz="1200">
                          <a:solidFill>
                            <a:srgbClr val="1F2733"/>
                          </a:solidFill>
                          <a:latin typeface="Calibri"/>
                        </a:rPr>
                        <a:t>Vaak fout (over de hele historie)</a:t>
                      </a:r>
                    </a:p>
                  </a:txBody>
                  <a:tcPr>
                    <a:solidFill>
                      <a:srgbClr val="FFFFFF"/>
                    </a:solidFill>
                  </a:tcPr>
                </a:tc>
                <a:tc>
                  <a:txBody>
                    <a:bodyPr/>
                    <a:lstStyle/>
                    <a:p>
                      <a:r>
                        <a:rPr sz="1200">
                          <a:solidFill>
                            <a:srgbClr val="1F2733"/>
                          </a:solidFill>
                          <a:latin typeface="Calibri"/>
                        </a:rPr>
                        <a:t>tot +8 dagen</a:t>
                      </a:r>
                    </a:p>
                  </a:txBody>
                  <a:tcPr>
                    <a:solidFill>
                      <a:srgbClr val="FFFFFF"/>
                    </a:solidFill>
                  </a:tcPr>
                </a:tc>
              </a:tr>
              <a:tr h="310896">
                <a:tc>
                  <a:txBody>
                    <a:bodyPr/>
                    <a:lstStyle/>
                    <a:p>
                      <a:r>
                        <a:rPr sz="1200">
                          <a:solidFill>
                            <a:srgbClr val="1F2733"/>
                          </a:solidFill>
                          <a:latin typeface="Calibri"/>
                        </a:rPr>
                        <a:t>Gisteren/eergisteren fout</a:t>
                      </a:r>
                    </a:p>
                  </a:txBody>
                  <a:tcPr>
                    <a:solidFill>
                      <a:srgbClr val="F2F5F8"/>
                    </a:solidFill>
                  </a:tcPr>
                </a:tc>
                <a:tc>
                  <a:txBody>
                    <a:bodyPr/>
                    <a:lstStyle/>
                    <a:p>
                      <a:r>
                        <a:rPr sz="1200">
                          <a:solidFill>
                            <a:srgbClr val="1F2733"/>
                          </a:solidFill>
                          <a:latin typeface="Calibri"/>
                        </a:rPr>
                        <a:t>+12 dagen</a:t>
                      </a:r>
                    </a:p>
                  </a:txBody>
                  <a:tcPr>
                    <a:solidFill>
                      <a:srgbClr val="F2F5F8"/>
                    </a:solidFill>
                  </a:tcPr>
                </a:tc>
              </a:tr>
              <a:tr h="310896">
                <a:tc>
                  <a:txBody>
                    <a:bodyPr/>
                    <a:lstStyle/>
                    <a:p>
                      <a:r>
                        <a:rPr sz="1200">
                          <a:solidFill>
                            <a:srgbClr val="1F2733"/>
                          </a:solidFill>
                          <a:latin typeface="Calibri"/>
                        </a:rPr>
                        <a:t>2–3 dagen geleden fout</a:t>
                      </a:r>
                    </a:p>
                  </a:txBody>
                  <a:tcPr>
                    <a:solidFill>
                      <a:srgbClr val="FFFFFF"/>
                    </a:solidFill>
                  </a:tcPr>
                </a:tc>
                <a:tc>
                  <a:txBody>
                    <a:bodyPr/>
                    <a:lstStyle/>
                    <a:p>
                      <a:r>
                        <a:rPr sz="1200">
                          <a:solidFill>
                            <a:srgbClr val="1F2733"/>
                          </a:solidFill>
                          <a:latin typeface="Calibri"/>
                        </a:rPr>
                        <a:t>+6 dagen</a:t>
                      </a:r>
                    </a:p>
                  </a:txBody>
                  <a:tcPr>
                    <a:solidFill>
                      <a:srgbClr val="FFFFFF"/>
                    </a:solidFill>
                  </a:tcPr>
                </a:tc>
              </a:tr>
              <a:tr h="310896">
                <a:tc>
                  <a:txBody>
                    <a:bodyPr/>
                    <a:lstStyle/>
                    <a:p>
                      <a:r>
                        <a:rPr sz="1200">
                          <a:solidFill>
                            <a:srgbClr val="1F2733"/>
                          </a:solidFill>
                          <a:latin typeface="Calibri"/>
                        </a:rPr>
                        <a:t>Teruggevallen naar streak 0</a:t>
                      </a:r>
                    </a:p>
                  </a:txBody>
                  <a:tcPr>
                    <a:solidFill>
                      <a:srgbClr val="F2F5F8"/>
                    </a:solidFill>
                  </a:tcPr>
                </a:tc>
                <a:tc>
                  <a:txBody>
                    <a:bodyPr/>
                    <a:lstStyle/>
                    <a:p>
                      <a:r>
                        <a:rPr sz="1200">
                          <a:solidFill>
                            <a:srgbClr val="1F2733"/>
                          </a:solidFill>
                          <a:latin typeface="Calibri"/>
                        </a:rPr>
                        <a:t>+4 dagen</a:t>
                      </a:r>
                    </a:p>
                  </a:txBody>
                  <a:tcPr>
                    <a:solidFill>
                      <a:srgbClr val="F2F5F8"/>
                    </a:solidFill>
                  </a:tcPr>
                </a:tc>
              </a:tr>
              <a:tr h="310896">
                <a:tc>
                  <a:txBody>
                    <a:bodyPr/>
                    <a:lstStyle/>
                    <a:p>
                      <a:r>
                        <a:rPr sz="1200">
                          <a:solidFill>
                            <a:srgbClr val="1F2733"/>
                          </a:solidFill>
                          <a:latin typeface="Calibri"/>
                        </a:rPr>
                        <a:t>Stevige streak opgebouwd</a:t>
                      </a:r>
                    </a:p>
                  </a:txBody>
                  <a:tcPr>
                    <a:solidFill>
                      <a:srgbClr val="FFFFFF"/>
                    </a:solidFill>
                  </a:tcPr>
                </a:tc>
                <a:tc>
                  <a:txBody>
                    <a:bodyPr/>
                    <a:lstStyle/>
                    <a:p>
                      <a:r>
                        <a:rPr sz="1200">
                          <a:solidFill>
                            <a:srgbClr val="1F2733"/>
                          </a:solidFill>
                          <a:latin typeface="Calibri"/>
                        </a:rPr>
                        <a:t>iets minder urgent</a:t>
                      </a:r>
                    </a:p>
                  </a:txBody>
                  <a:tcPr>
                    <a:solidFill>
                      <a:srgbClr val="FFFFFF"/>
                    </a:solidFill>
                  </a:tcPr>
                </a:tc>
              </a:tr>
            </a:tbl>
          </a:graphicData>
        </a:graphic>
      </p:graphicFrame>
      <p:sp>
        <p:nvSpPr>
          <p:cNvPr id="10" name="Rounded Rectangle 9"/>
          <p:cNvSpPr/>
          <p:nvPr/>
        </p:nvSpPr>
        <p:spPr>
          <a:xfrm>
            <a:off x="548640" y="5074920"/>
            <a:ext cx="11109960" cy="105156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Volgorde  =  (dagen te laat)  +  (worstel-score)      →  hoogste eerst</a:t>
            </a:r>
          </a:p>
          <a:p>
            <a:pPr algn="ctr"/>
            <a:r>
              <a:rPr sz="1400" b="1" i="0">
                <a:solidFill>
                  <a:srgbClr val="1F2733"/>
                </a:solidFill>
                <a:latin typeface="Calibri"/>
              </a:rPr>
              <a:t>Daardoor krijg je nooit een 'willekeurige' rij: je ziet precies dat wat op dat moment het hardst nodig 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Stap 3: het recept van een sessie</a:t>
            </a:r>
          </a:p>
          <a:p>
            <a:r>
              <a:rPr sz="1300">
                <a:solidFill>
                  <a:srgbClr val="D6EEF8"/>
                </a:solidFill>
                <a:latin typeface="Calibri"/>
              </a:rPr>
              <a:t>Ongeveer 10 kaarten, bewust gemengd</a:t>
            </a:r>
          </a:p>
        </p:txBody>
      </p:sp>
      <p:sp>
        <p:nvSpPr>
          <p:cNvPr id="4" name="Rounded Rectangle 3"/>
          <p:cNvSpPr/>
          <p:nvPr/>
        </p:nvSpPr>
        <p:spPr>
          <a:xfrm>
            <a:off x="548640" y="1234440"/>
            <a:ext cx="2468880" cy="1051560"/>
          </a:xfrm>
          <a:prstGeom prst="roundRect">
            <a:avLst/>
          </a:prstGeom>
          <a:solidFill>
            <a:srgbClr val="E9ECEF"/>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2 ×</a:t>
            </a:r>
          </a:p>
          <a:p>
            <a:pPr algn="ctr"/>
            <a:r>
              <a:rPr sz="1400" b="1" i="0">
                <a:solidFill>
                  <a:srgbClr val="1F2733"/>
                </a:solidFill>
                <a:latin typeface="Calibri"/>
              </a:rPr>
              <a:t>nieuw woord</a:t>
            </a:r>
          </a:p>
        </p:txBody>
      </p:sp>
      <p:sp>
        <p:nvSpPr>
          <p:cNvPr id="5" name="Rounded Rectangle 4"/>
          <p:cNvSpPr/>
          <p:nvPr/>
        </p:nvSpPr>
        <p:spPr>
          <a:xfrm>
            <a:off x="3200400" y="1234440"/>
            <a:ext cx="2468880" cy="105156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3 ×</a:t>
            </a:r>
          </a:p>
          <a:p>
            <a:pPr algn="ctr"/>
            <a:r>
              <a:rPr sz="1400" b="1" i="0">
                <a:solidFill>
                  <a:srgbClr val="1F2733"/>
                </a:solidFill>
                <a:latin typeface="Calibri"/>
              </a:rPr>
              <a:t>prille start</a:t>
            </a:r>
          </a:p>
          <a:p>
            <a:pPr algn="ctr"/>
            <a:r>
              <a:rPr sz="1400" b="1" i="0">
                <a:solidFill>
                  <a:srgbClr val="1F2733"/>
                </a:solidFill>
                <a:latin typeface="Calibri"/>
              </a:rPr>
              <a:t>(streak 1–3)</a:t>
            </a:r>
          </a:p>
        </p:txBody>
      </p:sp>
      <p:sp>
        <p:nvSpPr>
          <p:cNvPr id="6" name="Rounded Rectangle 5"/>
          <p:cNvSpPr/>
          <p:nvPr/>
        </p:nvSpPr>
        <p:spPr>
          <a:xfrm>
            <a:off x="5852160" y="1234440"/>
            <a:ext cx="2468880" cy="105156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tot 8 ×</a:t>
            </a:r>
          </a:p>
          <a:p>
            <a:pPr algn="ctr"/>
            <a:r>
              <a:rPr sz="1400" b="1" i="0">
                <a:solidFill>
                  <a:srgbClr val="1F2733"/>
                </a:solidFill>
                <a:latin typeface="Calibri"/>
              </a:rPr>
              <a:t>in training</a:t>
            </a:r>
          </a:p>
          <a:p>
            <a:pPr algn="ctr"/>
            <a:r>
              <a:rPr sz="1400" b="1" i="0">
                <a:solidFill>
                  <a:srgbClr val="1F2733"/>
                </a:solidFill>
                <a:latin typeface="Calibri"/>
              </a:rPr>
              <a:t>(streak 4–15)</a:t>
            </a:r>
          </a:p>
        </p:txBody>
      </p:sp>
      <p:sp>
        <p:nvSpPr>
          <p:cNvPr id="7" name="Rounded Rectangle 6"/>
          <p:cNvSpPr/>
          <p:nvPr/>
        </p:nvSpPr>
        <p:spPr>
          <a:xfrm>
            <a:off x="8503920" y="1234440"/>
            <a:ext cx="3154680" cy="105156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1 × opfrisser uit</a:t>
            </a:r>
          </a:p>
          <a:p>
            <a:pPr algn="ctr"/>
            <a:r>
              <a:rPr sz="1400" b="1" i="0">
                <a:solidFill>
                  <a:srgbClr val="1F2733"/>
                </a:solidFill>
                <a:latin typeface="Calibri"/>
              </a:rPr>
              <a:t>een ándere les</a:t>
            </a:r>
          </a:p>
          <a:p>
            <a:pPr algn="ctr"/>
            <a:r>
              <a:rPr sz="1400" b="1" i="0">
                <a:solidFill>
                  <a:srgbClr val="1F2733"/>
                </a:solidFill>
                <a:latin typeface="Calibri"/>
              </a:rPr>
              <a:t>+ enkele beheerste</a:t>
            </a:r>
          </a:p>
        </p:txBody>
      </p:sp>
      <p:sp>
        <p:nvSpPr>
          <p:cNvPr id="8" name="TextBox 7"/>
          <p:cNvSpPr txBox="1"/>
          <p:nvPr/>
        </p:nvSpPr>
        <p:spPr>
          <a:xfrm>
            <a:off x="548640" y="2514600"/>
            <a:ext cx="11155680" cy="365760"/>
          </a:xfrm>
          <a:prstGeom prst="rect">
            <a:avLst/>
          </a:prstGeom>
          <a:noFill/>
        </p:spPr>
        <p:txBody>
          <a:bodyPr wrap="square" lIns="109728" rIns="109728" tIns="54864" bIns="54864" anchor="ctr">
            <a:spAutoFit/>
          </a:bodyPr>
          <a:lstStyle/>
          <a:p>
            <a:pPr algn="l"/>
            <a:r>
              <a:rPr sz="1600" b="1" i="0">
                <a:solidFill>
                  <a:srgbClr val="0B6E99"/>
                </a:solidFill>
                <a:latin typeface="Calibri"/>
              </a:rPr>
              <a:t>Twee ingebouwde beschermingen</a:t>
            </a:r>
          </a:p>
        </p:txBody>
      </p:sp>
      <p:sp>
        <p:nvSpPr>
          <p:cNvPr id="9" name="TextBox 8"/>
          <p:cNvSpPr txBox="1"/>
          <p:nvPr/>
        </p:nvSpPr>
        <p:spPr>
          <a:xfrm>
            <a:off x="548640" y="2926080"/>
            <a:ext cx="1115568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Frictie-rem: zitten er veel moeilijke woorden in de sessie, dan voegt de app mínder beheerste woorden toe. Een zware sessie wordt zo niet nóg zwaarder.</a:t>
            </a:r>
          </a:p>
        </p:txBody>
      </p:sp>
      <p:sp>
        <p:nvSpPr>
          <p:cNvPr id="10" name="TextBox 9"/>
          <p:cNvSpPr txBox="1"/>
          <p:nvPr/>
        </p:nvSpPr>
        <p:spPr>
          <a:xfrm>
            <a:off x="548640" y="3310128"/>
            <a:ext cx="1115568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Herstel gaat vóór: een woord dat je ooit fout had, mag altijd terugkomen — ook als 'geen nieuwe woorden' aanstaat. Alleen écht nieuwe woorden worden dan tegengehouden.</a:t>
            </a:r>
          </a:p>
        </p:txBody>
      </p:sp>
      <p:sp>
        <p:nvSpPr>
          <p:cNvPr id="11" name="TextBox 10"/>
          <p:cNvSpPr txBox="1"/>
          <p:nvPr/>
        </p:nvSpPr>
        <p:spPr>
          <a:xfrm>
            <a:off x="548640" y="3694176"/>
            <a:ext cx="1115568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Eén woord uit een andere les komt standaard mee, zodat oude stof niet stilletjes wegzakt.</a:t>
            </a:r>
          </a:p>
        </p:txBody>
      </p:sp>
      <p:sp>
        <p:nvSpPr>
          <p:cNvPr id="12" name="TextBox 11"/>
          <p:cNvSpPr txBox="1"/>
          <p:nvPr/>
        </p:nvSpPr>
        <p:spPr>
          <a:xfrm>
            <a:off x="548640" y="4078224"/>
            <a:ext cx="1115568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Haalt de sessie geen 10 kaarten (bv. bij een streng filter), dan vult de app aan met de rest van je selectie.</a:t>
            </a:r>
          </a:p>
        </p:txBody>
      </p:sp>
      <p:sp>
        <p:nvSpPr>
          <p:cNvPr id="13" name="Rounded Rectangle 12"/>
          <p:cNvSpPr/>
          <p:nvPr/>
        </p:nvSpPr>
        <p:spPr>
          <a:xfrm>
            <a:off x="548640" y="5029200"/>
            <a:ext cx="11155680" cy="105156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Waarom mengen?  Alleen nieuwe woorden = te zwaar en je vergeet het oude. Alleen herhaling = geen voortgang.</a:t>
            </a:r>
          </a:p>
          <a:p>
            <a:pPr algn="ctr"/>
            <a:r>
              <a:rPr sz="1400" b="1" i="0">
                <a:solidFill>
                  <a:srgbClr val="1F2733"/>
                </a:solidFill>
                <a:latin typeface="Calibri"/>
              </a:rPr>
              <a:t>De mix houdt de sessie haalbaar én zorgt dat je blijft opbouwen.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Stap 4: de oefenvorm groeit met je mee</a:t>
            </a:r>
          </a:p>
          <a:p>
            <a:r>
              <a:rPr sz="1300">
                <a:solidFill>
                  <a:srgbClr val="D6EEF8"/>
                </a:solidFill>
                <a:latin typeface="Calibri"/>
              </a:rPr>
              <a:t>Hetzelfde woord wordt steeds moeilijker gevraagd</a:t>
            </a:r>
          </a:p>
        </p:txBody>
      </p:sp>
      <p:sp>
        <p:nvSpPr>
          <p:cNvPr id="4" name="Rounded Rectangle 3"/>
          <p:cNvSpPr/>
          <p:nvPr/>
        </p:nvSpPr>
        <p:spPr>
          <a:xfrm>
            <a:off x="640080" y="1371600"/>
            <a:ext cx="3017520" cy="1371600"/>
          </a:xfrm>
          <a:prstGeom prst="roundRect">
            <a:avLst/>
          </a:prstGeom>
          <a:solidFill>
            <a:srgbClr val="E9ECEF"/>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733"/>
                </a:solidFill>
                <a:latin typeface="Calibri"/>
              </a:rPr>
              <a:t>🧠  Flashcard</a:t>
            </a:r>
          </a:p>
          <a:p>
            <a:pPr algn="ctr"/>
            <a:r>
              <a:rPr sz="1300" b="0" i="0">
                <a:solidFill>
                  <a:srgbClr val="1F2733"/>
                </a:solidFill>
                <a:latin typeface="Calibri"/>
              </a:rPr>
              <a:t/>
            </a:r>
          </a:p>
          <a:p>
            <a:pPr algn="ctr"/>
            <a:r>
              <a:rPr sz="1300" b="0" i="0">
                <a:solidFill>
                  <a:srgbClr val="1F2733"/>
                </a:solidFill>
                <a:latin typeface="Calibri"/>
              </a:rPr>
              <a:t>Woord + betekenis samen.</a:t>
            </a:r>
          </a:p>
          <a:p>
            <a:pPr algn="ctr"/>
            <a:r>
              <a:rPr sz="1300" b="0" i="0">
                <a:solidFill>
                  <a:srgbClr val="1F2733"/>
                </a:solidFill>
                <a:latin typeface="Calibri"/>
              </a:rPr>
              <a:t>Alleen bekijken en inprenten.</a:t>
            </a:r>
          </a:p>
        </p:txBody>
      </p:sp>
      <p:cxnSp>
        <p:nvCxnSpPr>
          <p:cNvPr id="5" name="Connector 4"/>
          <p:cNvCxnSpPr/>
          <p:nvPr/>
        </p:nvCxnSpPr>
        <p:spPr>
          <a:xfrm>
            <a:off x="3703320" y="2057400"/>
            <a:ext cx="50292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251960" y="1371600"/>
            <a:ext cx="3017520" cy="137160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733"/>
                </a:solidFill>
                <a:latin typeface="Calibri"/>
              </a:rPr>
              <a:t>🔢  Meerkeuze</a:t>
            </a:r>
          </a:p>
          <a:p>
            <a:pPr algn="ctr"/>
            <a:r>
              <a:rPr sz="1300" b="0" i="0">
                <a:solidFill>
                  <a:srgbClr val="1F2733"/>
                </a:solidFill>
                <a:latin typeface="Calibri"/>
              </a:rPr>
              <a:t/>
            </a:r>
          </a:p>
          <a:p>
            <a:pPr algn="ctr"/>
            <a:r>
              <a:rPr sz="1300" b="0" i="0">
                <a:solidFill>
                  <a:srgbClr val="1F2733"/>
                </a:solidFill>
                <a:latin typeface="Calibri"/>
              </a:rPr>
              <a:t>Kies de juiste betekenis</a:t>
            </a:r>
          </a:p>
          <a:p>
            <a:pPr algn="ctr"/>
            <a:r>
              <a:rPr sz="1300" b="0" i="0">
                <a:solidFill>
                  <a:srgbClr val="1F2733"/>
                </a:solidFill>
                <a:latin typeface="Calibri"/>
              </a:rPr>
              <a:t>uit vier opties.  +1 streak</a:t>
            </a:r>
          </a:p>
        </p:txBody>
      </p:sp>
      <p:cxnSp>
        <p:nvCxnSpPr>
          <p:cNvPr id="7" name="Connector 6"/>
          <p:cNvCxnSpPr/>
          <p:nvPr/>
        </p:nvCxnSpPr>
        <p:spPr>
          <a:xfrm>
            <a:off x="7315200" y="2057400"/>
            <a:ext cx="50292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863840" y="1371600"/>
            <a:ext cx="3566160" cy="137160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733"/>
                </a:solidFill>
                <a:latin typeface="Calibri"/>
              </a:rPr>
              <a:t>⌨️  Zelf typen</a:t>
            </a:r>
          </a:p>
          <a:p>
            <a:pPr algn="ctr"/>
            <a:r>
              <a:rPr sz="1300" b="0" i="0">
                <a:solidFill>
                  <a:srgbClr val="1F2733"/>
                </a:solidFill>
                <a:latin typeface="Calibri"/>
              </a:rPr>
              <a:t/>
            </a:r>
          </a:p>
          <a:p>
            <a:pPr algn="ctr"/>
            <a:r>
              <a:rPr sz="1300" b="0" i="0">
                <a:solidFill>
                  <a:srgbClr val="1F2733"/>
                </a:solidFill>
                <a:latin typeface="Calibri"/>
              </a:rPr>
              <a:t>Geen hulp meer: zelf</a:t>
            </a:r>
          </a:p>
          <a:p>
            <a:pPr algn="ctr"/>
            <a:r>
              <a:rPr sz="1300" b="0" i="0">
                <a:solidFill>
                  <a:srgbClr val="1F2733"/>
                </a:solidFill>
                <a:latin typeface="Calibri"/>
              </a:rPr>
              <a:t>reproduceren.  +3 streak</a:t>
            </a:r>
          </a:p>
        </p:txBody>
      </p:sp>
      <p:sp>
        <p:nvSpPr>
          <p:cNvPr id="9" name="TextBox 8"/>
          <p:cNvSpPr txBox="1"/>
          <p:nvPr/>
        </p:nvSpPr>
        <p:spPr>
          <a:xfrm>
            <a:off x="640080" y="2926080"/>
            <a:ext cx="5486400" cy="320040"/>
          </a:xfrm>
          <a:prstGeom prst="rect">
            <a:avLst/>
          </a:prstGeom>
          <a:noFill/>
        </p:spPr>
        <p:txBody>
          <a:bodyPr wrap="square" lIns="109728" rIns="109728" tIns="54864" bIns="54864" anchor="ctr">
            <a:spAutoFit/>
          </a:bodyPr>
          <a:lstStyle/>
          <a:p>
            <a:pPr algn="l"/>
            <a:r>
              <a:rPr sz="1500" b="1" i="0">
                <a:solidFill>
                  <a:srgbClr val="0B6E99"/>
                </a:solidFill>
                <a:latin typeface="Calibri"/>
              </a:rPr>
              <a:t>In het Leerpad</a:t>
            </a:r>
          </a:p>
        </p:txBody>
      </p:sp>
      <p:sp>
        <p:nvSpPr>
          <p:cNvPr id="10" name="TextBox 9"/>
          <p:cNvSpPr txBox="1"/>
          <p:nvPr/>
        </p:nvSpPr>
        <p:spPr>
          <a:xfrm>
            <a:off x="640080" y="3291840"/>
            <a:ext cx="5486400" cy="329184"/>
          </a:xfrm>
          <a:prstGeom prst="rect">
            <a:avLst/>
          </a:prstGeom>
          <a:noFill/>
        </p:spPr>
        <p:txBody>
          <a:bodyPr wrap="square" lIns="0" tIns="0" bIns="0">
            <a:spAutoFit/>
          </a:bodyPr>
          <a:lstStyle/>
          <a:p>
            <a:r>
              <a:rPr sz="1300" b="1">
                <a:solidFill>
                  <a:srgbClr val="0B6E99"/>
                </a:solidFill>
                <a:latin typeface="Calibri"/>
              </a:rPr>
              <a:t>•  </a:t>
            </a:r>
            <a:r>
              <a:rPr sz="1300" b="0">
                <a:solidFill>
                  <a:srgbClr val="1F2733"/>
                </a:solidFill>
                <a:latin typeface="Calibri"/>
              </a:rPr>
              <a:t>streak 0 → flashcard</a:t>
            </a:r>
          </a:p>
        </p:txBody>
      </p:sp>
      <p:sp>
        <p:nvSpPr>
          <p:cNvPr id="11" name="TextBox 10"/>
          <p:cNvSpPr txBox="1"/>
          <p:nvPr/>
        </p:nvSpPr>
        <p:spPr>
          <a:xfrm>
            <a:off x="640080" y="3621024"/>
            <a:ext cx="5486400" cy="329184"/>
          </a:xfrm>
          <a:prstGeom prst="rect">
            <a:avLst/>
          </a:prstGeom>
          <a:noFill/>
        </p:spPr>
        <p:txBody>
          <a:bodyPr wrap="square" lIns="0" tIns="0" bIns="0">
            <a:spAutoFit/>
          </a:bodyPr>
          <a:lstStyle/>
          <a:p>
            <a:r>
              <a:rPr sz="1300" b="1">
                <a:solidFill>
                  <a:srgbClr val="0B6E99"/>
                </a:solidFill>
                <a:latin typeface="Calibri"/>
              </a:rPr>
              <a:t>•  </a:t>
            </a:r>
            <a:r>
              <a:rPr sz="1300" b="0">
                <a:solidFill>
                  <a:srgbClr val="1F2733"/>
                </a:solidFill>
                <a:latin typeface="Calibri"/>
              </a:rPr>
              <a:t>streak 1–2 → meerkeuze</a:t>
            </a:r>
          </a:p>
        </p:txBody>
      </p:sp>
      <p:sp>
        <p:nvSpPr>
          <p:cNvPr id="12" name="TextBox 11"/>
          <p:cNvSpPr txBox="1"/>
          <p:nvPr/>
        </p:nvSpPr>
        <p:spPr>
          <a:xfrm>
            <a:off x="640080" y="3950208"/>
            <a:ext cx="5486400" cy="329184"/>
          </a:xfrm>
          <a:prstGeom prst="rect">
            <a:avLst/>
          </a:prstGeom>
          <a:noFill/>
        </p:spPr>
        <p:txBody>
          <a:bodyPr wrap="square" lIns="0" tIns="0" bIns="0">
            <a:spAutoFit/>
          </a:bodyPr>
          <a:lstStyle/>
          <a:p>
            <a:r>
              <a:rPr sz="1300" b="1">
                <a:solidFill>
                  <a:srgbClr val="0B6E99"/>
                </a:solidFill>
                <a:latin typeface="Calibri"/>
              </a:rPr>
              <a:t>•  </a:t>
            </a:r>
            <a:r>
              <a:rPr sz="1300" b="0">
                <a:solidFill>
                  <a:srgbClr val="1F2733"/>
                </a:solidFill>
                <a:latin typeface="Calibri"/>
              </a:rPr>
              <a:t>streak 3+ → typen</a:t>
            </a:r>
          </a:p>
        </p:txBody>
      </p:sp>
      <p:sp>
        <p:nvSpPr>
          <p:cNvPr id="13" name="TextBox 12"/>
          <p:cNvSpPr txBox="1"/>
          <p:nvPr/>
        </p:nvSpPr>
        <p:spPr>
          <a:xfrm>
            <a:off x="640080" y="4279392"/>
            <a:ext cx="5486400" cy="329184"/>
          </a:xfrm>
          <a:prstGeom prst="rect">
            <a:avLst/>
          </a:prstGeom>
          <a:noFill/>
        </p:spPr>
        <p:txBody>
          <a:bodyPr wrap="square" lIns="0" tIns="0" bIns="0">
            <a:spAutoFit/>
          </a:bodyPr>
          <a:lstStyle/>
          <a:p>
            <a:r>
              <a:rPr sz="1300" b="1">
                <a:solidFill>
                  <a:srgbClr val="0B6E99"/>
                </a:solidFill>
                <a:latin typeface="Calibri"/>
              </a:rPr>
              <a:t>•  </a:t>
            </a:r>
            <a:r>
              <a:rPr sz="1300" b="0">
                <a:solidFill>
                  <a:srgbClr val="1F2733"/>
                </a:solidFill>
                <a:latin typeface="Calibri"/>
              </a:rPr>
              <a:t>streak 5 → dit woord is 'af' in dit level</a:t>
            </a:r>
          </a:p>
        </p:txBody>
      </p:sp>
      <p:sp>
        <p:nvSpPr>
          <p:cNvPr id="14" name="TextBox 13"/>
          <p:cNvSpPr txBox="1"/>
          <p:nvPr/>
        </p:nvSpPr>
        <p:spPr>
          <a:xfrm>
            <a:off x="6400800" y="2926080"/>
            <a:ext cx="5120640" cy="320040"/>
          </a:xfrm>
          <a:prstGeom prst="rect">
            <a:avLst/>
          </a:prstGeom>
          <a:noFill/>
        </p:spPr>
        <p:txBody>
          <a:bodyPr wrap="square" lIns="109728" rIns="109728" tIns="54864" bIns="54864" anchor="ctr">
            <a:spAutoFit/>
          </a:bodyPr>
          <a:lstStyle/>
          <a:p>
            <a:pPr algn="l"/>
            <a:r>
              <a:rPr sz="1500" b="1" i="0">
                <a:solidFill>
                  <a:srgbClr val="0B6E99"/>
                </a:solidFill>
                <a:latin typeface="Calibri"/>
              </a:rPr>
              <a:t>Waarom oplopend?</a:t>
            </a:r>
          </a:p>
        </p:txBody>
      </p:sp>
      <p:sp>
        <p:nvSpPr>
          <p:cNvPr id="15" name="TextBox 14"/>
          <p:cNvSpPr txBox="1"/>
          <p:nvPr/>
        </p:nvSpPr>
        <p:spPr>
          <a:xfrm>
            <a:off x="6400800" y="3291840"/>
            <a:ext cx="5120640" cy="1463040"/>
          </a:xfrm>
          <a:prstGeom prst="rect">
            <a:avLst/>
          </a:prstGeom>
          <a:noFill/>
        </p:spPr>
        <p:txBody>
          <a:bodyPr wrap="square" lIns="109728" rIns="109728" tIns="54864" bIns="54864" anchor="ctr">
            <a:spAutoFit/>
          </a:bodyPr>
          <a:lstStyle/>
          <a:p>
            <a:pPr algn="l"/>
            <a:r>
              <a:rPr sz="1300" b="0" i="0">
                <a:solidFill>
                  <a:srgbClr val="5B6673"/>
                </a:solidFill>
                <a:latin typeface="Calibri"/>
              </a:rPr>
              <a:t>Herkennen is makkelijker dan zelf produceren. Door pas te laten typen als je het woord al een paar keer goed had, voorkomt de app frustratie én blijft de winst groot: actief reproduceren levert het sterkste geheugenspoor op.</a:t>
            </a:r>
          </a:p>
        </p:txBody>
      </p:sp>
      <p:sp>
        <p:nvSpPr>
          <p:cNvPr id="16" name="Rounded Rectangle 15"/>
          <p:cNvSpPr/>
          <p:nvPr/>
        </p:nvSpPr>
        <p:spPr>
          <a:xfrm>
            <a:off x="640080" y="4937760"/>
            <a:ext cx="10789920" cy="1005840"/>
          </a:xfrm>
          <a:prstGeom prst="roundRect">
            <a:avLst/>
          </a:prstGeom>
          <a:solidFill>
            <a:srgbClr val="FBE9E9"/>
          </a:solidFill>
          <a:ln w="15875">
            <a:solidFill>
              <a:srgbClr val="B4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Fout? Dan verlies je 2 streakpunten en zakt het woord dus een niveau terug in de scaffold — je krijgt het vanzelf weer in een makkelijkere vorm, en later opnieuw.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Wat gebeurt er als je iets fout hebt?</a:t>
            </a:r>
          </a:p>
          <a:p>
            <a:r>
              <a:rPr sz="1300">
                <a:solidFill>
                  <a:srgbClr val="D6EEF8"/>
                </a:solidFill>
                <a:latin typeface="Calibri"/>
              </a:rPr>
              <a:t>Fouten zijn stuurinformatie, geen straf</a:t>
            </a:r>
          </a:p>
        </p:txBody>
      </p:sp>
      <p:sp>
        <p:nvSpPr>
          <p:cNvPr id="4" name="Rounded Rectangle 3"/>
          <p:cNvSpPr/>
          <p:nvPr/>
        </p:nvSpPr>
        <p:spPr>
          <a:xfrm>
            <a:off x="731520" y="1325880"/>
            <a:ext cx="2377440" cy="868680"/>
          </a:xfrm>
          <a:prstGeom prst="roundRect">
            <a:avLst/>
          </a:prstGeom>
          <a:solidFill>
            <a:srgbClr val="FBE9E9"/>
          </a:solidFill>
          <a:ln w="15875">
            <a:solidFill>
              <a:srgbClr val="B4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Fout antwoord</a:t>
            </a:r>
          </a:p>
        </p:txBody>
      </p:sp>
      <p:cxnSp>
        <p:nvCxnSpPr>
          <p:cNvPr id="5" name="Connector 4"/>
          <p:cNvCxnSpPr/>
          <p:nvPr/>
        </p:nvCxnSpPr>
        <p:spPr>
          <a:xfrm>
            <a:off x="3154680" y="1755648"/>
            <a:ext cx="45720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657600" y="1325880"/>
            <a:ext cx="2651760" cy="86868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Juiste antwoord</a:t>
            </a:r>
          </a:p>
          <a:p>
            <a:pPr algn="ctr"/>
            <a:r>
              <a:rPr sz="1300" b="1" i="0">
                <a:solidFill>
                  <a:srgbClr val="1F2733"/>
                </a:solidFill>
                <a:latin typeface="Calibri"/>
              </a:rPr>
              <a:t>+ uitleg tonen</a:t>
            </a:r>
          </a:p>
        </p:txBody>
      </p:sp>
      <p:cxnSp>
        <p:nvCxnSpPr>
          <p:cNvPr id="7" name="Connector 6"/>
          <p:cNvCxnSpPr/>
          <p:nvPr/>
        </p:nvCxnSpPr>
        <p:spPr>
          <a:xfrm>
            <a:off x="6355080" y="1755648"/>
            <a:ext cx="45720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0" y="1325880"/>
            <a:ext cx="2377440" cy="86868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Overtikken</a:t>
            </a:r>
          </a:p>
        </p:txBody>
      </p:sp>
      <p:cxnSp>
        <p:nvCxnSpPr>
          <p:cNvPr id="9" name="Connector 8"/>
          <p:cNvCxnSpPr/>
          <p:nvPr/>
        </p:nvCxnSpPr>
        <p:spPr>
          <a:xfrm>
            <a:off x="9281160" y="1755648"/>
            <a:ext cx="45720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784080" y="1325880"/>
            <a:ext cx="1920240" cy="86868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Later nog</a:t>
            </a:r>
          </a:p>
          <a:p>
            <a:pPr algn="ctr"/>
            <a:r>
              <a:rPr sz="1300" b="1" i="0">
                <a:solidFill>
                  <a:srgbClr val="1F2733"/>
                </a:solidFill>
                <a:latin typeface="Calibri"/>
              </a:rPr>
              <a:t>een keer</a:t>
            </a:r>
          </a:p>
        </p:txBody>
      </p:sp>
      <p:sp>
        <p:nvSpPr>
          <p:cNvPr id="11" name="TextBox 10"/>
          <p:cNvSpPr txBox="1"/>
          <p:nvPr/>
        </p:nvSpPr>
        <p:spPr>
          <a:xfrm>
            <a:off x="731520" y="2514600"/>
            <a:ext cx="10972800" cy="384048"/>
          </a:xfrm>
          <a:prstGeom prst="rect">
            <a:avLst/>
          </a:prstGeom>
          <a:noFill/>
        </p:spPr>
        <p:txBody>
          <a:bodyPr wrap="square" lIns="0" tIns="0" bIns="0">
            <a:spAutoFit/>
          </a:bodyPr>
          <a:lstStyle/>
          <a:p>
            <a:r>
              <a:rPr sz="1500" b="1">
                <a:solidFill>
                  <a:srgbClr val="0B6E99"/>
                </a:solidFill>
                <a:latin typeface="Calibri"/>
              </a:rPr>
              <a:t>−2  </a:t>
            </a:r>
            <a:r>
              <a:rPr sz="1500" b="0">
                <a:solidFill>
                  <a:srgbClr val="1F2733"/>
                </a:solidFill>
                <a:latin typeface="Calibri"/>
              </a:rPr>
              <a:t>Je streak daalt met 2 (nooit onder 0), zodat het woord in een lagere fase terugvalt en vaker terugkomt.</a:t>
            </a:r>
          </a:p>
        </p:txBody>
      </p:sp>
      <p:sp>
        <p:nvSpPr>
          <p:cNvPr id="12" name="TextBox 11"/>
          <p:cNvSpPr txBox="1"/>
          <p:nvPr/>
        </p:nvSpPr>
        <p:spPr>
          <a:xfrm>
            <a:off x="731520" y="2898648"/>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De datum van je fout wordt onthouden: morgen en overmorgen krijgt dit woord flinke voorrang.</a:t>
            </a:r>
          </a:p>
        </p:txBody>
      </p:sp>
      <p:sp>
        <p:nvSpPr>
          <p:cNvPr id="13" name="TextBox 12"/>
          <p:cNvSpPr txBox="1"/>
          <p:nvPr/>
        </p:nvSpPr>
        <p:spPr>
          <a:xfrm>
            <a:off x="731520" y="3282696"/>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Koos je een betekenis die bij een ánder woord hoort? Dan laat de app zien welk woord dat was.</a:t>
            </a:r>
          </a:p>
        </p:txBody>
      </p:sp>
      <p:sp>
        <p:nvSpPr>
          <p:cNvPr id="14" name="TextBox 13"/>
          <p:cNvSpPr txBox="1"/>
          <p:nvPr/>
        </p:nvSpPr>
        <p:spPr>
          <a:xfrm>
            <a:off x="731520" y="3666744"/>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Aan het eind van de sessie vink je zelf aan welke woorden je écht door elkaar haalde — die komen in 'Mijn verwarwoorden' en worden daarna samen geoefend.</a:t>
            </a:r>
          </a:p>
        </p:txBody>
      </p:sp>
      <p:sp>
        <p:nvSpPr>
          <p:cNvPr id="15" name="TextBox 14"/>
          <p:cNvSpPr txBox="1"/>
          <p:nvPr/>
        </p:nvSpPr>
        <p:spPr>
          <a:xfrm>
            <a:off x="731520" y="4050791"/>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'Ik weet het niet' geeft geen aftrek: je ziet het antwoord en krijgt het woord later gewoon nog eens.</a:t>
            </a:r>
          </a:p>
        </p:txBody>
      </p:sp>
      <p:sp>
        <p:nvSpPr>
          <p:cNvPr id="16" name="Rounded Rectangle 15"/>
          <p:cNvSpPr/>
          <p:nvPr/>
        </p:nvSpPr>
        <p:spPr>
          <a:xfrm>
            <a:off x="731520" y="5029200"/>
            <a:ext cx="10972800" cy="96012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Belangrijk: in de tabbladen Ontleden en Klankwetten kun je nooit streakpunten verliezen. Daar mag je vrij experimenteren met moeilijke vormen.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De tabbladen</a:t>
            </a:r>
          </a:p>
          <a:p>
            <a:r>
              <a:rPr sz="1300">
                <a:solidFill>
                  <a:srgbClr val="D6EEF8"/>
                </a:solidFill>
                <a:latin typeface="Calibri"/>
              </a:rPr>
              <a:t>Twaalf onderdelen — zet uit wat je niet gebruikt</a:t>
            </a:r>
          </a:p>
        </p:txBody>
      </p:sp>
      <p:sp>
        <p:nvSpPr>
          <p:cNvPr id="4" name="Rounded Rectangle 3"/>
          <p:cNvSpPr/>
          <p:nvPr/>
        </p:nvSpPr>
        <p:spPr>
          <a:xfrm>
            <a:off x="457200" y="1188720"/>
            <a:ext cx="2788920" cy="105156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Woordenschat</a:t>
            </a:r>
          </a:p>
          <a:p>
            <a:pPr algn="ctr"/>
            <a:r>
              <a:rPr sz="1100" b="0" i="0">
                <a:solidFill>
                  <a:srgbClr val="1F2733"/>
                </a:solidFill>
                <a:latin typeface="Calibri"/>
              </a:rPr>
              <a:t>Woorden leren met slimme herhaling</a:t>
            </a:r>
          </a:p>
        </p:txBody>
      </p:sp>
      <p:sp>
        <p:nvSpPr>
          <p:cNvPr id="5" name="Rounded Rectangle 4"/>
          <p:cNvSpPr/>
          <p:nvPr/>
        </p:nvSpPr>
        <p:spPr>
          <a:xfrm>
            <a:off x="3383280" y="1188720"/>
            <a:ext cx="2788920" cy="1051560"/>
          </a:xfrm>
          <a:prstGeom prst="roundRect">
            <a:avLst/>
          </a:prstGeom>
          <a:solidFill>
            <a:srgbClr val="EEE9FB"/>
          </a:solidFill>
          <a:ln w="15875">
            <a:solidFill>
              <a:srgbClr val="6B4BC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Ontleden</a:t>
            </a:r>
          </a:p>
          <a:p>
            <a:pPr algn="ctr"/>
            <a:r>
              <a:rPr sz="1100" b="0" i="0">
                <a:solidFill>
                  <a:srgbClr val="1F2733"/>
                </a:solidFill>
                <a:latin typeface="Calibri"/>
              </a:rPr>
              <a:t>Bijbelverzen ontleden in vijf rondes</a:t>
            </a:r>
          </a:p>
        </p:txBody>
      </p:sp>
      <p:sp>
        <p:nvSpPr>
          <p:cNvPr id="6" name="Rounded Rectangle 5"/>
          <p:cNvSpPr/>
          <p:nvPr/>
        </p:nvSpPr>
        <p:spPr>
          <a:xfrm>
            <a:off x="6309360" y="1188720"/>
            <a:ext cx="2788920" cy="105156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Actief Beheersen</a:t>
            </a:r>
          </a:p>
          <a:p>
            <a:pPr algn="ctr"/>
            <a:r>
              <a:rPr sz="1100" b="0" i="0">
                <a:solidFill>
                  <a:srgbClr val="1F2733"/>
                </a:solidFill>
                <a:latin typeface="Calibri"/>
              </a:rPr>
              <a:t>Rijtjes uit het hoofd leren</a:t>
            </a:r>
          </a:p>
        </p:txBody>
      </p:sp>
      <p:sp>
        <p:nvSpPr>
          <p:cNvPr id="7" name="Rounded Rectangle 6"/>
          <p:cNvSpPr/>
          <p:nvPr/>
        </p:nvSpPr>
        <p:spPr>
          <a:xfrm>
            <a:off x="9235440" y="1188720"/>
            <a:ext cx="2788920" cy="105156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Stamtijden</a:t>
            </a:r>
          </a:p>
          <a:p>
            <a:pPr algn="ctr"/>
            <a:r>
              <a:rPr sz="1100" b="0" i="0">
                <a:solidFill>
                  <a:srgbClr val="1F2733"/>
                </a:solidFill>
                <a:latin typeface="Calibri"/>
              </a:rPr>
              <a:t>De vijf stamtijden van werkwoorden</a:t>
            </a:r>
          </a:p>
        </p:txBody>
      </p:sp>
      <p:sp>
        <p:nvSpPr>
          <p:cNvPr id="8" name="Rounded Rectangle 7"/>
          <p:cNvSpPr/>
          <p:nvPr/>
        </p:nvSpPr>
        <p:spPr>
          <a:xfrm>
            <a:off x="457200" y="2395728"/>
            <a:ext cx="2788920" cy="105156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Leesteksten</a:t>
            </a:r>
          </a:p>
          <a:p>
            <a:pPr algn="ctr"/>
            <a:r>
              <a:rPr sz="1100" b="0" i="0">
                <a:solidFill>
                  <a:srgbClr val="1F2733"/>
                </a:solidFill>
                <a:latin typeface="Calibri"/>
              </a:rPr>
              <a:t>Hele passages lezen en vertalen</a:t>
            </a:r>
          </a:p>
        </p:txBody>
      </p:sp>
      <p:sp>
        <p:nvSpPr>
          <p:cNvPr id="9" name="Rounded Rectangle 8"/>
          <p:cNvSpPr/>
          <p:nvPr/>
        </p:nvSpPr>
        <p:spPr>
          <a:xfrm>
            <a:off x="3383280" y="2395728"/>
            <a:ext cx="2788920" cy="105156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Klankwetten</a:t>
            </a:r>
          </a:p>
          <a:p>
            <a:pPr algn="ctr"/>
            <a:r>
              <a:rPr sz="1100" b="0" i="0">
                <a:solidFill>
                  <a:srgbClr val="1F2733"/>
                </a:solidFill>
                <a:latin typeface="Calibri"/>
              </a:rPr>
              <a:t>Samensmeltingen herkennen</a:t>
            </a:r>
          </a:p>
        </p:txBody>
      </p:sp>
      <p:sp>
        <p:nvSpPr>
          <p:cNvPr id="10" name="Rounded Rectangle 9"/>
          <p:cNvSpPr/>
          <p:nvPr/>
        </p:nvSpPr>
        <p:spPr>
          <a:xfrm>
            <a:off x="6309360" y="2395728"/>
            <a:ext cx="2788920" cy="105156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Structuurwoorden</a:t>
            </a:r>
          </a:p>
          <a:p>
            <a:pPr algn="ctr"/>
            <a:r>
              <a:rPr sz="1100" b="0" i="0">
                <a:solidFill>
                  <a:srgbClr val="1F2733"/>
                </a:solidFill>
                <a:latin typeface="Calibri"/>
              </a:rPr>
              <a:t>Voorzetsels, voegwoorden, partikels</a:t>
            </a:r>
          </a:p>
        </p:txBody>
      </p:sp>
      <p:sp>
        <p:nvSpPr>
          <p:cNvPr id="11" name="Rounded Rectangle 10"/>
          <p:cNvSpPr/>
          <p:nvPr/>
        </p:nvSpPr>
        <p:spPr>
          <a:xfrm>
            <a:off x="9235440" y="2395728"/>
            <a:ext cx="2788920" cy="1051560"/>
          </a:xfrm>
          <a:prstGeom prst="roundRect">
            <a:avLst/>
          </a:prstGeom>
          <a:solidFill>
            <a:srgbClr val="F2F5F8"/>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Voortgang</a:t>
            </a:r>
          </a:p>
          <a:p>
            <a:pPr algn="ctr"/>
            <a:r>
              <a:rPr sz="1100" b="0" i="0">
                <a:solidFill>
                  <a:srgbClr val="1F2733"/>
                </a:solidFill>
                <a:latin typeface="Calibri"/>
              </a:rPr>
              <a:t>Statistieken, planner, dagdoel</a:t>
            </a:r>
          </a:p>
        </p:txBody>
      </p:sp>
      <p:sp>
        <p:nvSpPr>
          <p:cNvPr id="12" name="Rounded Rectangle 11"/>
          <p:cNvSpPr/>
          <p:nvPr/>
        </p:nvSpPr>
        <p:spPr>
          <a:xfrm>
            <a:off x="457200" y="3602736"/>
            <a:ext cx="2788920" cy="1051560"/>
          </a:xfrm>
          <a:prstGeom prst="roundRect">
            <a:avLst/>
          </a:prstGeom>
          <a:solidFill>
            <a:srgbClr val="F2F5F8"/>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Lijst</a:t>
            </a:r>
          </a:p>
          <a:p>
            <a:pPr algn="ctr"/>
            <a:r>
              <a:rPr sz="1100" b="0" i="0">
                <a:solidFill>
                  <a:srgbClr val="1F2733"/>
                </a:solidFill>
                <a:latin typeface="Calibri"/>
              </a:rPr>
              <a:t>Al je woorden doorzoeken</a:t>
            </a:r>
          </a:p>
        </p:txBody>
      </p:sp>
      <p:sp>
        <p:nvSpPr>
          <p:cNvPr id="13" name="Rounded Rectangle 12"/>
          <p:cNvSpPr/>
          <p:nvPr/>
        </p:nvSpPr>
        <p:spPr>
          <a:xfrm>
            <a:off x="3383280" y="3602736"/>
            <a:ext cx="2788920" cy="1051560"/>
          </a:xfrm>
          <a:prstGeom prst="roundRect">
            <a:avLst/>
          </a:prstGeom>
          <a:solidFill>
            <a:srgbClr val="F2F5F8"/>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Grammatica</a:t>
            </a:r>
          </a:p>
          <a:p>
            <a:pPr algn="ctr"/>
            <a:r>
              <a:rPr sz="1100" b="0" i="0">
                <a:solidFill>
                  <a:srgbClr val="1F2733"/>
                </a:solidFill>
                <a:latin typeface="Calibri"/>
              </a:rPr>
              <a:t>De slides uit het handboek</a:t>
            </a:r>
          </a:p>
        </p:txBody>
      </p:sp>
      <p:sp>
        <p:nvSpPr>
          <p:cNvPr id="14" name="Rounded Rectangle 13"/>
          <p:cNvSpPr/>
          <p:nvPr/>
        </p:nvSpPr>
        <p:spPr>
          <a:xfrm>
            <a:off x="6309360" y="3602736"/>
            <a:ext cx="2788920" cy="1051560"/>
          </a:xfrm>
          <a:prstGeom prst="roundRect">
            <a:avLst/>
          </a:prstGeom>
          <a:solidFill>
            <a:srgbClr val="F2F5F8"/>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ℹ️  Uitleg &amp; Hulp</a:t>
            </a:r>
          </a:p>
          <a:p>
            <a:pPr algn="ctr"/>
            <a:r>
              <a:rPr sz="1100" b="0" i="0">
                <a:solidFill>
                  <a:srgbClr val="1F2733"/>
                </a:solidFill>
                <a:latin typeface="Calibri"/>
              </a:rPr>
              <a:t>Instructie en instellingen</a:t>
            </a:r>
          </a:p>
        </p:txBody>
      </p:sp>
      <p:sp>
        <p:nvSpPr>
          <p:cNvPr id="15" name="Rounded Rectangle 14"/>
          <p:cNvSpPr/>
          <p:nvPr/>
        </p:nvSpPr>
        <p:spPr>
          <a:xfrm>
            <a:off x="9235440" y="3602736"/>
            <a:ext cx="2788920" cy="1051560"/>
          </a:xfrm>
          <a:prstGeom prst="roundRect">
            <a:avLst/>
          </a:prstGeom>
          <a:solidFill>
            <a:srgbClr val="EEE9FB"/>
          </a:solidFill>
          <a:ln w="15875">
            <a:solidFill>
              <a:srgbClr val="6B4BC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1F2733"/>
                </a:solidFill>
                <a:latin typeface="Calibri"/>
              </a:rPr>
              <a:t>✍️  NL → Grieks</a:t>
            </a:r>
          </a:p>
          <a:p>
            <a:pPr algn="ctr"/>
            <a:r>
              <a:rPr sz="1100" b="0" i="0">
                <a:solidFill>
                  <a:srgbClr val="1F2733"/>
                </a:solidFill>
                <a:latin typeface="Calibri"/>
              </a:rPr>
              <a:t>Zelf Grieks produceren</a:t>
            </a:r>
          </a:p>
        </p:txBody>
      </p:sp>
      <p:sp>
        <p:nvSpPr>
          <p:cNvPr id="16" name="Rounded Rectangle 15"/>
          <p:cNvSpPr/>
          <p:nvPr/>
        </p:nvSpPr>
        <p:spPr>
          <a:xfrm>
            <a:off x="457200" y="5532120"/>
            <a:ext cx="11247120" cy="77724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  In ℹ️ Uitleg &amp; Hulp vink je per tabblad aan of je het wilt zien. Voortgang en Uitleg blijven altijd staan.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  Woordenschat</a:t>
            </a:r>
          </a:p>
          <a:p>
            <a:r>
              <a:rPr sz="1300">
                <a:solidFill>
                  <a:srgbClr val="D6EEF8"/>
                </a:solidFill>
                <a:latin typeface="Calibri"/>
              </a:rPr>
              <a:t>Je basis: losse woorden leren en onderhouden</a:t>
            </a:r>
          </a:p>
        </p:txBody>
      </p:sp>
      <p:sp>
        <p:nvSpPr>
          <p:cNvPr id="4" name="TextBox 3"/>
          <p:cNvSpPr txBox="1"/>
          <p:nvPr/>
        </p:nvSpPr>
        <p:spPr>
          <a:xfrm>
            <a:off x="640080" y="1325880"/>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Leerpad (levels)</a:t>
            </a:r>
            <a:r>
              <a:rPr sz="1500" b="0">
                <a:solidFill>
                  <a:srgbClr val="1F2733"/>
                </a:solidFill>
                <a:latin typeface="Calibri"/>
              </a:rPr>
              <a:t> — de aanrader: kleine levels van 7 woorden die je vrijspeelt. De app kiest de oefenvorm.</a:t>
            </a:r>
          </a:p>
        </p:txBody>
      </p:sp>
      <p:sp>
        <p:nvSpPr>
          <p:cNvPr id="5" name="TextBox 4"/>
          <p:cNvSpPr txBox="1"/>
          <p:nvPr/>
        </p:nvSpPr>
        <p:spPr>
          <a:xfrm>
            <a:off x="640080" y="1709928"/>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Lessen</a:t>
            </a:r>
            <a:r>
              <a:rPr sz="1500" b="0">
                <a:solidFill>
                  <a:srgbClr val="1F2733"/>
                </a:solidFill>
                <a:latin typeface="Calibri"/>
              </a:rPr>
              <a:t> — oefen precies de lessen die je nu hebt.</a:t>
            </a:r>
          </a:p>
        </p:txBody>
      </p:sp>
      <p:sp>
        <p:nvSpPr>
          <p:cNvPr id="6" name="TextBox 5"/>
          <p:cNvSpPr txBox="1"/>
          <p:nvPr/>
        </p:nvSpPr>
        <p:spPr>
          <a:xfrm>
            <a:off x="640080" y="2093976"/>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Knelpunten</a:t>
            </a:r>
            <a:r>
              <a:rPr sz="1500" b="0">
                <a:solidFill>
                  <a:srgbClr val="1F2733"/>
                </a:solidFill>
                <a:latin typeface="Calibri"/>
              </a:rPr>
              <a:t> — de woorden met de slechtste verhouding goed/fout.</a:t>
            </a:r>
          </a:p>
        </p:txBody>
      </p:sp>
      <p:sp>
        <p:nvSpPr>
          <p:cNvPr id="7" name="TextBox 6"/>
          <p:cNvSpPr txBox="1"/>
          <p:nvPr/>
        </p:nvSpPr>
        <p:spPr>
          <a:xfrm>
            <a:off x="640080" y="2478024"/>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Lang niet gedaan</a:t>
            </a:r>
            <a:r>
              <a:rPr sz="1500" b="0">
                <a:solidFill>
                  <a:srgbClr val="1F2733"/>
                </a:solidFill>
                <a:latin typeface="Calibri"/>
              </a:rPr>
              <a:t> — geheugenonderhoud op je oudste woorden.</a:t>
            </a:r>
          </a:p>
        </p:txBody>
      </p:sp>
      <p:sp>
        <p:nvSpPr>
          <p:cNvPr id="8" name="TextBox 7"/>
          <p:cNvSpPr txBox="1"/>
          <p:nvPr/>
        </p:nvSpPr>
        <p:spPr>
          <a:xfrm>
            <a:off x="640080" y="2862072"/>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Gelijkende woorden</a:t>
            </a:r>
            <a:r>
              <a:rPr sz="1500" b="0">
                <a:solidFill>
                  <a:srgbClr val="1F2733"/>
                </a:solidFill>
                <a:latin typeface="Calibri"/>
              </a:rPr>
              <a:t> — woorden die op elkaar lijken, naast elkaar geoefend zodat je ze leert onderscheiden.</a:t>
            </a:r>
          </a:p>
        </p:txBody>
      </p:sp>
      <p:sp>
        <p:nvSpPr>
          <p:cNvPr id="9" name="TextBox 8"/>
          <p:cNvSpPr txBox="1"/>
          <p:nvPr/>
        </p:nvSpPr>
        <p:spPr>
          <a:xfrm>
            <a:off x="640080" y="3246120"/>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Mijn verwarwoorden</a:t>
            </a:r>
            <a:r>
              <a:rPr sz="1500" b="0">
                <a:solidFill>
                  <a:srgbClr val="1F2733"/>
                </a:solidFill>
                <a:latin typeface="Calibri"/>
              </a:rPr>
              <a:t> — de paren die jij zelf hebt bevestigd.</a:t>
            </a:r>
          </a:p>
        </p:txBody>
      </p:sp>
      <p:sp>
        <p:nvSpPr>
          <p:cNvPr id="10" name="TextBox 9"/>
          <p:cNvSpPr txBox="1"/>
          <p:nvPr/>
        </p:nvSpPr>
        <p:spPr>
          <a:xfrm>
            <a:off x="640080" y="3630168"/>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Elk woord kan in een echte Bijbelzin worden getoond, met de uitspraakknop erbij.</a:t>
            </a:r>
          </a:p>
        </p:txBody>
      </p:sp>
      <p:sp>
        <p:nvSpPr>
          <p:cNvPr id="11" name="Rounded Rectangle 10"/>
          <p:cNvSpPr/>
          <p:nvPr/>
        </p:nvSpPr>
        <p:spPr>
          <a:xfrm>
            <a:off x="640080" y="5486400"/>
            <a:ext cx="10972800" cy="77724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  Bij Mastery (streak 30+) verandert de vraag: je krijgt het woord in een Bijbelzin en moet ook de vorm benoemen.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  Ontleden</a:t>
            </a:r>
          </a:p>
          <a:p>
            <a:r>
              <a:rPr sz="1300">
                <a:solidFill>
                  <a:srgbClr val="D6EEF8"/>
                </a:solidFill>
                <a:latin typeface="Calibri"/>
              </a:rPr>
              <a:t>Een Bijbelvers ontleden zoals op het tentamen — in vijf rondes</a:t>
            </a:r>
          </a:p>
        </p:txBody>
      </p:sp>
      <p:sp>
        <p:nvSpPr>
          <p:cNvPr id="4" name="TextBox 3"/>
          <p:cNvSpPr txBox="1"/>
          <p:nvPr/>
        </p:nvSpPr>
        <p:spPr>
          <a:xfrm>
            <a:off x="640080" y="1325880"/>
            <a:ext cx="10972800" cy="384048"/>
          </a:xfrm>
          <a:prstGeom prst="rect">
            <a:avLst/>
          </a:prstGeom>
          <a:noFill/>
        </p:spPr>
        <p:txBody>
          <a:bodyPr wrap="square" lIns="0" tIns="0" bIns="0">
            <a:spAutoFit/>
          </a:bodyPr>
          <a:lstStyle/>
          <a:p>
            <a:r>
              <a:rPr sz="1500" b="1">
                <a:solidFill>
                  <a:srgbClr val="0B6E99"/>
                </a:solidFill>
                <a:latin typeface="Calibri"/>
              </a:rPr>
              <a:t>1️⃣  </a:t>
            </a:r>
            <a:r>
              <a:rPr sz="1500" b="0">
                <a:solidFill>
                  <a:srgbClr val="1F2733"/>
                </a:solidFill>
                <a:latin typeface="Calibri"/>
              </a:rPr>
              <a:t>Woordsoort van elk woord aanwijzen.</a:t>
            </a:r>
          </a:p>
        </p:txBody>
      </p:sp>
      <p:sp>
        <p:nvSpPr>
          <p:cNvPr id="5" name="TextBox 4"/>
          <p:cNvSpPr txBox="1"/>
          <p:nvPr/>
        </p:nvSpPr>
        <p:spPr>
          <a:xfrm>
            <a:off x="640080" y="1709928"/>
            <a:ext cx="10972800" cy="384048"/>
          </a:xfrm>
          <a:prstGeom prst="rect">
            <a:avLst/>
          </a:prstGeom>
          <a:noFill/>
        </p:spPr>
        <p:txBody>
          <a:bodyPr wrap="square" lIns="0" tIns="0" bIns="0">
            <a:spAutoFit/>
          </a:bodyPr>
          <a:lstStyle/>
          <a:p>
            <a:r>
              <a:rPr sz="1500" b="1">
                <a:solidFill>
                  <a:srgbClr val="0B6E99"/>
                </a:solidFill>
                <a:latin typeface="Calibri"/>
              </a:rPr>
              <a:t>2️⃣  </a:t>
            </a:r>
            <a:r>
              <a:rPr sz="1500" b="0">
                <a:solidFill>
                  <a:srgbClr val="1F2733"/>
                </a:solidFill>
                <a:latin typeface="Calibri"/>
              </a:rPr>
              <a:t>Naamwoorden ontleden: naamval, geslacht, getal.</a:t>
            </a:r>
          </a:p>
        </p:txBody>
      </p:sp>
      <p:sp>
        <p:nvSpPr>
          <p:cNvPr id="6" name="TextBox 5"/>
          <p:cNvSpPr txBox="1"/>
          <p:nvPr/>
        </p:nvSpPr>
        <p:spPr>
          <a:xfrm>
            <a:off x="640080" y="2093976"/>
            <a:ext cx="10972800" cy="384048"/>
          </a:xfrm>
          <a:prstGeom prst="rect">
            <a:avLst/>
          </a:prstGeom>
          <a:noFill/>
        </p:spPr>
        <p:txBody>
          <a:bodyPr wrap="square" lIns="0" tIns="0" bIns="0">
            <a:spAutoFit/>
          </a:bodyPr>
          <a:lstStyle/>
          <a:p>
            <a:r>
              <a:rPr sz="1500" b="1">
                <a:solidFill>
                  <a:srgbClr val="0B6E99"/>
                </a:solidFill>
                <a:latin typeface="Calibri"/>
              </a:rPr>
              <a:t>3️⃣  </a:t>
            </a:r>
            <a:r>
              <a:rPr sz="1500" b="0">
                <a:solidFill>
                  <a:srgbClr val="1F2733"/>
                </a:solidFill>
                <a:latin typeface="Calibri"/>
              </a:rPr>
              <a:t>Werkwoorden ontleden: wijs, tijd, diathese, persoon, getal.</a:t>
            </a:r>
          </a:p>
        </p:txBody>
      </p:sp>
      <p:sp>
        <p:nvSpPr>
          <p:cNvPr id="7" name="TextBox 6"/>
          <p:cNvSpPr txBox="1"/>
          <p:nvPr/>
        </p:nvSpPr>
        <p:spPr>
          <a:xfrm>
            <a:off x="640080" y="2478024"/>
            <a:ext cx="10972800" cy="384048"/>
          </a:xfrm>
          <a:prstGeom prst="rect">
            <a:avLst/>
          </a:prstGeom>
          <a:noFill/>
        </p:spPr>
        <p:txBody>
          <a:bodyPr wrap="square" lIns="0" tIns="0" bIns="0">
            <a:spAutoFit/>
          </a:bodyPr>
          <a:lstStyle/>
          <a:p>
            <a:r>
              <a:rPr sz="1500" b="1">
                <a:solidFill>
                  <a:srgbClr val="0B6E99"/>
                </a:solidFill>
                <a:latin typeface="Calibri"/>
              </a:rPr>
              <a:t>4️⃣  </a:t>
            </a:r>
            <a:r>
              <a:rPr sz="1500" b="0">
                <a:solidFill>
                  <a:srgbClr val="1F2733"/>
                </a:solidFill>
                <a:latin typeface="Calibri"/>
              </a:rPr>
              <a:t>Woord voor woord vertalen.</a:t>
            </a:r>
          </a:p>
        </p:txBody>
      </p:sp>
      <p:sp>
        <p:nvSpPr>
          <p:cNvPr id="8" name="TextBox 7"/>
          <p:cNvSpPr txBox="1"/>
          <p:nvPr/>
        </p:nvSpPr>
        <p:spPr>
          <a:xfrm>
            <a:off x="640080" y="2862072"/>
            <a:ext cx="10972800" cy="384048"/>
          </a:xfrm>
          <a:prstGeom prst="rect">
            <a:avLst/>
          </a:prstGeom>
          <a:noFill/>
        </p:spPr>
        <p:txBody>
          <a:bodyPr wrap="square" lIns="0" tIns="0" bIns="0">
            <a:spAutoFit/>
          </a:bodyPr>
          <a:lstStyle/>
          <a:p>
            <a:r>
              <a:rPr sz="1500" b="1">
                <a:solidFill>
                  <a:srgbClr val="0B6E99"/>
                </a:solidFill>
                <a:latin typeface="Calibri"/>
              </a:rPr>
              <a:t>5️⃣  </a:t>
            </a:r>
            <a:r>
              <a:rPr sz="1500" b="0">
                <a:solidFill>
                  <a:srgbClr val="1F2733"/>
                </a:solidFill>
                <a:latin typeface="Calibri"/>
              </a:rPr>
              <a:t>De hele zin vertalen, met de Engelse vertaling ter controle.</a:t>
            </a:r>
          </a:p>
        </p:txBody>
      </p:sp>
      <p:sp>
        <p:nvSpPr>
          <p:cNvPr id="9" name="TextBox 8"/>
          <p:cNvSpPr txBox="1"/>
          <p:nvPr/>
        </p:nvSpPr>
        <p:spPr>
          <a:xfrm>
            <a:off x="640080" y="3246120"/>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Schuifjes om naamvallen, voegwoorden, stamtijden, uitgangen en samensmeltingen te kleuren.</a:t>
            </a:r>
          </a:p>
        </p:txBody>
      </p:sp>
      <p:sp>
        <p:nvSpPr>
          <p:cNvPr id="10" name="TextBox 9"/>
          <p:cNvSpPr txBox="1"/>
          <p:nvPr/>
        </p:nvSpPr>
        <p:spPr>
          <a:xfrm>
            <a:off x="640080" y="3630168"/>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Bij elke vorm: hoe is hij opgebouwd (stam + uitgang), welk rijtje hoort erbij, en hoe vertaalt de Bijbel hem.</a:t>
            </a:r>
          </a:p>
        </p:txBody>
      </p:sp>
      <p:sp>
        <p:nvSpPr>
          <p:cNvPr id="11" name="Rounded Rectangle 10"/>
          <p:cNvSpPr/>
          <p:nvPr/>
        </p:nvSpPr>
        <p:spPr>
          <a:xfrm>
            <a:off x="640080" y="5486400"/>
            <a:ext cx="10972800" cy="77724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  Je krijgt alleen verzen waarin je álle woorden al kent — je oefent dus nooit met onbekende stof.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  Klankwetten</a:t>
            </a:r>
          </a:p>
          <a:p>
            <a:r>
              <a:rPr sz="1300">
                <a:solidFill>
                  <a:srgbClr val="D6EEF8"/>
                </a:solidFill>
                <a:latin typeface="Calibri"/>
              </a:rPr>
              <a:t>Herkennen wélke letters zijn samengesmolten</a:t>
            </a:r>
          </a:p>
        </p:txBody>
      </p:sp>
      <p:sp>
        <p:nvSpPr>
          <p:cNvPr id="4" name="TextBox 3"/>
          <p:cNvSpPr txBox="1"/>
          <p:nvPr/>
        </p:nvSpPr>
        <p:spPr>
          <a:xfrm>
            <a:off x="640080" y="1325880"/>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Je ziet een echte vorm, bijvoorbeeld ἔγραψεν, en beantwoordt twee vragen:</a:t>
            </a:r>
          </a:p>
        </p:txBody>
      </p:sp>
      <p:sp>
        <p:nvSpPr>
          <p:cNvPr id="5" name="TextBox 4"/>
          <p:cNvSpPr txBox="1"/>
          <p:nvPr/>
        </p:nvSpPr>
        <p:spPr>
          <a:xfrm>
            <a:off x="640080" y="1709928"/>
            <a:ext cx="10972800" cy="384048"/>
          </a:xfrm>
          <a:prstGeom prst="rect">
            <a:avLst/>
          </a:prstGeom>
          <a:noFill/>
        </p:spPr>
        <p:txBody>
          <a:bodyPr wrap="square" lIns="0" tIns="0" bIns="0">
            <a:spAutoFit/>
          </a:bodyPr>
          <a:lstStyle/>
          <a:p>
            <a:r>
              <a:rPr sz="1500" b="1">
                <a:solidFill>
                  <a:srgbClr val="0B6E99"/>
                </a:solidFill>
                <a:latin typeface="Calibri"/>
              </a:rPr>
              <a:t>1️⃣  </a:t>
            </a:r>
            <a:r>
              <a:rPr sz="1500" b="0">
                <a:solidFill>
                  <a:srgbClr val="1F2733"/>
                </a:solidFill>
                <a:latin typeface="Calibri"/>
              </a:rPr>
              <a:t>Welke letters zijn hier samengegaan?  →  φ + σ → ψ</a:t>
            </a:r>
          </a:p>
        </p:txBody>
      </p:sp>
      <p:sp>
        <p:nvSpPr>
          <p:cNvPr id="6" name="TextBox 5"/>
          <p:cNvSpPr txBox="1"/>
          <p:nvPr/>
        </p:nvSpPr>
        <p:spPr>
          <a:xfrm>
            <a:off x="640080" y="2093976"/>
            <a:ext cx="10972800" cy="384048"/>
          </a:xfrm>
          <a:prstGeom prst="rect">
            <a:avLst/>
          </a:prstGeom>
          <a:noFill/>
        </p:spPr>
        <p:txBody>
          <a:bodyPr wrap="square" lIns="0" tIns="0" bIns="0">
            <a:spAutoFit/>
          </a:bodyPr>
          <a:lstStyle/>
          <a:p>
            <a:r>
              <a:rPr sz="1500" b="1">
                <a:solidFill>
                  <a:srgbClr val="0B6E99"/>
                </a:solidFill>
                <a:latin typeface="Calibri"/>
              </a:rPr>
              <a:t>2️⃣  </a:t>
            </a:r>
            <a:r>
              <a:rPr sz="1500" b="0">
                <a:solidFill>
                  <a:srgbClr val="1F2733"/>
                </a:solidFill>
                <a:latin typeface="Calibri"/>
              </a:rPr>
              <a:t>Van welk werkwoord komt deze vorm?  →  γράφω (schrijven)</a:t>
            </a:r>
          </a:p>
        </p:txBody>
      </p:sp>
      <p:sp>
        <p:nvSpPr>
          <p:cNvPr id="7" name="TextBox 6"/>
          <p:cNvSpPr txBox="1"/>
          <p:nvPr/>
        </p:nvSpPr>
        <p:spPr>
          <a:xfrm>
            <a:off x="640080" y="2478024"/>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Filter op klanksoort: labialen (π/β/φ), keelklanken (κ/γ/χ), dentalen (τ/δ/θ/ζ), vloeiklanken (λ/μ/ν/ρ), contracta en augment.</a:t>
            </a:r>
          </a:p>
        </p:txBody>
      </p:sp>
      <p:sp>
        <p:nvSpPr>
          <p:cNvPr id="8" name="TextBox 7"/>
          <p:cNvSpPr txBox="1"/>
          <p:nvPr/>
        </p:nvSpPr>
        <p:spPr>
          <a:xfrm>
            <a:off x="640080" y="2862072"/>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Naslag-uitklap met alle regels, plus de opbouw van de vorm bij je antwoord.</a:t>
            </a:r>
          </a:p>
        </p:txBody>
      </p:sp>
      <p:sp>
        <p:nvSpPr>
          <p:cNvPr id="9" name="TextBox 8"/>
          <p:cNvSpPr txBox="1"/>
          <p:nvPr/>
        </p:nvSpPr>
        <p:spPr>
          <a:xfrm>
            <a:off x="640080" y="3246120"/>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Je score per klanksoort staat in Voortgang — zo zie je of bijvoorbeeld de dentalen nog aandacht nodig hebben.</a:t>
            </a:r>
          </a:p>
        </p:txBody>
      </p:sp>
      <p:sp>
        <p:nvSpPr>
          <p:cNvPr id="10" name="Rounded Rectangle 9"/>
          <p:cNvSpPr/>
          <p:nvPr/>
        </p:nvSpPr>
        <p:spPr>
          <a:xfrm>
            <a:off x="640080" y="5486400"/>
            <a:ext cx="10972800" cy="77724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  Ook naamwoorden doen mee: σάρξ komt van σαρκ- (κ + ς → ξ) en πᾶσιν van παντ- (ντ valt weg).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  Actief Beheersen  &amp;  ⏳ Stamtijden</a:t>
            </a:r>
          </a:p>
          <a:p>
            <a:r>
              <a:rPr sz="1300">
                <a:solidFill>
                  <a:srgbClr val="D6EEF8"/>
                </a:solidFill>
                <a:latin typeface="Calibri"/>
              </a:rPr>
              <a:t>Van herkennen naar reproduceren</a:t>
            </a:r>
          </a:p>
        </p:txBody>
      </p:sp>
      <p:sp>
        <p:nvSpPr>
          <p:cNvPr id="4" name="TextBox 3"/>
          <p:cNvSpPr txBox="1"/>
          <p:nvPr/>
        </p:nvSpPr>
        <p:spPr>
          <a:xfrm>
            <a:off x="640080" y="1325880"/>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Actief Beheersen</a:t>
            </a:r>
            <a:r>
              <a:rPr sz="1500" b="0">
                <a:solidFill>
                  <a:srgbClr val="1F2733"/>
                </a:solidFill>
                <a:latin typeface="Calibri"/>
              </a:rPr>
              <a:t> — hele rijtjes uit het hoofd: per cel eerst leren, dan meerkeuze, dan typen.</a:t>
            </a:r>
          </a:p>
        </p:txBody>
      </p:sp>
      <p:sp>
        <p:nvSpPr>
          <p:cNvPr id="5" name="TextBox 4"/>
          <p:cNvSpPr txBox="1"/>
          <p:nvPr/>
        </p:nvSpPr>
        <p:spPr>
          <a:xfrm>
            <a:off x="640080" y="1709928"/>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Zit het hele rijtje op streak 16+, dan volgt de meesterproef: het complete paradigma in één keer invullen.</a:t>
            </a:r>
          </a:p>
        </p:txBody>
      </p:sp>
      <p:sp>
        <p:nvSpPr>
          <p:cNvPr id="6" name="TextBox 5"/>
          <p:cNvSpPr txBox="1"/>
          <p:nvPr/>
        </p:nvSpPr>
        <p:spPr>
          <a:xfrm>
            <a:off x="640080" y="2093976"/>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Al beheerste cellen uit ándere rijtjes worden erdoorheen gemengd, zodat oude stof blijft zitten.</a:t>
            </a:r>
          </a:p>
        </p:txBody>
      </p:sp>
      <p:sp>
        <p:nvSpPr>
          <p:cNvPr id="7" name="TextBox 6"/>
          <p:cNvSpPr txBox="1"/>
          <p:nvPr/>
        </p:nvSpPr>
        <p:spPr>
          <a:xfrm>
            <a:off x="640080" y="2478024"/>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Stamtijden</a:t>
            </a:r>
            <a:r>
              <a:rPr sz="1500" b="0">
                <a:solidFill>
                  <a:srgbClr val="1F2733"/>
                </a:solidFill>
                <a:latin typeface="Calibri"/>
              </a:rPr>
              <a:t> — de vijf stamtijden per werkwoord, met uitleg van de klankwet per vorm.</a:t>
            </a:r>
          </a:p>
        </p:txBody>
      </p:sp>
      <p:sp>
        <p:nvSpPr>
          <p:cNvPr id="8" name="TextBox 7"/>
          <p:cNvSpPr txBox="1"/>
          <p:nvPr/>
        </p:nvSpPr>
        <p:spPr>
          <a:xfrm>
            <a:off x="640080" y="2862072"/>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Een werkwoord ontgrendelt pas als je het basiswoord kent (streak ≥ 5).</a:t>
            </a:r>
          </a:p>
        </p:txBody>
      </p:sp>
      <p:sp>
        <p:nvSpPr>
          <p:cNvPr id="9" name="TextBox 8"/>
          <p:cNvSpPr txBox="1"/>
          <p:nvPr/>
        </p:nvSpPr>
        <p:spPr>
          <a:xfrm>
            <a:off x="640080" y="3246120"/>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Flashcard-modus toont eerst het hele rijtje, daarna oefen je vorm voor vorm.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  Leesteksten  &amp;  🧱 Structuurwoorden</a:t>
            </a:r>
          </a:p>
          <a:p>
            <a:r>
              <a:rPr sz="1300">
                <a:solidFill>
                  <a:srgbClr val="D6EEF8"/>
                </a:solidFill>
                <a:latin typeface="Calibri"/>
              </a:rPr>
              <a:t>Van losse woorden naar doorlopende tekst</a:t>
            </a:r>
          </a:p>
        </p:txBody>
      </p:sp>
      <p:sp>
        <p:nvSpPr>
          <p:cNvPr id="4" name="TextBox 3"/>
          <p:cNvSpPr txBox="1"/>
          <p:nvPr/>
        </p:nvSpPr>
        <p:spPr>
          <a:xfrm>
            <a:off x="640080" y="1325880"/>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Leesteksten</a:t>
            </a:r>
            <a:r>
              <a:rPr sz="1500" b="0">
                <a:solidFill>
                  <a:srgbClr val="1F2733"/>
                </a:solidFill>
                <a:latin typeface="Calibri"/>
              </a:rPr>
              <a:t> — kies een passage en werk hem vers voor vers door.</a:t>
            </a:r>
          </a:p>
        </p:txBody>
      </p:sp>
      <p:sp>
        <p:nvSpPr>
          <p:cNvPr id="5" name="TextBox 4"/>
          <p:cNvSpPr txBox="1"/>
          <p:nvPr/>
        </p:nvSpPr>
        <p:spPr>
          <a:xfrm>
            <a:off x="640080" y="1709928"/>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Vier methodes: lezen met spiekhulp, vertalen via meerkeuze, zelf typen, of de volledige masterclass-ontleding.</a:t>
            </a:r>
          </a:p>
        </p:txBody>
      </p:sp>
      <p:sp>
        <p:nvSpPr>
          <p:cNvPr id="6" name="TextBox 5"/>
          <p:cNvSpPr txBox="1"/>
          <p:nvPr/>
        </p:nvSpPr>
        <p:spPr>
          <a:xfrm>
            <a:off x="640080" y="2093976"/>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Kleuren voor naamvallen, voegwoorden en stamtijden, en hover voor betekenis en ontleding.</a:t>
            </a:r>
          </a:p>
        </p:txBody>
      </p:sp>
      <p:sp>
        <p:nvSpPr>
          <p:cNvPr id="7" name="TextBox 6"/>
          <p:cNvSpPr txBox="1"/>
          <p:nvPr/>
        </p:nvSpPr>
        <p:spPr>
          <a:xfrm>
            <a:off x="640080" y="2478024"/>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Structuurwoorden</a:t>
            </a:r>
            <a:r>
              <a:rPr sz="1500" b="0">
                <a:solidFill>
                  <a:srgbClr val="1F2733"/>
                </a:solidFill>
                <a:latin typeface="Calibri"/>
              </a:rPr>
              <a:t> — de kleine woordjes die de zin sturen: voorzetsels, voegwoorden, partikels.</a:t>
            </a:r>
          </a:p>
        </p:txBody>
      </p:sp>
      <p:sp>
        <p:nvSpPr>
          <p:cNvPr id="8" name="TextBox 7"/>
          <p:cNvSpPr txBox="1"/>
          <p:nvPr/>
        </p:nvSpPr>
        <p:spPr>
          <a:xfrm>
            <a:off x="640080" y="2862072"/>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Bij voorzetsels leer je welke naamval erop volgt, in een echte Bijbelzin.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  Voortgang</a:t>
            </a:r>
          </a:p>
          <a:p>
            <a:r>
              <a:rPr sz="1300">
                <a:solidFill>
                  <a:srgbClr val="D6EEF8"/>
                </a:solidFill>
                <a:latin typeface="Calibri"/>
              </a:rPr>
              <a:t>Je cijfers, je planning en je dagdoel</a:t>
            </a:r>
          </a:p>
        </p:txBody>
      </p:sp>
      <p:sp>
        <p:nvSpPr>
          <p:cNvPr id="4" name="TextBox 3"/>
          <p:cNvSpPr txBox="1"/>
          <p:nvPr/>
        </p:nvSpPr>
        <p:spPr>
          <a:xfrm>
            <a:off x="640080" y="1325880"/>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Dagelijks doel</a:t>
            </a:r>
            <a:r>
              <a:rPr sz="1500" b="0">
                <a:solidFill>
                  <a:srgbClr val="1F2733"/>
                </a:solidFill>
                <a:latin typeface="Calibri"/>
              </a:rPr>
              <a:t> per onderdeel, met een balk per categorie. Bij Woorden tellen verschillende woorden: hetzelfde woord vaker oefenen telt één keer.</a:t>
            </a:r>
          </a:p>
        </p:txBody>
      </p:sp>
      <p:sp>
        <p:nvSpPr>
          <p:cNvPr id="5" name="TextBox 4"/>
          <p:cNvSpPr txBox="1"/>
          <p:nvPr/>
        </p:nvSpPr>
        <p:spPr>
          <a:xfrm>
            <a:off x="640080" y="1709928"/>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Oefenkalender</a:t>
            </a:r>
            <a:r>
              <a:rPr sz="1500" b="0">
                <a:solidFill>
                  <a:srgbClr val="1F2733"/>
                </a:solidFill>
                <a:latin typeface="Calibri"/>
              </a:rPr>
              <a:t>: per dag hoeveel je deed; een stip betekent dat je het dagdoel voor dat onderdeel haalde.</a:t>
            </a:r>
          </a:p>
        </p:txBody>
      </p:sp>
      <p:sp>
        <p:nvSpPr>
          <p:cNvPr id="6" name="TextBox 5"/>
          <p:cNvSpPr txBox="1"/>
          <p:nvPr/>
        </p:nvSpPr>
        <p:spPr>
          <a:xfrm>
            <a:off x="640080" y="2093976"/>
            <a:ext cx="10972800" cy="384048"/>
          </a:xfrm>
          <a:prstGeom prst="rect">
            <a:avLst/>
          </a:prstGeom>
          <a:noFill/>
        </p:spPr>
        <p:txBody>
          <a:bodyPr wrap="square" lIns="0" tIns="0" bIns="0">
            <a:spAutoFit/>
          </a:bodyPr>
          <a:lstStyle/>
          <a:p>
            <a:r>
              <a:rPr sz="1500" b="1">
                <a:solidFill>
                  <a:srgbClr val="0B6E99"/>
                </a:solidFill>
                <a:latin typeface="Calibri"/>
              </a:rPr>
              <a:t>🧭  </a:t>
            </a:r>
            <a:r>
              <a:rPr sz="1500" b="1">
                <a:solidFill>
                  <a:srgbClr val="1F2733"/>
                </a:solidFill>
                <a:latin typeface="Calibri"/>
              </a:rPr>
              <a:t>Studieplanner</a:t>
            </a:r>
            <a:r>
              <a:rPr sz="1500" b="0">
                <a:solidFill>
                  <a:srgbClr val="1F2733"/>
                </a:solidFill>
                <a:latin typeface="Calibri"/>
              </a:rPr>
              <a:t>: vul je tempo en accuratesse in en zie wanneer je klaar bent — inclusief een schatting hoeveel Leerpad-rondes per dag je nodig hebt voor Grieks 1, 2 of 3.</a:t>
            </a:r>
          </a:p>
        </p:txBody>
      </p:sp>
      <p:sp>
        <p:nvSpPr>
          <p:cNvPr id="7" name="TextBox 6"/>
          <p:cNvSpPr txBox="1"/>
          <p:nvPr/>
        </p:nvSpPr>
        <p:spPr>
          <a:xfrm>
            <a:off x="640080" y="2478024"/>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Ontleed-accuratesse per onderdeel en klankwetten per klanksoort.</a:t>
            </a:r>
          </a:p>
        </p:txBody>
      </p:sp>
      <p:sp>
        <p:nvSpPr>
          <p:cNvPr id="8" name="TextBox 7"/>
          <p:cNvSpPr txBox="1"/>
          <p:nvPr/>
        </p:nvSpPr>
        <p:spPr>
          <a:xfrm>
            <a:off x="640080" y="2862072"/>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Badges, niveau en XP over alle vier de onderdelen samen, plus het klassement.</a:t>
            </a:r>
          </a:p>
        </p:txBody>
      </p:sp>
      <p:sp>
        <p:nvSpPr>
          <p:cNvPr id="9" name="Rounded Rectangle 8"/>
          <p:cNvSpPr/>
          <p:nvPr/>
        </p:nvSpPr>
        <p:spPr>
          <a:xfrm>
            <a:off x="640080" y="5486400"/>
            <a:ext cx="10972800" cy="77724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  De planner rekent al mee dat beheerste woorden klaar zijn — die tellen niet opnieuw mee in de schatting.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Onder de motorkap: hoe wéét de app dit?</a:t>
            </a:r>
          </a:p>
          <a:p>
            <a:r>
              <a:rPr sz="1300">
                <a:solidFill>
                  <a:srgbClr val="D6EEF8"/>
                </a:solidFill>
                <a:latin typeface="Calibri"/>
              </a:rPr>
              <a:t>Voorspellen en verifiëren, niet gokken</a:t>
            </a:r>
          </a:p>
        </p:txBody>
      </p:sp>
      <p:sp>
        <p:nvSpPr>
          <p:cNvPr id="4" name="TextBox 3"/>
          <p:cNvSpPr txBox="1"/>
          <p:nvPr/>
        </p:nvSpPr>
        <p:spPr>
          <a:xfrm>
            <a:off x="548640" y="1188720"/>
            <a:ext cx="11155680" cy="365760"/>
          </a:xfrm>
          <a:prstGeom prst="rect">
            <a:avLst/>
          </a:prstGeom>
          <a:noFill/>
        </p:spPr>
        <p:txBody>
          <a:bodyPr wrap="square" lIns="109728" rIns="109728" tIns="54864" bIns="54864" anchor="ctr">
            <a:spAutoFit/>
          </a:bodyPr>
          <a:lstStyle/>
          <a:p>
            <a:pPr algn="l"/>
            <a:r>
              <a:rPr sz="1600" b="1" i="0">
                <a:solidFill>
                  <a:srgbClr val="0B6E99"/>
                </a:solidFill>
                <a:latin typeface="Calibri"/>
              </a:rPr>
              <a:t>Het probleem</a:t>
            </a:r>
          </a:p>
        </p:txBody>
      </p:sp>
      <p:sp>
        <p:nvSpPr>
          <p:cNvPr id="5" name="TextBox 4"/>
          <p:cNvSpPr txBox="1"/>
          <p:nvPr/>
        </p:nvSpPr>
        <p:spPr>
          <a:xfrm>
            <a:off x="548640" y="1554480"/>
            <a:ext cx="11155680" cy="548640"/>
          </a:xfrm>
          <a:prstGeom prst="rect">
            <a:avLst/>
          </a:prstGeom>
          <a:noFill/>
        </p:spPr>
        <p:txBody>
          <a:bodyPr wrap="square" lIns="109728" rIns="109728" tIns="54864" bIns="54864" anchor="ctr">
            <a:spAutoFit/>
          </a:bodyPr>
          <a:lstStyle/>
          <a:p>
            <a:pPr algn="l"/>
            <a:r>
              <a:rPr sz="1300" b="0" i="0">
                <a:solidFill>
                  <a:srgbClr val="5B6673"/>
                </a:solidFill>
                <a:latin typeface="Calibri"/>
              </a:rPr>
              <a:t>Een vorm als ἔγραψεν kun je op het oog 'verklaren' met een regel die toevallig past. Bij een onregelmatig werkwoord levert dat een uitleg op die er goed uitziet maar fout is — precies wat je niet wilt aanleren.</a:t>
            </a:r>
          </a:p>
        </p:txBody>
      </p:sp>
      <p:sp>
        <p:nvSpPr>
          <p:cNvPr id="6" name="TextBox 5"/>
          <p:cNvSpPr txBox="1"/>
          <p:nvPr/>
        </p:nvSpPr>
        <p:spPr>
          <a:xfrm>
            <a:off x="548640" y="2240280"/>
            <a:ext cx="11155680" cy="365760"/>
          </a:xfrm>
          <a:prstGeom prst="rect">
            <a:avLst/>
          </a:prstGeom>
          <a:noFill/>
        </p:spPr>
        <p:txBody>
          <a:bodyPr wrap="square" lIns="109728" rIns="109728" tIns="54864" bIns="54864" anchor="ctr">
            <a:spAutoFit/>
          </a:bodyPr>
          <a:lstStyle/>
          <a:p>
            <a:pPr algn="l"/>
            <a:r>
              <a:rPr sz="1600" b="1" i="0">
                <a:solidFill>
                  <a:srgbClr val="0B6E99"/>
                </a:solidFill>
                <a:latin typeface="Calibri"/>
              </a:rPr>
              <a:t>De oplossing: de app bouwt de vorm zélf na</a:t>
            </a:r>
          </a:p>
        </p:txBody>
      </p:sp>
      <p:sp>
        <p:nvSpPr>
          <p:cNvPr id="7" name="Rounded Rectangle 6"/>
          <p:cNvSpPr/>
          <p:nvPr/>
        </p:nvSpPr>
        <p:spPr>
          <a:xfrm>
            <a:off x="548640" y="2651760"/>
            <a:ext cx="2377440" cy="914400"/>
          </a:xfrm>
          <a:prstGeom prst="roundRect">
            <a:avLst/>
          </a:prstGeom>
          <a:solidFill>
            <a:srgbClr val="F2F5F8"/>
          </a:solidFill>
          <a:ln w="15875">
            <a:solidFill>
              <a:srgbClr val="5B66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Stam uit het</a:t>
            </a:r>
          </a:p>
          <a:p>
            <a:pPr algn="ctr"/>
            <a:r>
              <a:rPr sz="1200" b="1" i="0">
                <a:solidFill>
                  <a:srgbClr val="1F2733"/>
                </a:solidFill>
                <a:latin typeface="Calibri"/>
              </a:rPr>
              <a:t>woordenboek</a:t>
            </a:r>
          </a:p>
          <a:p>
            <a:pPr algn="ctr"/>
            <a:r>
              <a:rPr sz="1200" b="1" i="0">
                <a:solidFill>
                  <a:srgbClr val="1F2733"/>
                </a:solidFill>
                <a:latin typeface="Calibri"/>
              </a:rPr>
              <a:t>γραφ-</a:t>
            </a:r>
          </a:p>
        </p:txBody>
      </p:sp>
      <p:cxnSp>
        <p:nvCxnSpPr>
          <p:cNvPr id="8" name="Connector 7"/>
          <p:cNvCxnSpPr/>
          <p:nvPr/>
        </p:nvCxnSpPr>
        <p:spPr>
          <a:xfrm>
            <a:off x="2971800" y="3108960"/>
            <a:ext cx="45720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74720" y="2651760"/>
            <a:ext cx="2377440" cy="91440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Regel toepassen</a:t>
            </a:r>
          </a:p>
          <a:p>
            <a:pPr algn="ctr"/>
            <a:r>
              <a:rPr sz="1200" b="1" i="0">
                <a:solidFill>
                  <a:srgbClr val="1F2733"/>
                </a:solidFill>
                <a:latin typeface="Calibri"/>
              </a:rPr>
              <a:t>φ + σ → ψ</a:t>
            </a:r>
          </a:p>
        </p:txBody>
      </p:sp>
      <p:cxnSp>
        <p:nvCxnSpPr>
          <p:cNvPr id="10" name="Connector 9"/>
          <p:cNvCxnSpPr/>
          <p:nvPr/>
        </p:nvCxnSpPr>
        <p:spPr>
          <a:xfrm>
            <a:off x="5897880" y="3108960"/>
            <a:ext cx="45720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400800" y="2651760"/>
            <a:ext cx="2377440" cy="914400"/>
          </a:xfrm>
          <a:prstGeom prst="roundRect">
            <a:avLst/>
          </a:prstGeom>
          <a:solidFill>
            <a:srgbClr val="E3F3FA"/>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Voorspelling</a:t>
            </a:r>
          </a:p>
          <a:p>
            <a:pPr algn="ctr"/>
            <a:r>
              <a:rPr sz="1200" b="1" i="0">
                <a:solidFill>
                  <a:srgbClr val="1F2733"/>
                </a:solidFill>
                <a:latin typeface="Calibri"/>
              </a:rPr>
              <a:t>ἔγραψεν</a:t>
            </a:r>
          </a:p>
        </p:txBody>
      </p:sp>
      <p:cxnSp>
        <p:nvCxnSpPr>
          <p:cNvPr id="12" name="Connector 11"/>
          <p:cNvCxnSpPr/>
          <p:nvPr/>
        </p:nvCxnSpPr>
        <p:spPr>
          <a:xfrm>
            <a:off x="8823960" y="3108960"/>
            <a:ext cx="457200" cy="0"/>
          </a:xfrm>
          <a:prstGeom prst="line">
            <a:avLst/>
          </a:prstGeom>
          <a:ln w="22225">
            <a:solidFill>
              <a:srgbClr val="5B6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326880" y="2651760"/>
            <a:ext cx="2377440" cy="91440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1F2733"/>
                </a:solidFill>
                <a:latin typeface="Calibri"/>
              </a:rPr>
              <a:t>Klopt het</a:t>
            </a:r>
          </a:p>
          <a:p>
            <a:pPr algn="ctr"/>
            <a:r>
              <a:rPr sz="1200" b="1" i="0">
                <a:solidFill>
                  <a:srgbClr val="1F2733"/>
                </a:solidFill>
                <a:latin typeface="Calibri"/>
              </a:rPr>
              <a:t>met de tekst?</a:t>
            </a:r>
          </a:p>
        </p:txBody>
      </p:sp>
      <p:sp>
        <p:nvSpPr>
          <p:cNvPr id="14" name="Rounded Rectangle 13"/>
          <p:cNvSpPr/>
          <p:nvPr/>
        </p:nvSpPr>
        <p:spPr>
          <a:xfrm>
            <a:off x="3474720" y="3794760"/>
            <a:ext cx="3931920" cy="685800"/>
          </a:xfrm>
          <a:prstGeom prst="roundRect">
            <a:avLst/>
          </a:prstGeom>
          <a:solidFill>
            <a:srgbClr val="E4F6EC"/>
          </a:solidFill>
          <a:ln w="15875">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  Ja → uitleg tonen</a:t>
            </a:r>
          </a:p>
        </p:txBody>
      </p:sp>
      <p:sp>
        <p:nvSpPr>
          <p:cNvPr id="15" name="Rounded Rectangle 14"/>
          <p:cNvSpPr/>
          <p:nvPr/>
        </p:nvSpPr>
        <p:spPr>
          <a:xfrm>
            <a:off x="7680960" y="3794760"/>
            <a:ext cx="4023360" cy="685800"/>
          </a:xfrm>
          <a:prstGeom prst="roundRect">
            <a:avLst/>
          </a:prstGeom>
          <a:solidFill>
            <a:srgbClr val="FBE9E9"/>
          </a:solidFill>
          <a:ln w="15875">
            <a:solidFill>
              <a:srgbClr val="B4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F2733"/>
                </a:solidFill>
                <a:latin typeface="Calibri"/>
              </a:rPr>
              <a:t>❌  Nee → niets zeggen</a:t>
            </a:r>
          </a:p>
        </p:txBody>
      </p:sp>
      <p:sp>
        <p:nvSpPr>
          <p:cNvPr id="16" name="TextBox 15"/>
          <p:cNvSpPr txBox="1"/>
          <p:nvPr/>
        </p:nvSpPr>
        <p:spPr>
          <a:xfrm>
            <a:off x="548640" y="4663440"/>
            <a:ext cx="11155680" cy="365760"/>
          </a:xfrm>
          <a:prstGeom prst="rect">
            <a:avLst/>
          </a:prstGeom>
          <a:noFill/>
        </p:spPr>
        <p:txBody>
          <a:bodyPr wrap="square" lIns="109728" rIns="109728" tIns="54864" bIns="54864" anchor="ctr">
            <a:spAutoFit/>
          </a:bodyPr>
          <a:lstStyle/>
          <a:p>
            <a:pPr algn="l"/>
            <a:r>
              <a:rPr sz="1600" b="1" i="0">
                <a:solidFill>
                  <a:srgbClr val="0B6E99"/>
                </a:solidFill>
                <a:latin typeface="Calibri"/>
              </a:rPr>
              <a:t>Wat dat oplevert</a:t>
            </a:r>
          </a:p>
        </p:txBody>
      </p:sp>
      <p:sp>
        <p:nvSpPr>
          <p:cNvPr id="17" name="TextBox 16"/>
          <p:cNvSpPr txBox="1"/>
          <p:nvPr/>
        </p:nvSpPr>
        <p:spPr>
          <a:xfrm>
            <a:off x="548640" y="5029200"/>
            <a:ext cx="11155680" cy="347472"/>
          </a:xfrm>
          <a:prstGeom prst="rect">
            <a:avLst/>
          </a:prstGeom>
          <a:noFill/>
        </p:spPr>
        <p:txBody>
          <a:bodyPr wrap="square" lIns="0" tIns="0" bIns="0">
            <a:spAutoFit/>
          </a:bodyPr>
          <a:lstStyle/>
          <a:p>
            <a:r>
              <a:rPr sz="1300" b="1">
                <a:solidFill>
                  <a:srgbClr val="0B6E99"/>
                </a:solidFill>
                <a:latin typeface="Calibri"/>
              </a:rPr>
              <a:t>•  </a:t>
            </a:r>
            <a:r>
              <a:rPr sz="1300" b="0">
                <a:solidFill>
                  <a:srgbClr val="1F2733"/>
                </a:solidFill>
                <a:latin typeface="Calibri"/>
              </a:rPr>
              <a:t>εἰμί → ἦν krijgt géén regel: dat is een onregelmatige vorm, geen klankwet. De app zwijgt daar.</a:t>
            </a:r>
          </a:p>
        </p:txBody>
      </p:sp>
      <p:sp>
        <p:nvSpPr>
          <p:cNvPr id="18" name="TextBox 17"/>
          <p:cNvSpPr txBox="1"/>
          <p:nvPr/>
        </p:nvSpPr>
        <p:spPr>
          <a:xfrm>
            <a:off x="548640" y="5376672"/>
            <a:ext cx="11155680" cy="347472"/>
          </a:xfrm>
          <a:prstGeom prst="rect">
            <a:avLst/>
          </a:prstGeom>
          <a:noFill/>
        </p:spPr>
        <p:txBody>
          <a:bodyPr wrap="square" lIns="0" tIns="0" bIns="0">
            <a:spAutoFit/>
          </a:bodyPr>
          <a:lstStyle/>
          <a:p>
            <a:r>
              <a:rPr sz="1300" b="1">
                <a:solidFill>
                  <a:srgbClr val="0B6E99"/>
                </a:solidFill>
                <a:latin typeface="Calibri"/>
              </a:rPr>
              <a:t>•  </a:t>
            </a:r>
            <a:r>
              <a:rPr sz="1300" b="0">
                <a:solidFill>
                  <a:srgbClr val="1F2733"/>
                </a:solidFill>
                <a:latin typeface="Calibri"/>
              </a:rPr>
              <a:t>Alle uitlegregels zijn getoetst over het complete NT; van de gevonden gevallen is er geen enkele onjuist.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685800"/>
          </a:xfrm>
          <a:prstGeom prst="rect">
            <a:avLst/>
          </a:prstGeom>
          <a:noFill/>
        </p:spPr>
        <p:txBody>
          <a:bodyPr wrap="square">
            <a:spAutoFit/>
          </a:bodyPr>
          <a:lstStyle/>
          <a:p>
            <a:r>
              <a:rPr sz="2800" b="1">
                <a:solidFill>
                  <a:srgbClr val="FFFFFF"/>
                </a:solidFill>
                <a:latin typeface="Calibri"/>
              </a:rPr>
              <a:t>Je voortgang</a:t>
            </a:r>
          </a:p>
          <a:p>
            <a:r>
              <a:rPr sz="1300">
                <a:solidFill>
                  <a:srgbClr val="D6EEF8"/>
                </a:solidFill>
                <a:latin typeface="Calibri"/>
              </a:rPr>
              <a:t>Waar het staat en wanneer het wordt bewaard</a:t>
            </a:r>
          </a:p>
        </p:txBody>
      </p:sp>
      <p:sp>
        <p:nvSpPr>
          <p:cNvPr id="4" name="TextBox 3"/>
          <p:cNvSpPr txBox="1"/>
          <p:nvPr/>
        </p:nvSpPr>
        <p:spPr>
          <a:xfrm>
            <a:off x="640080" y="1325880"/>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Je voortgang staat in je eigen tabblad in een Google Sheet — losse gebruikers kunnen elkaar niet overschrijven.</a:t>
            </a:r>
          </a:p>
        </p:txBody>
      </p:sp>
      <p:sp>
        <p:nvSpPr>
          <p:cNvPr id="5" name="TextBox 4"/>
          <p:cNvSpPr txBox="1"/>
          <p:nvPr/>
        </p:nvSpPr>
        <p:spPr>
          <a:xfrm>
            <a:off x="640080" y="1709928"/>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Er wordt automatisch opgeslagen na elke 5 antwoorden, en altijd aan het eind van een sessie of bij uitloggen.</a:t>
            </a:r>
          </a:p>
        </p:txBody>
      </p:sp>
      <p:sp>
        <p:nvSpPr>
          <p:cNvPr id="6" name="TextBox 5"/>
          <p:cNvSpPr txBox="1"/>
          <p:nvPr/>
        </p:nvSpPr>
        <p:spPr>
          <a:xfrm>
            <a:off x="640080" y="2093976"/>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Alles gaat mee: woorden, rijtjes, stamtijden, structuurwoorden, ontleden, klankwetten, badges, dagdoelen en je instellingen — ongeacht in welk tabblad je bezig was.</a:t>
            </a:r>
          </a:p>
        </p:txBody>
      </p:sp>
      <p:sp>
        <p:nvSpPr>
          <p:cNvPr id="7" name="TextBox 6"/>
          <p:cNvSpPr txBox="1"/>
          <p:nvPr/>
        </p:nvSpPr>
        <p:spPr>
          <a:xfrm>
            <a:off x="640080" y="2478024"/>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Lukt opslaan niet, dan zie je dat bovenaan staan: je voortgang zit dan nog in het geheugen.</a:t>
            </a:r>
          </a:p>
        </p:txBody>
      </p:sp>
      <p:sp>
        <p:nvSpPr>
          <p:cNvPr id="8" name="TextBox 7"/>
          <p:cNvSpPr txBox="1"/>
          <p:nvPr/>
        </p:nvSpPr>
        <p:spPr>
          <a:xfrm>
            <a:off x="640080" y="2862072"/>
            <a:ext cx="10972800" cy="384048"/>
          </a:xfrm>
          <a:prstGeom prst="rect">
            <a:avLst/>
          </a:prstGeom>
          <a:noFill/>
        </p:spPr>
        <p:txBody>
          <a:bodyPr wrap="square" lIns="0" tIns="0" bIns="0">
            <a:spAutoFit/>
          </a:bodyPr>
          <a:lstStyle/>
          <a:p>
            <a:r>
              <a:rPr sz="1500" b="1">
                <a:solidFill>
                  <a:srgbClr val="0B6E99"/>
                </a:solidFill>
                <a:latin typeface="Calibri"/>
              </a:rPr>
              <a:t>🏆  </a:t>
            </a:r>
            <a:r>
              <a:rPr sz="1500" b="0">
                <a:solidFill>
                  <a:srgbClr val="1F2733"/>
                </a:solidFill>
                <a:latin typeface="Calibri"/>
              </a:rPr>
              <a:t>Voor het klassement wordt alleen een samenvatting gedeeld (niveau, XP, aantallen) — geen inhoudelijke data.</a:t>
            </a:r>
          </a:p>
        </p:txBody>
      </p:sp>
      <p:sp>
        <p:nvSpPr>
          <p:cNvPr id="9" name="Rounded Rectangle 8"/>
          <p:cNvSpPr/>
          <p:nvPr/>
        </p:nvSpPr>
        <p:spPr>
          <a:xfrm>
            <a:off x="640080" y="4023360"/>
            <a:ext cx="10972800" cy="914400"/>
          </a:xfrm>
          <a:prstGeom prst="roundRect">
            <a:avLst/>
          </a:prstGeom>
          <a:solidFill>
            <a:srgbClr val="FDF4DC"/>
          </a:solidFill>
          <a:ln w="15875">
            <a:solidFill>
              <a:srgbClr val="B48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733"/>
                </a:solidFill>
                <a:latin typeface="Calibri"/>
              </a:rPr>
              <a:t>Tip: sluit je de app af zonder verder te oefenen, doe dan eerst een handeling of log netjes uit, zodat de laatste paar antwoorden zeker zijn weggeschreven.</a:t>
            </a:r>
          </a:p>
        </p:txBody>
      </p:sp>
      <p:sp>
        <p:nvSpPr>
          <p:cNvPr id="10" name="TextBox 9"/>
          <p:cNvSpPr txBox="1"/>
          <p:nvPr/>
        </p:nvSpPr>
        <p:spPr>
          <a:xfrm>
            <a:off x="640080" y="5120640"/>
            <a:ext cx="10972800" cy="1097280"/>
          </a:xfrm>
          <a:prstGeom prst="rect">
            <a:avLst/>
          </a:prstGeom>
          <a:noFill/>
        </p:spPr>
        <p:txBody>
          <a:bodyPr wrap="square" lIns="109728" rIns="109728" tIns="54864" bIns="54864" anchor="ctr">
            <a:spAutoFit/>
          </a:bodyPr>
          <a:lstStyle/>
          <a:p>
            <a:pPr algn="l"/>
            <a:r>
              <a:rPr sz="1500" b="0" i="1">
                <a:solidFill>
                  <a:srgbClr val="0B6E99"/>
                </a:solidFill>
                <a:latin typeface="Calibri"/>
              </a:rPr>
              <a:t>De app is gebouwd rond één idee: jij hoeft niet te bedenken wát je moet oefenen. Dat rekent de app uit — op basis van wat je kent, wat je fout deed en hoe lang geleden dat was. Jij hoeft alleen te beginnen.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6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822960"/>
          </a:xfrm>
          <a:prstGeom prst="rect">
            <a:avLst/>
          </a:prstGeom>
          <a:noFill/>
        </p:spPr>
        <p:txBody>
          <a:bodyPr wrap="square" lIns="109728" rIns="109728" tIns="54864" bIns="54864" anchor="ctr">
            <a:spAutoFit/>
          </a:bodyPr>
          <a:lstStyle/>
          <a:p>
            <a:pPr algn="ctr"/>
            <a:r>
              <a:rPr sz="4000" b="1" i="0">
                <a:solidFill>
                  <a:srgbClr val="FFFFFF"/>
                </a:solidFill>
                <a:latin typeface="Calibri"/>
              </a:rPr>
              <a:t>Zo kom je het verst</a:t>
            </a:r>
          </a:p>
        </p:txBody>
      </p:sp>
      <p:sp>
        <p:nvSpPr>
          <p:cNvPr id="4" name="TextBox 3"/>
          <p:cNvSpPr txBox="1"/>
          <p:nvPr/>
        </p:nvSpPr>
        <p:spPr>
          <a:xfrm>
            <a:off x="1463040" y="3200400"/>
            <a:ext cx="9235440" cy="1828800"/>
          </a:xfrm>
          <a:prstGeom prst="rect">
            <a:avLst/>
          </a:prstGeom>
          <a:noFill/>
        </p:spPr>
        <p:txBody>
          <a:bodyPr wrap="square" lIns="109728" rIns="109728" tIns="54864" bIns="54864" anchor="ctr">
            <a:spAutoFit/>
          </a:bodyPr>
          <a:lstStyle/>
          <a:p>
            <a:pPr algn="l"/>
            <a:r>
              <a:rPr sz="1800" b="0" i="0">
                <a:solidFill>
                  <a:srgbClr val="E8F6FC"/>
                </a:solidFill>
                <a:latin typeface="Calibri"/>
              </a:rPr>
              <a:t>1.  Doe elke dag een korte sessie — regelmaat verslaat lange sessies.</a:t>
            </a:r>
          </a:p>
          <a:p>
            <a:pPr algn="l"/>
            <a:r>
              <a:rPr sz="1800" b="0" i="0">
                <a:solidFill>
                  <a:srgbClr val="E8F6FC"/>
                </a:solidFill>
                <a:latin typeface="Calibri"/>
              </a:rPr>
              <a:t>2.  Begin met het 🎮 Leerpad; de app kiest dan alles voor je.</a:t>
            </a:r>
          </a:p>
          <a:p>
            <a:pPr algn="l"/>
            <a:r>
              <a:rPr sz="1800" b="0" i="0">
                <a:solidFill>
                  <a:srgbClr val="E8F6FC"/>
                </a:solidFill>
                <a:latin typeface="Calibri"/>
              </a:rPr>
              <a:t>3.  Twijfel je? Open de hint in plaats van te gokken — dat scheelt echt dagen.</a:t>
            </a:r>
          </a:p>
          <a:p>
            <a:pPr algn="l"/>
            <a:r>
              <a:rPr sz="1800" b="0" i="0">
                <a:solidFill>
                  <a:srgbClr val="E8F6FC"/>
                </a:solidFill>
                <a:latin typeface="Calibri"/>
              </a:rPr>
              <a:t>4.  Bevestig aan het eind welke woorden je door elkaar haalde.</a:t>
            </a:r>
          </a:p>
          <a:p>
            <a:pPr algn="l"/>
            <a:r>
              <a:rPr sz="1800" b="0" i="0">
                <a:solidFill>
                  <a:srgbClr val="E8F6FC"/>
                </a:solidFill>
                <a:latin typeface="Calibri"/>
              </a:rPr>
              <a:t>5.  Zet tabbladen uit die je niet gebruikt.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