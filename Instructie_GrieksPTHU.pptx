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0152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Grieks leren — Handleiding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6015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2200" b="0" i="0">
                <a:solidFill>
                  <a:srgbClr val="C8A24B"/>
                </a:solidFill>
                <a:latin typeface="Calibri"/>
              </a:rPr>
              <a:t>Wat staat er op elk tabblad en wat gebeurt er precies?</a:t>
            </a:r>
          </a:p>
          <a:p>
            <a:pPr algn="ctr">
              <a:spcBef>
                <a:spcPts val="800"/>
              </a:spcBef>
              <a:spcAft>
                <a:spcPts val="200"/>
              </a:spcAft>
            </a:pPr>
            <a:r>
              <a:rPr sz="1600" b="0" i="0">
                <a:solidFill>
                  <a:srgbClr val="CFD8E2"/>
                </a:solidFill>
                <a:latin typeface="Calibri"/>
              </a:rPr>
              <a:t>Een complete rondleiding door de app — tabblad voor tabblad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52160"/>
            <a:ext cx="1036015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9FB0C0"/>
                </a:solidFill>
                <a:latin typeface="Calibri"/>
              </a:rPr>
              <a:t>Nieuwe-Testament Grieks · woordenschat, stamtijden, structuurwoorden, actief beheersen, leesteksten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B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Zo werkt de app in het kort</a:t>
            </a:r>
          </a:p>
          <a:p>
            <a:pPr algn="l">
              <a:spcBef>
                <a:spcPts val="100"/>
              </a:spcBef>
              <a:spcAft>
                <a:spcPts val="200"/>
              </a:spcAft>
            </a:pPr>
            <a:r>
              <a:rPr sz="1300" b="0" i="1">
                <a:solidFill>
                  <a:srgbClr val="C8A24B"/>
                </a:solidFill>
                <a:latin typeface="Calibri"/>
              </a:rPr>
              <a:t>Begrippen die op elk tabblad terugkomen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109728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200"/>
              </a:spcBef>
              <a:spcAft>
                <a:spcPts val="200"/>
              </a:spcAft>
            </a:pPr>
            <a:r>
              <a:rPr sz="4000" b="1" i="0">
                <a:solidFill>
                  <a:srgbClr val="355A7E"/>
                </a:solidFill>
                <a:latin typeface="Calibri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07008"/>
            <a:ext cx="11064240" cy="539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2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🌱 Fasen (op basis van je 'streak' = aantal keer goed op rij)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0 = Nieuw · 1–15 = In training · 16–29 = Beheerst · 30+ = Mastery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Elk woord/vorm klimt door deze fasen naarmate je het goed blijft doen.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🎮 Leerpad &amp; niveau (XP)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Elk onderdeel heeft een Leerpad met levels: eerst flashcard, dan meerkeuze, dan typen.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Je verdient XP die nooit daalt: +10 per goed woord, bonus bij streak 5/16/30.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Je niveau telt over ALLE onderdelen samen: woorden + stamtijden + structuur + actief.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Rangtitels: Nieuweling → … → Exegeet → … → Grootmeester.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✅ Nakijken &amp; straf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Nakijken is soepel: kleine typfouten, accenten en synoniemen (met / of ,) worden vergeven.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Fout? Bij 2 fouten (of 1 fout op hoge streak) zak je 2 streakpunten en moet je overtikken.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🧭 Eenvoudig vs. geavanceerd &amp; opslag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Standaard 'eenvoudige modus': alleen de kern. Zet meer opties aan in ℹ️ Uitleg &amp; Hulp.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Je voortgang en instellingen worden automatisch in de cloud bewaard (over apparaten heen).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B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🎯 Dagelijks doel</a:t>
            </a:r>
          </a:p>
          <a:p>
            <a:pPr algn="l">
              <a:spcBef>
                <a:spcPts val="100"/>
              </a:spcBef>
              <a:spcAft>
                <a:spcPts val="200"/>
              </a:spcAft>
            </a:pPr>
            <a:r>
              <a:rPr sz="1300" b="0" i="1">
                <a:solidFill>
                  <a:srgbClr val="C8A24B"/>
                </a:solidFill>
                <a:latin typeface="Calibri"/>
              </a:rPr>
              <a:t>Je vaste dagelijkse ronde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109728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200"/>
              </a:spcBef>
              <a:spcAft>
                <a:spcPts val="200"/>
              </a:spcAft>
            </a:pPr>
            <a:r>
              <a:rPr sz="4000" b="1" i="0">
                <a:solidFill>
                  <a:srgbClr val="355A7E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07008"/>
            <a:ext cx="11064240" cy="539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2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Doel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Zet je dagblok klaar en loop de oefen-tabbladen van links naar rechts af.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Wat je ziet / instelt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Bovenaan: 🔥 dagblok-streak, of het woord-dagblok vandaag klaar is, totaal geoefend vandaag.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Knop ▶️ 'Zet woord-dagblok klaar' + samenvatting van je doel (bv. 10 woorden · 5 moeilijke · 3 verwarparen · 5 stamtijden · 5 structuur · 2 verzen).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Voortgangsbalken per onderdeel (Actief, Stamtijden, Structuur, Verzen).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⚙️ 'Mijn dagelijkse doelen instellen': sliders per onderdeel + 💾 opslaan.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📅 Jouw oefenkalender (heatmap onderaan).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Wat er gebeurt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De knop bouwt je woordkaarten + verwarparen en zet ze klaar in Woordenschat.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Stamtijden en structuurwoorden worden meteen 'gearmd' in hun Leerpad.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De dagblok-streak loopt op per dag dat je het woordblok afmaakt.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Bijzonder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Actief, Stamtijden, Structuur en Verzen tellen automatisch mee zodra je goed antwoordt — niets handmatig afvinken.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B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🚀 Woordenschat</a:t>
            </a:r>
          </a:p>
          <a:p>
            <a:pPr algn="l">
              <a:spcBef>
                <a:spcPts val="100"/>
              </a:spcBef>
              <a:spcAft>
                <a:spcPts val="200"/>
              </a:spcAft>
            </a:pPr>
            <a:r>
              <a:rPr sz="1300" b="0" i="1">
                <a:solidFill>
                  <a:srgbClr val="C8A24B"/>
                </a:solidFill>
                <a:latin typeface="Calibri"/>
              </a:rPr>
              <a:t>Het centrale overhoor-tabblad (Grieks → Nederlands)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109728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200"/>
              </a:spcBef>
              <a:spcAft>
                <a:spcPts val="200"/>
              </a:spcAft>
            </a:pPr>
            <a:r>
              <a:rPr sz="4000" b="1" i="0">
                <a:solidFill>
                  <a:srgbClr val="355A7E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07008"/>
            <a:ext cx="11064240" cy="539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2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Doel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Woorden leren via gefaseerde sessies — het hart van de app.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Wat je ziet / instelt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Modus: 1. Leer · 2. MC · 3. Mix · 4. Typen (in eenvoudige modus kiest het Leerpad de vorm).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Oefening: Lessen · 🎮 Leerpad · Mastery · Knelpunten · Lang niet gedaan · Gelijkende woorden · 🧩 Mijn verwarwoorden.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🎮 Leerpad: niveau + XP-balk, levels, en '🔁 Oude stof meenemen' (1 / 5 / 10 / alleen dit level).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⚙️ Extra instellingen: Bijbelcontext, kleuren naamvallen, nieuwe/verwar/mastery-woorden erbij, uitspraak.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Wat er gebeurt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Leerpad-scaffold per woord: streak 0 → flashcard + meerkeuze; 1–7 → meerkeuze; ≥8 → typen.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Streakpunten: MC goed +1, Typen goed +3 (in Mix telt een goede MC als combo → +2 bij typen).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Bij fout zie je met welk woord je het mogelijk verwart; achteraf vink je zelf aan wat écht klopte → 🧩 Mijn verwarwoorden.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Mijn verwarwoorden = paar-oefening: beide woorden tegelijk tot allebei beheerst.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Woorden die je gisteren fout had, komen de dag erna met voorrang terug (spaced repetition).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Bijzonder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Eindsamenvatting met ✅ goed / ❌ fout + het '⚠️ mogelijk verward'-formulier. Fasebalk onder elke kaart.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B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🎓 Actief Beheersen</a:t>
            </a:r>
          </a:p>
          <a:p>
            <a:pPr algn="l">
              <a:spcBef>
                <a:spcPts val="100"/>
              </a:spcBef>
              <a:spcAft>
                <a:spcPts val="200"/>
              </a:spcAft>
            </a:pPr>
            <a:r>
              <a:rPr sz="1300" b="0" i="1">
                <a:solidFill>
                  <a:srgbClr val="C8A24B"/>
                </a:solidFill>
                <a:latin typeface="Calibri"/>
              </a:rPr>
              <a:t>Paradigma's / rijtjes zelf reproduceren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109728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200"/>
              </a:spcBef>
              <a:spcAft>
                <a:spcPts val="200"/>
              </a:spcAft>
            </a:pPr>
            <a:r>
              <a:rPr sz="4000" b="1" i="0">
                <a:solidFill>
                  <a:srgbClr val="355A7E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07008"/>
            <a:ext cx="11064240" cy="539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2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Doel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Rijtjes (naamwoorden, uitgangen, enz.) bestuderen én actief in het Grieks intypen.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Wat je ziet / instelt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⌨️ Spiekbrief: hoe typ je Grieks (Latijnse toetsen → Griekse letters).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Leervorm: 🎮 Leerpad · 📖 Paradigma-paspoort · 🎯 Focus op uitgangen · 📝 Tentamenrooster · ⚡ Flashcards.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📂 Kies niveau/boek · categorie · paradigma.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Wat er gebeurt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Paspoort: bekijk het rijtje (vaste stam wit, variabele uitgang blauw) — geen scoring.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Focus op uitgangen: alleen de uitgang typen; Tentamenrooster: hele rijtje typen, foutloos = 🏆.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🎮 Leerpad per cel: Leer + MC → MC → Typen. MC goed +2 / fout −2; Typen goed +4 / fout −2. Cel 'af' bij streak ≥20.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Als álle cellen ≥20 zijn → meesterproef: het hele rijtje in één keer reproduceren.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Bijzonder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Scores per cel bewaard; tellen mee voor je dagdoel en je niveau.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B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⏳ Stamtijden</a:t>
            </a:r>
          </a:p>
          <a:p>
            <a:pPr algn="l">
              <a:spcBef>
                <a:spcPts val="100"/>
              </a:spcBef>
              <a:spcAft>
                <a:spcPts val="200"/>
              </a:spcAft>
            </a:pPr>
            <a:r>
              <a:rPr sz="1300" b="0" i="1">
                <a:solidFill>
                  <a:srgbClr val="C8A24B"/>
                </a:solidFill>
                <a:latin typeface="Calibri"/>
              </a:rPr>
              <a:t>De 6 stamtijden herleiden en trainen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109728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200"/>
              </a:spcBef>
              <a:spcAft>
                <a:spcPts val="200"/>
              </a:spcAft>
            </a:pPr>
            <a:r>
              <a:rPr sz="4000" b="1" i="0">
                <a:solidFill>
                  <a:srgbClr val="355A7E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07008"/>
            <a:ext cx="11064240" cy="539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2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Doel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Werkwoordsvormen leren herkennen en herleiden naar het praesens (met klankwetten).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Wat je ziet / instelt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Modus: 🎮 Leerpad · 📖 Werkwoordpaspoort · 🧠 Leer (flashcards) · 🔢 MC · 🔀 Mix · ⌨️ Typen · 🔎 Herkennen (koud).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Bron: uit gekozen lessen óf uit een Bijbeltekst. Geavanceerd: zelf fasen samenstellen + 🔓 negeer vergrendeling.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Wat er gebeurt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Paspoort: morfologisch overzicht — klasse, stamwortel, de 6 tijden in kleur, en de klankwet-formule.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🧠 Leer: vorm tonen → antwoord onthullen → ✅ 'wist ik' (+1) / ❌ 'nog niet' (komt terug).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MC/Mix/Typen: benoem tijd + diathese en herleid naar praesens + betekenis. Bij streak ≥30: herkennen in een Bijbelzin.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🎮 Leerpad: Leer + MC → MC → Typen; vorm 'af' bij streak ≥5.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Bijzonder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Sluis: stamtijden ontgrendelen pas als het basiswoord vocab-streak ≥5 heeft (uitzetbaar / uit in Leerpad).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Onregelmatige (suppletie 🔥) werkwoorden moet je puur memoriseren.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B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🧱 Structuurwoorden</a:t>
            </a:r>
          </a:p>
          <a:p>
            <a:pPr algn="l">
              <a:spcBef>
                <a:spcPts val="100"/>
              </a:spcBef>
              <a:spcAft>
                <a:spcPts val="200"/>
              </a:spcAft>
            </a:pPr>
            <a:r>
              <a:rPr sz="1300" b="0" i="1">
                <a:solidFill>
                  <a:srgbClr val="C8A24B"/>
                </a:solidFill>
                <a:latin typeface="Calibri"/>
              </a:rPr>
              <a:t>Voorzetsels, voegwoorden &amp; voornaamwoorden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109728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200"/>
              </a:spcBef>
              <a:spcAft>
                <a:spcPts val="200"/>
              </a:spcAft>
            </a:pPr>
            <a:r>
              <a:rPr sz="4000" b="1" i="0">
                <a:solidFill>
                  <a:srgbClr val="355A7E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07008"/>
            <a:ext cx="11064240" cy="539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2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Doel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Structuurwoorden herkennen mét hun syntaxis: categorie, eigenschap/naamval en betekenis.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Wat je ziet / instelt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Leer-spoor: 🎮 Leerpad · Alles gemixt · Voorzetsels · Voegwoorden &amp; partikels · Voornaamwoorden.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Oefenvorm: 1. MC · 2. Mix · 3. Typen. Optie: 🎨 markeer naamvallen in de zin (kleur).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Wat er gebeurt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Elk woord in een echte Bijbelzin (met anti-spoiler tooltips; het getoetste woord wordt niet verklapt).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MC: drie deelvragen — categorie, eigenschap/naamval, betekenis; afleiders uit dezelfde 'familie'.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Voorzetsels verschijnen in een zin waar de juiste naamval op volgt (met hint over welke casus).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🎮 Leerpad: Leer + MC → MC → Typen; woord 'af' bij streak ≥5.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Bijzonder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Kleurlegenda naamvallen (Nom/Gen/Dat/Acc/Voc). Scores tellen mee voor dagdoel en niveau.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B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📝 Leesteksten</a:t>
            </a:r>
          </a:p>
          <a:p>
            <a:pPr algn="l">
              <a:spcBef>
                <a:spcPts val="100"/>
              </a:spcBef>
              <a:spcAft>
                <a:spcPts val="200"/>
              </a:spcAft>
            </a:pPr>
            <a:r>
              <a:rPr sz="1300" b="0" i="1">
                <a:solidFill>
                  <a:srgbClr val="C8A24B"/>
                </a:solidFill>
                <a:latin typeface="Calibri"/>
              </a:rPr>
              <a:t>Bijbelverzen lezen, oefenen en ontleden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109728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200"/>
              </a:spcBef>
              <a:spcAft>
                <a:spcPts val="200"/>
              </a:spcAft>
            </a:pPr>
            <a:r>
              <a:rPr sz="4000" b="1" i="0">
                <a:solidFill>
                  <a:srgbClr val="355A7E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07008"/>
            <a:ext cx="11064240" cy="539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2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Doel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Griekse verzen lezen, woorden in context oefenen en volledig ontleden (exegese).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Wat je ziet / instelt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1. Oefen lessen (bepaalt welke woorden als 'bekend' kleuren).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Methode: 1. Lees &amp; Spiek · 2. Vertaal (MC) · 3. Vertaal (Typen) · 4. Masterclass (Ontleden).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Markeer-knoppen: 🎨 naamvallen · 🔗 voegwoorden · ⚛️ stamtijden · niveau Masterclass (Grieks 1/2/3).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Tekstkeuze: specifiek vers · Scavenger Hunt (willekeurig) · 🛡️ autonome tekst (100% bekend, 'i+1').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Wat er gebeurt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De zin verschijnt met klik-tooltips (NL-vertaling + ontleding, Engels als anker).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MC goed +1 · Typen goed +3 · Masterclass: volledige ontleding + vertaling, goed +3 (telt als 'verzen' voor je dagdoel).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Onderaan kun je de hele zin vertalen en je vertaling met de officiële glosse vergelijken.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Bijzonder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Al geziene verzen worden onthouden om herhaling te vermijden. Scoort in je gewone woord-streaks.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B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📊 Voortgang</a:t>
            </a:r>
          </a:p>
          <a:p>
            <a:pPr algn="l">
              <a:spcBef>
                <a:spcPts val="100"/>
              </a:spcBef>
              <a:spcAft>
                <a:spcPts val="200"/>
              </a:spcAft>
            </a:pPr>
            <a:r>
              <a:rPr sz="1300" b="0" i="1">
                <a:solidFill>
                  <a:srgbClr val="C8A24B"/>
                </a:solidFill>
                <a:latin typeface="Calibri"/>
              </a:rPr>
              <a:t>Je dashboard / academische cockpit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109728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200"/>
              </a:spcBef>
              <a:spcAft>
                <a:spcPts val="200"/>
              </a:spcAft>
            </a:pPr>
            <a:r>
              <a:rPr sz="4000" b="1" i="0">
                <a:solidFill>
                  <a:srgbClr val="355A7E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07008"/>
            <a:ext cx="11064240" cy="539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2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Doel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Totaaloverzicht van je voortgang, statistieken, badges en de competitie.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Bovenaan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4 metrics: accuratesse, items op Mastery, totaal beoordelingen, 🌍 NT-dekking (% van het NT dat je kunt lezen).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🏅 Badges: aantal behaald + 🎮 niveau/XP; expander met alle badges (behaald bovenaan).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Gedetailleerde voortgang (uitklap)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🪣 Lekkende emmer (dreigt terug te vallen) · 🏛️ per verplicht onderdeel · 📈 fasering per module.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🧭 Morfologische horizon: studieplanner met prognose en afrondingsdatum · ⏳ stamtijden-sluis.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Ritme &amp; competitie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📅 Oefenritme: kalender-heatmap + all-time totaal.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🏆 Competitie: tabs 'Deze week' vs 'All-time (niveau)', podium 🥇🥈🥉, filter op onderdeel, jouw positie.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⚔️ Aartsrivalen (top-5 foutgevoelig) · 🐛 hardnekkige probleemwoorden · 💾 exporteer je data (CSV).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Bijzonder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Vrijwel alles is read-only analyse. Niveau/badges berekend over alle onderdelen samen.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B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📖 Lijst</a:t>
            </a:r>
          </a:p>
          <a:p>
            <a:pPr algn="l">
              <a:spcBef>
                <a:spcPts val="100"/>
              </a:spcBef>
              <a:spcAft>
                <a:spcPts val="200"/>
              </a:spcAft>
            </a:pPr>
            <a:r>
              <a:rPr sz="1300" b="0" i="1">
                <a:solidFill>
                  <a:srgbClr val="C8A24B"/>
                </a:solidFill>
                <a:latin typeface="Calibri"/>
              </a:rPr>
              <a:t>De ruwe database bekijken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109728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200"/>
              </a:spcBef>
              <a:spcAft>
                <a:spcPts val="200"/>
              </a:spcAft>
            </a:pPr>
            <a:r>
              <a:rPr sz="4000" b="1" i="0">
                <a:solidFill>
                  <a:srgbClr val="355A7E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07008"/>
            <a:ext cx="11064240" cy="539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2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Doel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Naslag: bekijk de onderliggende lijsten en je scores per item.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Wat je ziet / instelt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Kies: Vocabulaire · 🧩 Mijn verwarwoorden · Actief Beheersen · Stamtijden · Structuurwoorden.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Vocabulaire: les-filter + tabel (grieks, nederlands, streak, goed/fout, laatst geoefend, woordsoort).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🧩 Mijn verwarwoorden: tabel met woordparen + 'keer verward' (verdwijnt als beide streak ≥16).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Wat er gebeurt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Niets — puur naslag; hier oefen je niet en verandert je score niet.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Bijzonder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Om verwarwoorden te oefenen ga je naar Woordenschat → 🧩 Mijn verwarwoorden.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B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📐 Grammatica</a:t>
            </a:r>
          </a:p>
          <a:p>
            <a:pPr algn="l">
              <a:spcBef>
                <a:spcPts val="100"/>
              </a:spcBef>
              <a:spcAft>
                <a:spcPts val="200"/>
              </a:spcAft>
            </a:pPr>
            <a:r>
              <a:rPr sz="1300" b="0" i="1">
                <a:solidFill>
                  <a:srgbClr val="C8A24B"/>
                </a:solidFill>
                <a:latin typeface="Calibri"/>
              </a:rPr>
              <a:t>Opzoeken, bestuderen en oefenen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109728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200"/>
              </a:spcBef>
              <a:spcAft>
                <a:spcPts val="200"/>
              </a:spcAft>
            </a:pPr>
            <a:r>
              <a:rPr sz="4000" b="1" i="0">
                <a:solidFill>
                  <a:srgbClr val="355A7E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07008"/>
            <a:ext cx="11064240" cy="539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2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Doel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Grammatica-onderwerpen opzoeken, met slides bestuderen en de contractietrainer oefenen.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Wat je ziet / instelt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Kies: 🔎 Zoeken · 📖 Bestuderen · 🔀 Contractietrainer · 📊 Voortgang.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🔎 Zoeken: term intypen (ook Grieks / zonder accenten), resultaten met slide-preview.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📖 Bestuderen: thema-filter + onderwerp + door de slides bladeren.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🔀 Contractietrainer: niveau (herkennen → voorspellen → zelf typen) × oefenstof (σ-samensmelting / contracta / augment).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Wat er gebeurt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Contractietrainer loopt op in moeilijkheid; feedback + sessiescore. Eigen streak per onderwerp (⚪🟠🟡🟢).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Bijzonder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Vereist het grammatica-PDF; anders verschijnt een melding.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B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ℹ️ Uitleg &amp; Hulp</a:t>
            </a:r>
          </a:p>
          <a:p>
            <a:pPr algn="l">
              <a:spcBef>
                <a:spcPts val="100"/>
              </a:spcBef>
              <a:spcAft>
                <a:spcPts val="200"/>
              </a:spcAft>
            </a:pPr>
            <a:r>
              <a:rPr sz="1300" b="0" i="1">
                <a:solidFill>
                  <a:srgbClr val="C8A24B"/>
                </a:solidFill>
                <a:latin typeface="Calibri"/>
              </a:rPr>
              <a:t>Handleiding + de belangrijke schakelaar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109728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200"/>
              </a:spcBef>
              <a:spcAft>
                <a:spcPts val="200"/>
              </a:spcAft>
            </a:pPr>
            <a:r>
              <a:rPr sz="4000" b="1" i="0">
                <a:solidFill>
                  <a:srgbClr val="355A7E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07008"/>
            <a:ext cx="11064240" cy="539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2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Doel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De 'bijsluiter' van de app én de plek waar je eenvoudig/geavanceerd omzet.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Wat je ziet / instelt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🧭 Weergave-modus: toggle 'Geavanceerde opties tonen' (stuurt alle tabbladen; wordt onthouden).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📱 De app installeren als PWA (iPhone/Android).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Uitleg over spaced repetition, het soepele nakijken, het strafbankje en de klankklassen.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Wat er gebeurt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Niets om te oefenen — puur uitleg; de toggle is het enige interactieve element.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Bijzonder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Hier zet je meer opties aan als je app 'kaal' aanvoelt. Bevat ook het contact-mailadres.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B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✍️ NL → Grieks (productie)</a:t>
            </a:r>
          </a:p>
          <a:p>
            <a:pPr algn="l">
              <a:spcBef>
                <a:spcPts val="100"/>
              </a:spcBef>
              <a:spcAft>
                <a:spcPts val="200"/>
              </a:spcAft>
            </a:pPr>
            <a:r>
              <a:rPr sz="1300" b="0" i="1">
                <a:solidFill>
                  <a:srgbClr val="C8A24B"/>
                </a:solidFill>
                <a:latin typeface="Calibri"/>
              </a:rPr>
              <a:t>De moeilijkere richting: zelf het Griekse woord maken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109728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200"/>
              </a:spcBef>
              <a:spcAft>
                <a:spcPts val="200"/>
              </a:spcAft>
            </a:pPr>
            <a:r>
              <a:rPr sz="4000" b="1" i="0">
                <a:solidFill>
                  <a:srgbClr val="355A7E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07008"/>
            <a:ext cx="11064240" cy="539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2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Doel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Actieve productie: van de Nederlandse betekenis zélf het Griekse woord reproduceren.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Wat je ziet / instelt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Kies lessen · Invoer: ⌨️ typen (Latijnse toetsen → Grieks) of 🔢 meerkeuze.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⌨️ Spiekbrief voor Griekse letters · Start/nieuwe sessie (max 15 woorden) · sessiescore.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Wat er gebeurt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Betekenis wordt getoond, jij typt/kiest het Griekse woord (accent-ongevoelig nagekeken).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Goed +1 streak · fout −1 (mildere straf, geen overtikken).</a:t>
            </a:r>
          </a:p>
          <a:p>
            <a:pPr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B3A5B"/>
                </a:solidFill>
                <a:latin typeface="Calibri"/>
              </a:rPr>
              <a:t>Bijzonder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50" b="0" i="0">
                <a:solidFill>
                  <a:srgbClr val="222A33"/>
                </a:solidFill>
                <a:latin typeface="Calibri"/>
              </a:rPr>
              <a:t>• Voortgang staat APART (beïnvloedt je gewone streaks niet). Geen Leerpad/fasen — een snelle losse oefening.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54864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60152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Aan de slag!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926080"/>
            <a:ext cx="9601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E7ECF2"/>
                </a:solidFill>
                <a:latin typeface="Calibri"/>
              </a:rPr>
              <a:t>• Begin elke dag bij 🎯 Dagelijks doel → 'Zet woord-dagblok klaar' en loop de tabbladen van links naar rechts af.</a:t>
            </a:r>
          </a:p>
          <a:p>
            <a:pPr algn="l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E7ECF2"/>
                </a:solidFill>
                <a:latin typeface="Calibri"/>
              </a:rPr>
              <a:t>• Blijf je niet vastbijten: bij fout krijg je hints en komt het woord vanzelf terug.</a:t>
            </a:r>
          </a:p>
          <a:p>
            <a:pPr algn="l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E7ECF2"/>
                </a:solidFill>
                <a:latin typeface="Calibri"/>
              </a:rPr>
              <a:t>• Voelt de app kaal? Zet 'Geavanceerde opties' aan in ℹ️ Uitleg &amp; Hulp.</a:t>
            </a:r>
          </a:p>
          <a:p>
            <a:pPr algn="l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E7ECF2"/>
                </a:solidFill>
                <a:latin typeface="Calibri"/>
              </a:rPr>
              <a:t>• Bekijk je groei en positie in 📊 Voortgang — en daag je klasgenoten uit in het competitie-dashboard.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