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  <a:latin typeface="Palatino Linotype"/>
              </a:rPr>
              <a:t>Stamtijden lezen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71800"/>
            <a:ext cx="1033272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2600" b="0" i="0">
                <a:solidFill>
                  <a:srgbClr val="8FC8E6"/>
                </a:solidFill>
                <a:latin typeface="Palatino Linotype"/>
              </a:rPr>
              <a:t>in plaats van stampen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4960" y="3794760"/>
            <a:ext cx="1371600" cy="36576"/>
          </a:xfrm>
          <a:prstGeom prst="rect">
            <a:avLst/>
          </a:prstGeom>
          <a:solidFill>
            <a:srgbClr val="A759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4114800"/>
            <a:ext cx="9235440" cy="9144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500" b="0" i="0">
                <a:solidFill>
                  <a:srgbClr val="B9C3CE"/>
                </a:solidFill>
                <a:latin typeface="Calibri"/>
              </a:rPr>
              <a:t>Bijna elke Griekse werkwoordsvorm draagt zijn tijd aan de buitenkant.</a:t>
            </a:r>
          </a:p>
          <a:p>
            <a:pPr algn="ctr"/>
            <a:r>
              <a:rPr sz="1500" b="0" i="0">
                <a:solidFill>
                  <a:srgbClr val="B9C3CE"/>
                </a:solidFill>
                <a:latin typeface="Calibri"/>
              </a:rPr>
              <a:t>Twee stroomschema's: één om een vorm te herkennen, één om er zelf een te maken.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0" i="0">
                <a:solidFill>
                  <a:srgbClr val="7C8A99"/>
                </a:solidFill>
                <a:latin typeface="Calibri"/>
              </a:rPr>
              <a:t>Alle cijfers geteld over de 80 werkwoorden in je eigen stamtijdenlijst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7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Palatino Linotype"/>
              </a:rPr>
              <a:t>Elk woord heeft drie zones</a:t>
            </a:r>
          </a:p>
          <a:p>
            <a:r>
              <a:rPr sz="1250">
                <a:solidFill>
                  <a:srgbClr val="C3CAD3"/>
                </a:solidFill>
                <a:latin typeface="Calibri"/>
              </a:rPr>
              <a:t>πιστεύω (geloven) — het ideale modelwerkwoord: alle vijf stamtijden regelmatig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97280"/>
            <a:ext cx="3566160" cy="1965960"/>
          </a:xfrm>
          <a:prstGeom prst="roundRect">
            <a:avLst/>
          </a:prstGeom>
          <a:solidFill>
            <a:srgbClr val="E4F1F8"/>
          </a:solidFill>
          <a:ln w="15875">
            <a:solidFill>
              <a:srgbClr val="1B6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 i="0">
                <a:solidFill>
                  <a:srgbClr val="1B6E9C"/>
                </a:solidFill>
                <a:latin typeface="Calibri"/>
              </a:rPr>
              <a:t>VOORTEKEN</a:t>
            </a:r>
          </a:p>
          <a:p>
            <a:pPr algn="ctr"/>
            <a:r>
              <a:rPr sz="2600" b="0" i="0">
                <a:solidFill>
                  <a:srgbClr val="1B6E9C"/>
                </a:solidFill>
                <a:latin typeface="Palatino Linotype"/>
              </a:rPr>
              <a:t>πε‑ · ἐ‑</a:t>
            </a:r>
          </a:p>
          <a:p>
            <a:pPr algn="ctr"/>
            <a:r>
              <a:rPr sz="500" b="0" i="0">
                <a:solidFill>
                  <a:srgbClr val="171A1F"/>
                </a:solidFill>
                <a:latin typeface="Calibri"/>
              </a:rPr>
              <a:t/>
            </a:r>
          </a:p>
          <a:p>
            <a:pPr algn="ctr"/>
            <a:r>
              <a:rPr sz="1200" b="0" i="0">
                <a:solidFill>
                  <a:srgbClr val="5A6270"/>
                </a:solidFill>
                <a:latin typeface="Calibri"/>
              </a:rPr>
              <a:t>Zegt wánneer.</a:t>
            </a:r>
          </a:p>
          <a:p>
            <a:pPr algn="ctr"/>
            <a:r>
              <a:rPr sz="1200" b="0" i="0">
                <a:solidFill>
                  <a:srgbClr val="5A6270"/>
                </a:solidFill>
                <a:latin typeface="Calibri"/>
              </a:rPr>
              <a:t>Verdubbeling = perfectum</a:t>
            </a:r>
          </a:p>
          <a:p>
            <a:pPr algn="ctr"/>
            <a:r>
              <a:rPr sz="1200" b="0" i="0">
                <a:solidFill>
                  <a:srgbClr val="5A6270"/>
                </a:solidFill>
                <a:latin typeface="Calibri"/>
              </a:rPr>
              <a:t>ἐ‑ = verleden tijd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1097280"/>
            <a:ext cx="3566160" cy="1965960"/>
          </a:xfrm>
          <a:prstGeom prst="roundRect">
            <a:avLst/>
          </a:prstGeom>
          <a:solidFill>
            <a:srgbClr val="EEEFF1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 i="0">
                <a:solidFill>
                  <a:srgbClr val="6B7280"/>
                </a:solidFill>
                <a:latin typeface="Calibri"/>
              </a:rPr>
              <a:t>STAM</a:t>
            </a:r>
          </a:p>
          <a:p>
            <a:pPr algn="ctr"/>
            <a:r>
              <a:rPr sz="2600" b="0" i="0">
                <a:solidFill>
                  <a:srgbClr val="6B7280"/>
                </a:solidFill>
                <a:latin typeface="Palatino Linotype"/>
              </a:rPr>
              <a:t>πιστευ‑</a:t>
            </a:r>
          </a:p>
          <a:p>
            <a:pPr algn="ctr"/>
            <a:r>
              <a:rPr sz="500" b="0" i="0">
                <a:solidFill>
                  <a:srgbClr val="171A1F"/>
                </a:solidFill>
                <a:latin typeface="Calibri"/>
              </a:rPr>
              <a:t/>
            </a:r>
          </a:p>
          <a:p>
            <a:pPr algn="ctr"/>
            <a:r>
              <a:rPr sz="1200" b="0" i="0">
                <a:solidFill>
                  <a:srgbClr val="5A6270"/>
                </a:solidFill>
                <a:latin typeface="Calibri"/>
              </a:rPr>
              <a:t>Zegt wélk werkwoord.</a:t>
            </a:r>
          </a:p>
          <a:p>
            <a:pPr algn="ctr"/>
            <a:r>
              <a:rPr sz="1200" b="0" i="0">
                <a:solidFill>
                  <a:srgbClr val="5A6270"/>
                </a:solidFill>
                <a:latin typeface="Calibri"/>
              </a:rPr>
              <a:t>Blijft meestal</a:t>
            </a:r>
          </a:p>
          <a:p>
            <a:pPr algn="ctr"/>
            <a:r>
              <a:rPr sz="1200" b="0" i="0">
                <a:solidFill>
                  <a:srgbClr val="5A6270"/>
                </a:solidFill>
                <a:latin typeface="Calibri"/>
              </a:rPr>
              <a:t>goed herkenbaar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097280"/>
            <a:ext cx="3657600" cy="1965960"/>
          </a:xfrm>
          <a:prstGeom prst="roundRect">
            <a:avLst/>
          </a:prstGeom>
          <a:solidFill>
            <a:srgbClr val="FAEEDF"/>
          </a:solidFill>
          <a:ln w="15875">
            <a:solidFill>
              <a:srgbClr val="A759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 i="0">
                <a:solidFill>
                  <a:srgbClr val="A75906"/>
                </a:solidFill>
                <a:latin typeface="Calibri"/>
              </a:rPr>
              <a:t>UITGANG</a:t>
            </a:r>
          </a:p>
          <a:p>
            <a:pPr algn="ctr"/>
            <a:r>
              <a:rPr sz="2600" b="0" i="0">
                <a:solidFill>
                  <a:srgbClr val="A75906"/>
                </a:solidFill>
                <a:latin typeface="Palatino Linotype"/>
              </a:rPr>
              <a:t>‑σα · ‑κα · ‑θην · ‑μαι</a:t>
            </a:r>
          </a:p>
          <a:p>
            <a:pPr algn="ctr"/>
            <a:r>
              <a:rPr sz="500" b="0" i="0">
                <a:solidFill>
                  <a:srgbClr val="171A1F"/>
                </a:solidFill>
                <a:latin typeface="Calibri"/>
              </a:rPr>
              <a:t/>
            </a:r>
          </a:p>
          <a:p>
            <a:pPr algn="ctr"/>
            <a:r>
              <a:rPr sz="1200" b="0" i="0">
                <a:solidFill>
                  <a:srgbClr val="5A6270"/>
                </a:solidFill>
                <a:latin typeface="Calibri"/>
              </a:rPr>
              <a:t>Zegt welke tijd.</a:t>
            </a:r>
          </a:p>
          <a:p>
            <a:pPr algn="ctr"/>
            <a:r>
              <a:rPr sz="1200" b="0" i="0">
                <a:solidFill>
                  <a:srgbClr val="5A6270"/>
                </a:solidFill>
                <a:latin typeface="Calibri"/>
              </a:rPr>
              <a:t>Hier zit het</a:t>
            </a:r>
          </a:p>
          <a:p>
            <a:pPr algn="ctr"/>
            <a:r>
              <a:rPr sz="1200" b="0" i="0">
                <a:solidFill>
                  <a:srgbClr val="5A6270"/>
                </a:solidFill>
                <a:latin typeface="Calibri"/>
              </a:rPr>
              <a:t>echte signaal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91840"/>
            <a:ext cx="1115568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400" b="1" i="0">
                <a:solidFill>
                  <a:srgbClr val="171A1F"/>
                </a:solidFill>
                <a:latin typeface="Calibri"/>
              </a:rPr>
              <a:t>Hetzelfde werkwoord, zes keer — let op wat er vóór en achter de stam verandert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3657600"/>
          <a:ext cx="1115568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920240"/>
                <a:gridCol w="1371600"/>
                <a:gridCol w="1188720"/>
                <a:gridCol w="4663440"/>
              </a:tblGrid>
              <a:tr h="292608"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Stamtijd</a:t>
                      </a:r>
                    </a:p>
                  </a:txBody>
                  <a:tcPr>
                    <a:solidFill>
                      <a:srgbClr val="17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Vorm</a:t>
                      </a:r>
                    </a:p>
                  </a:txBody>
                  <a:tcPr>
                    <a:solidFill>
                      <a:srgbClr val="17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Voorteken</a:t>
                      </a:r>
                    </a:p>
                  </a:txBody>
                  <a:tcPr>
                    <a:solidFill>
                      <a:srgbClr val="17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Uitgang</a:t>
                      </a:r>
                    </a:p>
                  </a:txBody>
                  <a:tcPr>
                    <a:solidFill>
                      <a:srgbClr val="17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Waaraan je het ziet</a:t>
                      </a:r>
                    </a:p>
                  </a:txBody>
                  <a:tcPr>
                    <a:solidFill>
                      <a:srgbClr val="171A1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71A1F"/>
                          </a:solidFill>
                          <a:latin typeface="Calibri"/>
                        </a:rPr>
                        <a:t>Praesens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71A1F"/>
                          </a:solidFill>
                          <a:latin typeface="Palatino Linotype"/>
                        </a:rPr>
                        <a:t>πιστεύω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71A1F"/>
                          </a:solidFill>
                          <a:latin typeface="Palatino Linotype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71A1F"/>
                          </a:solidFill>
                          <a:latin typeface="Palatino Linotype"/>
                        </a:rPr>
                        <a:t>‑ω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71A1F"/>
                          </a:solidFill>
                          <a:latin typeface="Calibri"/>
                        </a:rPr>
                        <a:t>geen van beide → tegenwoordige tijd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71A1F"/>
                          </a:solidFill>
                          <a:latin typeface="Calibri"/>
                        </a:rPr>
                        <a:t>Futurum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71A1F"/>
                          </a:solidFill>
                          <a:latin typeface="Palatino Linotype"/>
                        </a:rPr>
                        <a:t>πιστεύσω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71A1F"/>
                          </a:solidFill>
                          <a:latin typeface="Palatino Linotype"/>
                        </a:rPr>
                        <a:t>—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71A1F"/>
                          </a:solidFill>
                          <a:latin typeface="Palatino Linotype"/>
                        </a:rPr>
                        <a:t>‑σω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71A1F"/>
                          </a:solidFill>
                          <a:latin typeface="Calibri"/>
                        </a:rPr>
                        <a:t>σ zónder voorteken → toekomst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71A1F"/>
                          </a:solidFill>
                          <a:latin typeface="Calibri"/>
                        </a:rPr>
                        <a:t>Aoristus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71A1F"/>
                          </a:solidFill>
                          <a:latin typeface="Palatino Linotype"/>
                        </a:rPr>
                        <a:t>ἐπίστευσα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71A1F"/>
                          </a:solidFill>
                          <a:latin typeface="Palatino Linotype"/>
                        </a:rPr>
                        <a:t>ἐ‑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71A1F"/>
                          </a:solidFill>
                          <a:latin typeface="Palatino Linotype"/>
                        </a:rPr>
                        <a:t>‑σα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71A1F"/>
                          </a:solidFill>
                          <a:latin typeface="Calibri"/>
                        </a:rPr>
                        <a:t>σ mét voorteken → verleden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71A1F"/>
                          </a:solidFill>
                          <a:latin typeface="Calibri"/>
                        </a:rPr>
                        <a:t>Aoristus passief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71A1F"/>
                          </a:solidFill>
                          <a:latin typeface="Palatino Linotype"/>
                        </a:rPr>
                        <a:t>ἐπιστεύθην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71A1F"/>
                          </a:solidFill>
                          <a:latin typeface="Palatino Linotype"/>
                        </a:rPr>
                        <a:t>ἐ‑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71A1F"/>
                          </a:solidFill>
                          <a:latin typeface="Palatino Linotype"/>
                        </a:rPr>
                        <a:t>‑θην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71A1F"/>
                          </a:solidFill>
                          <a:latin typeface="Calibri"/>
                        </a:rPr>
                        <a:t>θη → passief verleden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71A1F"/>
                          </a:solidFill>
                          <a:latin typeface="Calibri"/>
                        </a:rPr>
                        <a:t>Perfectum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71A1F"/>
                          </a:solidFill>
                          <a:latin typeface="Palatino Linotype"/>
                        </a:rPr>
                        <a:t>πεπίστευκα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71A1F"/>
                          </a:solidFill>
                          <a:latin typeface="Palatino Linotype"/>
                        </a:rPr>
                        <a:t>πε‑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71A1F"/>
                          </a:solidFill>
                          <a:latin typeface="Palatino Linotype"/>
                        </a:rPr>
                        <a:t>‑κα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71A1F"/>
                          </a:solidFill>
                          <a:latin typeface="Calibri"/>
                        </a:rPr>
                        <a:t>verdubbeling → perfectum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71A1F"/>
                          </a:solidFill>
                          <a:latin typeface="Calibri"/>
                        </a:rPr>
                        <a:t>Perfectum med./pass.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71A1F"/>
                          </a:solidFill>
                          <a:latin typeface="Palatino Linotype"/>
                        </a:rPr>
                        <a:t>πεπίστευμαι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71A1F"/>
                          </a:solidFill>
                          <a:latin typeface="Palatino Linotype"/>
                        </a:rPr>
                        <a:t>πε‑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71A1F"/>
                          </a:solidFill>
                          <a:latin typeface="Palatino Linotype"/>
                        </a:rPr>
                        <a:t>‑μαι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71A1F"/>
                          </a:solidFill>
                          <a:latin typeface="Calibri"/>
                        </a:rPr>
                        <a:t>verdubbeling + ‑μαι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7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Palatino Linotype"/>
              </a:rPr>
              <a:t>Stroomschema 1 · Welke vorm heb ik voor me?</a:t>
            </a:r>
          </a:p>
          <a:p>
            <a:r>
              <a:rPr sz="1250">
                <a:solidFill>
                  <a:srgbClr val="C3CAD3"/>
                </a:solidFill>
                <a:latin typeface="Calibri"/>
              </a:rPr>
              <a:t>Werk van boven naar beneden. De eerste vraag waarop je 'ja' antwoordt, geeft het antwoord.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60120"/>
            <a:ext cx="4297680" cy="457200"/>
          </a:xfrm>
          <a:prstGeom prst="roundRect">
            <a:avLst/>
          </a:prstGeom>
          <a:solidFill>
            <a:srgbClr val="171A1F"/>
          </a:solidFill>
          <a:ln w="15875">
            <a:solidFill>
              <a:srgbClr val="171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Ik zie een werkwoordsvorm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697480" y="1417320"/>
            <a:ext cx="0" cy="210312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627632"/>
            <a:ext cx="4297680" cy="914400"/>
          </a:xfrm>
          <a:prstGeom prst="roundRect">
            <a:avLst/>
          </a:prstGeom>
          <a:solidFill>
            <a:srgbClr val="E4F1F8"/>
          </a:solidFill>
          <a:ln w="15875">
            <a:solidFill>
              <a:srgbClr val="1B6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1" i="0">
                <a:solidFill>
                  <a:srgbClr val="171A1F"/>
                </a:solidFill>
                <a:latin typeface="Calibri"/>
              </a:rPr>
              <a:t>1 · Begint het met een</a:t>
            </a:r>
          </a:p>
          <a:p>
            <a:pPr algn="l"/>
            <a:r>
              <a:rPr sz="1250" b="1" i="0">
                <a:solidFill>
                  <a:srgbClr val="171A1F"/>
                </a:solidFill>
                <a:latin typeface="Calibri"/>
              </a:rPr>
              <a:t>medeklinker + ε ?</a:t>
            </a:r>
          </a:p>
          <a:p>
            <a:pPr algn="l"/>
            <a:r>
              <a:rPr sz="1100" b="0" i="0">
                <a:solidFill>
                  <a:srgbClr val="5A6270"/>
                </a:solidFill>
                <a:latin typeface="Palatino Linotype"/>
              </a:rPr>
              <a:t>πε‑πίστευκα · γέ‑γονα · λε‑λάληκα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846320" y="2084832"/>
            <a:ext cx="960120" cy="0"/>
          </a:xfrm>
          <a:prstGeom prst="line">
            <a:avLst/>
          </a:prstGeom>
          <a:ln w="22225">
            <a:solidFill>
              <a:srgbClr val="1E8E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983480" y="1737360"/>
            <a:ext cx="73152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1E8E5A"/>
                </a:solidFill>
                <a:latin typeface="Calibri"/>
              </a:rPr>
              <a:t>JA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673352"/>
            <a:ext cx="5806440" cy="822960"/>
          </a:xfrm>
          <a:prstGeom prst="roundRect">
            <a:avLst/>
          </a:prstGeom>
          <a:solidFill>
            <a:srgbClr val="E4F5EC"/>
          </a:solidFill>
          <a:ln w="15875">
            <a:solidFill>
              <a:srgbClr val="1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1E8E5A"/>
                </a:solidFill>
                <a:latin typeface="Calibri"/>
              </a:rPr>
              <a:t>PERFECTUM</a:t>
            </a:r>
          </a:p>
          <a:p>
            <a:pPr algn="ctr"/>
            <a:r>
              <a:rPr sz="1100" b="0" i="0">
                <a:solidFill>
                  <a:srgbClr val="5A6270"/>
                </a:solidFill>
                <a:latin typeface="Calibri"/>
              </a:rPr>
              <a:t>‑κα of ‑α → actief    ·    ‑μαι → medium/passief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97480" y="2542032"/>
            <a:ext cx="0" cy="18288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788920" y="2542032"/>
            <a:ext cx="731520" cy="2011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A6270"/>
                </a:solidFill>
                <a:latin typeface="Calibri"/>
              </a:rPr>
              <a:t>nee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24912"/>
            <a:ext cx="4297680" cy="914400"/>
          </a:xfrm>
          <a:prstGeom prst="roundRect">
            <a:avLst/>
          </a:prstGeom>
          <a:solidFill>
            <a:srgbClr val="E4F1F8"/>
          </a:solidFill>
          <a:ln w="15875">
            <a:solidFill>
              <a:srgbClr val="1B6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1" i="0">
                <a:solidFill>
                  <a:srgbClr val="171A1F"/>
                </a:solidFill>
                <a:latin typeface="Calibri"/>
              </a:rPr>
              <a:t>2 · Begint het met ἐ‑ of een</a:t>
            </a:r>
          </a:p>
          <a:p>
            <a:pPr algn="l"/>
            <a:r>
              <a:rPr sz="1250" b="1" i="0">
                <a:solidFill>
                  <a:srgbClr val="171A1F"/>
                </a:solidFill>
                <a:latin typeface="Calibri"/>
              </a:rPr>
              <a:t>verlengde klinker (ἀ→ἠ, ὀ→ὠ) ?</a:t>
            </a:r>
          </a:p>
          <a:p>
            <a:pPr algn="l"/>
            <a:r>
              <a:rPr sz="1100" b="0" i="0">
                <a:solidFill>
                  <a:srgbClr val="5A6270"/>
                </a:solidFill>
                <a:latin typeface="Palatino Linotype"/>
              </a:rPr>
              <a:t>ἐ‑πίστευσα · ἤ‑κουσα · ὠ‑φείλετε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46320" y="3182112"/>
            <a:ext cx="960120" cy="0"/>
          </a:xfrm>
          <a:prstGeom prst="line">
            <a:avLst/>
          </a:prstGeom>
          <a:ln w="22225">
            <a:solidFill>
              <a:srgbClr val="1E8E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983480" y="2834640"/>
            <a:ext cx="73152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1E8E5A"/>
                </a:solidFill>
                <a:latin typeface="Calibri"/>
              </a:rPr>
              <a:t>JA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2770632"/>
            <a:ext cx="5806440" cy="822960"/>
          </a:xfrm>
          <a:prstGeom prst="roundRect">
            <a:avLst/>
          </a:prstGeom>
          <a:solidFill>
            <a:srgbClr val="E4F5EC"/>
          </a:solidFill>
          <a:ln w="15875">
            <a:solidFill>
              <a:srgbClr val="1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1E8E5A"/>
                </a:solidFill>
                <a:latin typeface="Calibri"/>
              </a:rPr>
              <a:t>VERLEDEN TIJD (aantonende wijs)</a:t>
            </a:r>
          </a:p>
          <a:p>
            <a:pPr algn="ctr"/>
            <a:r>
              <a:rPr sz="1100" b="0" i="0">
                <a:solidFill>
                  <a:srgbClr val="5A6270"/>
                </a:solidFill>
                <a:latin typeface="Calibri"/>
              </a:rPr>
              <a:t>‑θην → aor. passief   ·   ‑σα → aoristus   ·   kaal ‑ον → aoristus II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97480" y="3639312"/>
            <a:ext cx="0" cy="182879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788920" y="3639312"/>
            <a:ext cx="731520" cy="2011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A6270"/>
                </a:solidFill>
                <a:latin typeface="Calibri"/>
              </a:rPr>
              <a:t>nee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22191"/>
            <a:ext cx="4297680" cy="914400"/>
          </a:xfrm>
          <a:prstGeom prst="roundRect">
            <a:avLst/>
          </a:prstGeom>
          <a:solidFill>
            <a:srgbClr val="FAEEDF"/>
          </a:solidFill>
          <a:ln w="15875">
            <a:solidFill>
              <a:srgbClr val="A759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1" i="0">
                <a:solidFill>
                  <a:srgbClr val="171A1F"/>
                </a:solidFill>
                <a:latin typeface="Calibri"/>
              </a:rPr>
              <a:t>3 · Geen voorteken, maar wél</a:t>
            </a:r>
          </a:p>
          <a:p>
            <a:pPr algn="l"/>
            <a:r>
              <a:rPr sz="1250" b="1" i="0">
                <a:solidFill>
                  <a:srgbClr val="171A1F"/>
                </a:solidFill>
                <a:latin typeface="Calibri"/>
              </a:rPr>
              <a:t>σ, ξ of ψ vóór de uitgang ?</a:t>
            </a:r>
          </a:p>
          <a:p>
            <a:pPr algn="l"/>
            <a:r>
              <a:rPr sz="1100" b="0" i="0">
                <a:solidFill>
                  <a:srgbClr val="5A6270"/>
                </a:solidFill>
                <a:latin typeface="Palatino Linotype"/>
              </a:rPr>
              <a:t>πιστεύ‑σω · ἄ‑ξω (κ+σ) · βλέ‑ψω (π+σ)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6320" y="4279392"/>
            <a:ext cx="960120" cy="0"/>
          </a:xfrm>
          <a:prstGeom prst="line">
            <a:avLst/>
          </a:prstGeom>
          <a:ln w="22225">
            <a:solidFill>
              <a:srgbClr val="1E8E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983480" y="3931920"/>
            <a:ext cx="73152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1E8E5A"/>
                </a:solidFill>
                <a:latin typeface="Calibri"/>
              </a:rPr>
              <a:t>JA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0" y="3867911"/>
            <a:ext cx="5806440" cy="822960"/>
          </a:xfrm>
          <a:prstGeom prst="roundRect">
            <a:avLst/>
          </a:prstGeom>
          <a:solidFill>
            <a:srgbClr val="E4F5EC"/>
          </a:solidFill>
          <a:ln w="15875">
            <a:solidFill>
              <a:srgbClr val="1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1E8E5A"/>
                </a:solidFill>
                <a:latin typeface="Calibri"/>
              </a:rPr>
              <a:t>FUTURUM</a:t>
            </a:r>
          </a:p>
          <a:p>
            <a:pPr algn="ctr"/>
            <a:r>
              <a:rPr sz="1100" b="0" i="0">
                <a:solidFill>
                  <a:srgbClr val="5A6270"/>
                </a:solidFill>
                <a:latin typeface="Calibri"/>
              </a:rPr>
              <a:t>ξ en ψ zijn verklede sigma's — de stam botste ermee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697480" y="4736592"/>
            <a:ext cx="0" cy="18288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788920" y="4736592"/>
            <a:ext cx="731520" cy="2011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A6270"/>
                </a:solidFill>
                <a:latin typeface="Calibri"/>
              </a:rPr>
              <a:t>nee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919472"/>
            <a:ext cx="4297680" cy="914400"/>
          </a:xfrm>
          <a:prstGeom prst="roundRect">
            <a:avLst/>
          </a:prstGeom>
          <a:solidFill>
            <a:srgbClr val="FAEEDF"/>
          </a:solidFill>
          <a:ln w="15875">
            <a:solidFill>
              <a:srgbClr val="A759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1" i="0">
                <a:solidFill>
                  <a:srgbClr val="171A1F"/>
                </a:solidFill>
                <a:latin typeface="Calibri"/>
              </a:rPr>
              <a:t>4 · Geen σ, maar een dakje</a:t>
            </a:r>
          </a:p>
          <a:p>
            <a:pPr algn="l"/>
            <a:r>
              <a:rPr sz="1250" b="1" i="0">
                <a:solidFill>
                  <a:srgbClr val="171A1F"/>
                </a:solidFill>
                <a:latin typeface="Calibri"/>
              </a:rPr>
              <a:t>op de uitgang ?</a:t>
            </a:r>
          </a:p>
          <a:p>
            <a:pPr algn="l"/>
            <a:r>
              <a:rPr sz="1100" b="0" i="0">
                <a:solidFill>
                  <a:srgbClr val="5A6270"/>
                </a:solidFill>
                <a:latin typeface="Palatino Linotype"/>
              </a:rPr>
              <a:t>μεν‑ῶ · βαλ‑ῶ · ἀποκριν‑οῦμαι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46320" y="5376672"/>
            <a:ext cx="960120" cy="0"/>
          </a:xfrm>
          <a:prstGeom prst="line">
            <a:avLst/>
          </a:prstGeom>
          <a:ln w="22225">
            <a:solidFill>
              <a:srgbClr val="1E8E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983480" y="5029200"/>
            <a:ext cx="73152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1E8E5A"/>
                </a:solidFill>
                <a:latin typeface="Calibri"/>
              </a:rPr>
              <a:t>JA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52160" y="4965192"/>
            <a:ext cx="5806440" cy="822960"/>
          </a:xfrm>
          <a:prstGeom prst="roundRect">
            <a:avLst/>
          </a:prstGeom>
          <a:solidFill>
            <a:srgbClr val="E4F5EC"/>
          </a:solidFill>
          <a:ln w="15875">
            <a:solidFill>
              <a:srgbClr val="1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1E8E5A"/>
                </a:solidFill>
                <a:latin typeface="Calibri"/>
              </a:rPr>
              <a:t>FUTURUM van een vloeiklankstam</a:t>
            </a:r>
          </a:p>
          <a:p>
            <a:pPr algn="ctr"/>
            <a:r>
              <a:rPr sz="1100" b="0" i="0">
                <a:solidFill>
                  <a:srgbClr val="5A6270"/>
                </a:solidFill>
                <a:latin typeface="Calibri"/>
              </a:rPr>
              <a:t>stam op λ μ ν ρ stoot de σ af; de rest trekt samen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697480" y="5833872"/>
            <a:ext cx="0" cy="201168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48640" y="6035040"/>
            <a:ext cx="4297680" cy="457200"/>
          </a:xfrm>
          <a:prstGeom prst="roundRect">
            <a:avLst/>
          </a:prstGeom>
          <a:solidFill>
            <a:srgbClr val="EEEFF1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171A1F"/>
                </a:solidFill>
                <a:latin typeface="Calibri"/>
              </a:rPr>
              <a:t>Anders: praesens- of imperfectumstam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5897880"/>
            <a:ext cx="5806440" cy="621792"/>
          </a:xfrm>
          <a:prstGeom prst="roundRect">
            <a:avLst/>
          </a:prstGeom>
          <a:solidFill>
            <a:srgbClr val="F9E9ED"/>
          </a:solidFill>
          <a:ln w="15875">
            <a:solidFill>
              <a:srgbClr val="8E2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 i="0">
                <a:solidFill>
                  <a:srgbClr val="8E2C48"/>
                </a:solidFill>
                <a:latin typeface="Calibri"/>
              </a:rPr>
              <a:t>Let op: een voorteken zie je alléén in de aantonende wijs.</a:t>
            </a:r>
          </a:p>
          <a:p>
            <a:pPr algn="ctr"/>
            <a:r>
              <a:rPr sz="1100" b="0" i="0">
                <a:solidFill>
                  <a:srgbClr val="5A6270"/>
                </a:solidFill>
                <a:latin typeface="Calibri"/>
              </a:rPr>
              <a:t>Een aoristus-infinitivus of ‑participium heeft er géén: πιστεῦσαι, πιστεύσας.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7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Palatino Linotype"/>
              </a:rPr>
              <a:t>Stroomschema 2 · Ik wil zélf een vorm maken</a:t>
            </a:r>
          </a:p>
          <a:p>
            <a:r>
              <a:rPr sz="1250">
                <a:solidFill>
                  <a:srgbClr val="C3CAD3"/>
                </a:solidFill>
                <a:latin typeface="Calibri"/>
              </a:rPr>
              <a:t>Neem de stam van het praesens, zet het juiste voorteken ervoor en de juiste uitgang erachter.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60120"/>
            <a:ext cx="2286000" cy="457200"/>
          </a:xfrm>
          <a:prstGeom prst="roundRect">
            <a:avLst/>
          </a:prstGeom>
          <a:solidFill>
            <a:srgbClr val="171A1F"/>
          </a:solidFill>
          <a:ln w="15875">
            <a:solidFill>
              <a:srgbClr val="171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Welke tijd wil ik?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72768"/>
            <a:ext cx="2286000" cy="713232"/>
          </a:xfrm>
          <a:prstGeom prst="roundRect">
            <a:avLst/>
          </a:prstGeom>
          <a:solidFill>
            <a:srgbClr val="F2F4F6"/>
          </a:solidFill>
          <a:ln w="15875">
            <a:solidFill>
              <a:srgbClr val="171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1" i="0">
                <a:solidFill>
                  <a:srgbClr val="171A1F"/>
                </a:solidFill>
                <a:latin typeface="Calibri"/>
              </a:rPr>
              <a:t>Futurum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1572768"/>
            <a:ext cx="1417320" cy="713232"/>
          </a:xfrm>
          <a:prstGeom prst="roundRect">
            <a:avLst/>
          </a:prstGeom>
          <a:solidFill>
            <a:srgbClr val="E4F1F8"/>
          </a:solidFill>
          <a:ln w="15875">
            <a:solidFill>
              <a:srgbClr val="1B6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1B6E9C"/>
                </a:solidFill>
                <a:latin typeface="Calibri"/>
              </a:rPr>
              <a:t>geen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16552" y="1755648"/>
            <a:ext cx="27432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500" b="1" i="0">
                <a:solidFill>
                  <a:srgbClr val="5A6270"/>
                </a:solidFill>
                <a:latin typeface="Calibri"/>
              </a:rPr>
              <a:t>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1572768"/>
            <a:ext cx="1234440" cy="713232"/>
          </a:xfrm>
          <a:prstGeom prst="roundRect">
            <a:avLst/>
          </a:prstGeom>
          <a:solidFill>
            <a:srgbClr val="EEEFF1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6B7280"/>
                </a:solidFill>
                <a:latin typeface="Calibri"/>
              </a:rPr>
              <a:t>stam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71032" y="1755648"/>
            <a:ext cx="27432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500" b="1" i="0">
                <a:solidFill>
                  <a:srgbClr val="5A6270"/>
                </a:solidFill>
                <a:latin typeface="Calibri"/>
              </a:rPr>
              <a:t>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72768"/>
            <a:ext cx="1371600" cy="713232"/>
          </a:xfrm>
          <a:prstGeom prst="roundRect">
            <a:avLst/>
          </a:prstGeom>
          <a:solidFill>
            <a:srgbClr val="FAEEDF"/>
          </a:solidFill>
          <a:ln w="15875">
            <a:solidFill>
              <a:srgbClr val="A759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A75906"/>
                </a:solidFill>
                <a:latin typeface="Palatino Linotype"/>
              </a:rPr>
              <a:t>‑σω / ‑σομαι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755648"/>
            <a:ext cx="32004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500" b="1" i="0">
                <a:solidFill>
                  <a:srgbClr val="5A6270"/>
                </a:solidFill>
                <a:latin typeface="Calibri"/>
              </a:rPr>
              <a:t>=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72768"/>
            <a:ext cx="1828800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71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 i="0">
                <a:solidFill>
                  <a:srgbClr val="171A1F"/>
                </a:solidFill>
                <a:latin typeface="Palatino Linotype"/>
              </a:rPr>
              <a:t>πιστεύ‑σω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12680" y="1719072"/>
            <a:ext cx="192024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A6270"/>
                </a:solidFill>
                <a:latin typeface="Calibri"/>
              </a:rPr>
              <a:t>Stam eindigt op κ γ χ → ‑ξω · op π β φ → ‑ψω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395728"/>
            <a:ext cx="2286000" cy="713232"/>
          </a:xfrm>
          <a:prstGeom prst="roundRect">
            <a:avLst/>
          </a:prstGeom>
          <a:solidFill>
            <a:srgbClr val="F2F4F6"/>
          </a:solidFill>
          <a:ln w="15875">
            <a:solidFill>
              <a:srgbClr val="171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1" i="0">
                <a:solidFill>
                  <a:srgbClr val="171A1F"/>
                </a:solidFill>
                <a:latin typeface="Calibri"/>
              </a:rPr>
              <a:t>Aoristus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71800" y="2395728"/>
            <a:ext cx="1417320" cy="713232"/>
          </a:xfrm>
          <a:prstGeom prst="roundRect">
            <a:avLst/>
          </a:prstGeom>
          <a:solidFill>
            <a:srgbClr val="E4F1F8"/>
          </a:solidFill>
          <a:ln w="15875">
            <a:solidFill>
              <a:srgbClr val="1B6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1B6E9C"/>
                </a:solidFill>
                <a:latin typeface="Calibri"/>
              </a:rPr>
              <a:t>ἐ‑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2578608"/>
            <a:ext cx="27432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500" b="1" i="0">
                <a:solidFill>
                  <a:srgbClr val="5A6270"/>
                </a:solidFill>
                <a:latin typeface="Calibri"/>
              </a:rPr>
              <a:t>+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2395728"/>
            <a:ext cx="1234440" cy="713232"/>
          </a:xfrm>
          <a:prstGeom prst="roundRect">
            <a:avLst/>
          </a:prstGeom>
          <a:solidFill>
            <a:srgbClr val="EEEFF1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6B7280"/>
                </a:solidFill>
                <a:latin typeface="Calibri"/>
              </a:rPr>
              <a:t>stam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71032" y="2578608"/>
            <a:ext cx="27432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500" b="1" i="0">
                <a:solidFill>
                  <a:srgbClr val="5A6270"/>
                </a:solidFill>
                <a:latin typeface="Calibri"/>
              </a:rPr>
              <a:t>+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395728"/>
            <a:ext cx="1371600" cy="713232"/>
          </a:xfrm>
          <a:prstGeom prst="roundRect">
            <a:avLst/>
          </a:prstGeom>
          <a:solidFill>
            <a:srgbClr val="FAEEDF"/>
          </a:solidFill>
          <a:ln w="15875">
            <a:solidFill>
              <a:srgbClr val="A759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A75906"/>
                </a:solidFill>
                <a:latin typeface="Palatino Linotype"/>
              </a:rPr>
              <a:t>‑σα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2578608"/>
            <a:ext cx="32004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500" b="1" i="0">
                <a:solidFill>
                  <a:srgbClr val="5A6270"/>
                </a:solidFill>
                <a:latin typeface="Calibri"/>
              </a:rPr>
              <a:t>=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2395728"/>
            <a:ext cx="1828800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71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 i="0">
                <a:solidFill>
                  <a:srgbClr val="171A1F"/>
                </a:solidFill>
                <a:latin typeface="Palatino Linotype"/>
              </a:rPr>
              <a:t>ἐ‑πίστευ‑σα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12680" y="2542032"/>
            <a:ext cx="192024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A6270"/>
                </a:solidFill>
                <a:latin typeface="Calibri"/>
              </a:rPr>
              <a:t>Begint de stam met een klinker? Verleng hem: ἀ→ἠ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218688"/>
            <a:ext cx="2286000" cy="713232"/>
          </a:xfrm>
          <a:prstGeom prst="roundRect">
            <a:avLst/>
          </a:prstGeom>
          <a:solidFill>
            <a:srgbClr val="F2F4F6"/>
          </a:solidFill>
          <a:ln w="15875">
            <a:solidFill>
              <a:srgbClr val="171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1" i="0">
                <a:solidFill>
                  <a:srgbClr val="171A1F"/>
                </a:solidFill>
                <a:latin typeface="Calibri"/>
              </a:rPr>
              <a:t>Aoristus passief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71800" y="3218688"/>
            <a:ext cx="1417320" cy="713232"/>
          </a:xfrm>
          <a:prstGeom prst="roundRect">
            <a:avLst/>
          </a:prstGeom>
          <a:solidFill>
            <a:srgbClr val="E4F1F8"/>
          </a:solidFill>
          <a:ln w="15875">
            <a:solidFill>
              <a:srgbClr val="1B6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1B6E9C"/>
                </a:solidFill>
                <a:latin typeface="Calibri"/>
              </a:rPr>
              <a:t>ἐ‑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6552" y="3401568"/>
            <a:ext cx="27432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500" b="1" i="0">
                <a:solidFill>
                  <a:srgbClr val="5A6270"/>
                </a:solidFill>
                <a:latin typeface="Calibri"/>
              </a:rPr>
              <a:t>+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60" y="3218688"/>
            <a:ext cx="1234440" cy="713232"/>
          </a:xfrm>
          <a:prstGeom prst="roundRect">
            <a:avLst/>
          </a:prstGeom>
          <a:solidFill>
            <a:srgbClr val="EEEFF1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6B7280"/>
                </a:solidFill>
                <a:latin typeface="Calibri"/>
              </a:rPr>
              <a:t>stam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71032" y="3401568"/>
            <a:ext cx="27432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500" b="1" i="0">
                <a:solidFill>
                  <a:srgbClr val="5A6270"/>
                </a:solidFill>
                <a:latin typeface="Calibri"/>
              </a:rPr>
              <a:t>+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218688"/>
            <a:ext cx="1371600" cy="713232"/>
          </a:xfrm>
          <a:prstGeom prst="roundRect">
            <a:avLst/>
          </a:prstGeom>
          <a:solidFill>
            <a:srgbClr val="FAEEDF"/>
          </a:solidFill>
          <a:ln w="15875">
            <a:solidFill>
              <a:srgbClr val="A759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A75906"/>
                </a:solidFill>
                <a:latin typeface="Palatino Linotype"/>
              </a:rPr>
              <a:t>‑θην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3401568"/>
            <a:ext cx="32004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500" b="1" i="0">
                <a:solidFill>
                  <a:srgbClr val="5A6270"/>
                </a:solidFill>
                <a:latin typeface="Calibri"/>
              </a:rPr>
              <a:t>=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3218688"/>
            <a:ext cx="1828800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71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 i="0">
                <a:solidFill>
                  <a:srgbClr val="171A1F"/>
                </a:solidFill>
                <a:latin typeface="Palatino Linotype"/>
              </a:rPr>
              <a:t>ἐ‑πιστεύ‑θην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3364992"/>
            <a:ext cx="192024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A6270"/>
                </a:solidFill>
                <a:latin typeface="Calibri"/>
              </a:rPr>
              <a:t>De betrouwbaarste regel van allemaal: 90%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041648"/>
            <a:ext cx="2286000" cy="713232"/>
          </a:xfrm>
          <a:prstGeom prst="roundRect">
            <a:avLst/>
          </a:prstGeom>
          <a:solidFill>
            <a:srgbClr val="F2F4F6"/>
          </a:solidFill>
          <a:ln w="15875">
            <a:solidFill>
              <a:srgbClr val="171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1" i="0">
                <a:solidFill>
                  <a:srgbClr val="171A1F"/>
                </a:solidFill>
                <a:latin typeface="Calibri"/>
              </a:rPr>
              <a:t>Perfectum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71800" y="4041648"/>
            <a:ext cx="1417320" cy="713232"/>
          </a:xfrm>
          <a:prstGeom prst="roundRect">
            <a:avLst/>
          </a:prstGeom>
          <a:solidFill>
            <a:srgbClr val="E4F1F8"/>
          </a:solidFill>
          <a:ln w="15875">
            <a:solidFill>
              <a:srgbClr val="1B6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1B6E9C"/>
                </a:solidFill>
                <a:latin typeface="Calibri"/>
              </a:rPr>
              <a:t>verdubbeling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16552" y="4224528"/>
            <a:ext cx="27432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500" b="1" i="0">
                <a:solidFill>
                  <a:srgbClr val="5A6270"/>
                </a:solidFill>
                <a:latin typeface="Calibri"/>
              </a:rPr>
              <a:t>+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09160" y="4041648"/>
            <a:ext cx="1234440" cy="713232"/>
          </a:xfrm>
          <a:prstGeom prst="roundRect">
            <a:avLst/>
          </a:prstGeom>
          <a:solidFill>
            <a:srgbClr val="EEEFF1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6B7280"/>
                </a:solidFill>
                <a:latin typeface="Calibri"/>
              </a:rPr>
              <a:t>stam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71032" y="4224528"/>
            <a:ext cx="27432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500" b="1" i="0">
                <a:solidFill>
                  <a:srgbClr val="5A6270"/>
                </a:solidFill>
                <a:latin typeface="Calibri"/>
              </a:rPr>
              <a:t>+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4041648"/>
            <a:ext cx="1371600" cy="713232"/>
          </a:xfrm>
          <a:prstGeom prst="roundRect">
            <a:avLst/>
          </a:prstGeom>
          <a:solidFill>
            <a:srgbClr val="FAEEDF"/>
          </a:solidFill>
          <a:ln w="15875">
            <a:solidFill>
              <a:srgbClr val="A759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A75906"/>
                </a:solidFill>
                <a:latin typeface="Palatino Linotype"/>
              </a:rPr>
              <a:t>‑κα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4224528"/>
            <a:ext cx="32004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500" b="1" i="0">
                <a:solidFill>
                  <a:srgbClr val="5A6270"/>
                </a:solidFill>
                <a:latin typeface="Calibri"/>
              </a:rPr>
              <a:t>=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4041648"/>
            <a:ext cx="1828800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71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 i="0">
                <a:solidFill>
                  <a:srgbClr val="171A1F"/>
                </a:solidFill>
                <a:latin typeface="Palatino Linotype"/>
              </a:rPr>
              <a:t>πε‑πίστευ‑κα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12680" y="4187952"/>
            <a:ext cx="192024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A6270"/>
                </a:solidFill>
                <a:latin typeface="Calibri"/>
              </a:rPr>
              <a:t>Eerste medeklinker + ε ervoor; φ θ χ verharden tot π τ κ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4864608"/>
            <a:ext cx="2286000" cy="713232"/>
          </a:xfrm>
          <a:prstGeom prst="roundRect">
            <a:avLst/>
          </a:prstGeom>
          <a:solidFill>
            <a:srgbClr val="F2F4F6"/>
          </a:solidFill>
          <a:ln w="15875">
            <a:solidFill>
              <a:srgbClr val="171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1" i="0">
                <a:solidFill>
                  <a:srgbClr val="171A1F"/>
                </a:solidFill>
                <a:latin typeface="Calibri"/>
              </a:rPr>
              <a:t>Perfectum m./p.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971800" y="4864608"/>
            <a:ext cx="1417320" cy="713232"/>
          </a:xfrm>
          <a:prstGeom prst="roundRect">
            <a:avLst/>
          </a:prstGeom>
          <a:solidFill>
            <a:srgbClr val="E4F1F8"/>
          </a:solidFill>
          <a:ln w="15875">
            <a:solidFill>
              <a:srgbClr val="1B6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1B6E9C"/>
                </a:solidFill>
                <a:latin typeface="Calibri"/>
              </a:rPr>
              <a:t>verdubbeling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16552" y="5047488"/>
            <a:ext cx="27432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500" b="1" i="0">
                <a:solidFill>
                  <a:srgbClr val="5A6270"/>
                </a:solidFill>
                <a:latin typeface="Calibri"/>
              </a:rPr>
              <a:t>+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709160" y="4864608"/>
            <a:ext cx="1234440" cy="713232"/>
          </a:xfrm>
          <a:prstGeom prst="roundRect">
            <a:avLst/>
          </a:prstGeom>
          <a:solidFill>
            <a:srgbClr val="EEEFF1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6B7280"/>
                </a:solidFill>
                <a:latin typeface="Calibri"/>
              </a:rPr>
              <a:t>stam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71032" y="5047488"/>
            <a:ext cx="27432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500" b="1" i="0">
                <a:solidFill>
                  <a:srgbClr val="5A6270"/>
                </a:solidFill>
                <a:latin typeface="Calibri"/>
              </a:rPr>
              <a:t>+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63640" y="4864608"/>
            <a:ext cx="1371600" cy="713232"/>
          </a:xfrm>
          <a:prstGeom prst="roundRect">
            <a:avLst/>
          </a:prstGeom>
          <a:solidFill>
            <a:srgbClr val="FAEEDF"/>
          </a:solidFill>
          <a:ln w="15875">
            <a:solidFill>
              <a:srgbClr val="A759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A75906"/>
                </a:solidFill>
                <a:latin typeface="Palatino Linotype"/>
              </a:rPr>
              <a:t>‑μαι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0" y="5047488"/>
            <a:ext cx="32004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500" b="1" i="0">
                <a:solidFill>
                  <a:srgbClr val="5A6270"/>
                </a:solidFill>
                <a:latin typeface="Calibri"/>
              </a:rPr>
              <a:t>=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46720" y="4864608"/>
            <a:ext cx="1828800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71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 i="0">
                <a:solidFill>
                  <a:srgbClr val="171A1F"/>
                </a:solidFill>
                <a:latin typeface="Palatino Linotype"/>
              </a:rPr>
              <a:t>πε‑πίστευ‑μαι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12680" y="5010912"/>
            <a:ext cx="192024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A6270"/>
                </a:solidFill>
                <a:latin typeface="Calibri"/>
              </a:rPr>
              <a:t>Zonder uitzondering ‑μαι — alle 56 vormen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71800" y="1170432"/>
            <a:ext cx="466344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5A6270"/>
                </a:solidFill>
                <a:latin typeface="Calibri"/>
              </a:rPr>
              <a:t>voorteken            stam            uitgang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8640" y="5806440"/>
            <a:ext cx="11155680" cy="658368"/>
          </a:xfrm>
          <a:prstGeom prst="roundRect">
            <a:avLst/>
          </a:prstGeom>
          <a:solidFill>
            <a:srgbClr val="F9E9ED"/>
          </a:solidFill>
          <a:ln w="15875">
            <a:solidFill>
              <a:srgbClr val="8E2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8E2C48"/>
                </a:solidFill>
                <a:latin typeface="Calibri"/>
              </a:rPr>
              <a:t>Klopt jouw vorm niet met wat er in de tekst staat? Dan is het waarschijnlijk een uitzondering.</a:t>
            </a:r>
          </a:p>
          <a:p>
            <a:pPr algn="ctr"/>
            <a:r>
              <a:rPr sz="1150" b="0" i="0">
                <a:solidFill>
                  <a:srgbClr val="5A6270"/>
                </a:solidFill>
                <a:latin typeface="Calibri"/>
              </a:rPr>
              <a:t>Die staan op de volgende dia's: 15 aoristi II, 14 vloeiklank-futura en 3 suppletie-werkwoorden.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7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Palatino Linotype"/>
              </a:rPr>
              <a:t>Hoe vaak klopt de hoofdregel?</a:t>
            </a:r>
          </a:p>
          <a:p>
            <a:r>
              <a:rPr sz="1250">
                <a:solidFill>
                  <a:srgbClr val="C3CAD3"/>
                </a:solidFill>
                <a:latin typeface="Calibri"/>
              </a:rPr>
              <a:t>Geteld over de 80 werkwoorden in je eigen stamtijdenlijst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2212848" cy="2286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6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171A1F"/>
                </a:solidFill>
                <a:latin typeface="Calibri"/>
              </a:rPr>
              <a:t>Perfectum med./pass.</a:t>
            </a:r>
          </a:p>
          <a:p>
            <a:pPr algn="ctr"/>
            <a:r>
              <a:rPr sz="600" b="0" i="0">
                <a:solidFill>
                  <a:srgbClr val="171A1F"/>
                </a:solidFill>
                <a:latin typeface="Calibri"/>
              </a:rPr>
              <a:t/>
            </a:r>
          </a:p>
          <a:p>
            <a:pPr algn="ctr"/>
            <a:r>
              <a:rPr sz="2200" b="1" i="0">
                <a:solidFill>
                  <a:srgbClr val="1B6E9C"/>
                </a:solidFill>
                <a:latin typeface="Palatino Linotype"/>
              </a:rPr>
              <a:t>‑μαι</a:t>
            </a:r>
          </a:p>
          <a:p>
            <a:pPr algn="ctr"/>
            <a:r>
              <a:rPr sz="600" b="0" i="0">
                <a:solidFill>
                  <a:srgbClr val="171A1F"/>
                </a:solidFill>
                <a:latin typeface="Calibri"/>
              </a:rPr>
              <a:t/>
            </a:r>
          </a:p>
          <a:p>
            <a:pPr algn="ctr"/>
            <a:r>
              <a:rPr sz="3000" b="1" i="0">
                <a:solidFill>
                  <a:srgbClr val="1B6E9C"/>
                </a:solidFill>
                <a:latin typeface="Calibri"/>
              </a:rPr>
              <a:t>100%</a:t>
            </a:r>
          </a:p>
          <a:p>
            <a:pPr algn="ctr"/>
            <a:r>
              <a:rPr sz="1100" b="0" i="0">
                <a:solidFill>
                  <a:srgbClr val="5A6270"/>
                </a:solidFill>
                <a:latin typeface="Calibri"/>
              </a:rPr>
              <a:t>56 van de 56</a:t>
            </a:r>
          </a:p>
          <a:p>
            <a:pPr algn="ctr"/>
            <a:r>
              <a:rPr sz="400" b="0" i="0">
                <a:solidFill>
                  <a:srgbClr val="171A1F"/>
                </a:solidFill>
                <a:latin typeface="Calibri"/>
              </a:rPr>
              <a:t/>
            </a:r>
          </a:p>
          <a:p>
            <a:pPr algn="ctr"/>
            <a:r>
              <a:rPr sz="1050" b="0" i="0">
                <a:solidFill>
                  <a:srgbClr val="5A6270"/>
                </a:solidFill>
                <a:latin typeface="Calibri"/>
              </a:rPr>
              <a:t>Zonder uitzondering.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3310128"/>
            <a:ext cx="1993392" cy="82296"/>
          </a:xfrm>
          <a:prstGeom prst="rect">
            <a:avLst/>
          </a:prstGeom>
          <a:solidFill>
            <a:srgbClr val="1B6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16352" y="1143000"/>
            <a:ext cx="2212848" cy="2286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A759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171A1F"/>
                </a:solidFill>
                <a:latin typeface="Calibri"/>
              </a:rPr>
              <a:t>Aoristus passief</a:t>
            </a:r>
          </a:p>
          <a:p>
            <a:pPr algn="ctr"/>
            <a:r>
              <a:rPr sz="600" b="0" i="0">
                <a:solidFill>
                  <a:srgbClr val="171A1F"/>
                </a:solidFill>
                <a:latin typeface="Calibri"/>
              </a:rPr>
              <a:t/>
            </a:r>
          </a:p>
          <a:p>
            <a:pPr algn="ctr"/>
            <a:r>
              <a:rPr sz="2200" b="1" i="0">
                <a:solidFill>
                  <a:srgbClr val="A75906"/>
                </a:solidFill>
                <a:latin typeface="Palatino Linotype"/>
              </a:rPr>
              <a:t>‑θην</a:t>
            </a:r>
          </a:p>
          <a:p>
            <a:pPr algn="ctr"/>
            <a:r>
              <a:rPr sz="600" b="0" i="0">
                <a:solidFill>
                  <a:srgbClr val="171A1F"/>
                </a:solidFill>
                <a:latin typeface="Calibri"/>
              </a:rPr>
              <a:t/>
            </a:r>
          </a:p>
          <a:p>
            <a:pPr algn="ctr"/>
            <a:r>
              <a:rPr sz="3000" b="1" i="0">
                <a:solidFill>
                  <a:srgbClr val="A75906"/>
                </a:solidFill>
                <a:latin typeface="Calibri"/>
              </a:rPr>
              <a:t>90%</a:t>
            </a:r>
          </a:p>
          <a:p>
            <a:pPr algn="ctr"/>
            <a:r>
              <a:rPr sz="1100" b="0" i="0">
                <a:solidFill>
                  <a:srgbClr val="5A6270"/>
                </a:solidFill>
                <a:latin typeface="Calibri"/>
              </a:rPr>
              <a:t>52 van de 58</a:t>
            </a:r>
          </a:p>
          <a:p>
            <a:pPr algn="ctr"/>
            <a:r>
              <a:rPr sz="400" b="0" i="0">
                <a:solidFill>
                  <a:srgbClr val="171A1F"/>
                </a:solidFill>
                <a:latin typeface="Calibri"/>
              </a:rPr>
              <a:t/>
            </a:r>
          </a:p>
          <a:p>
            <a:pPr algn="ctr"/>
            <a:r>
              <a:rPr sz="1050" b="0" i="0">
                <a:solidFill>
                  <a:srgbClr val="5A6270"/>
                </a:solidFill>
                <a:latin typeface="Calibri"/>
              </a:rPr>
              <a:t>De rest: ‑ην zonder θ (6×).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3310128"/>
            <a:ext cx="1794052" cy="82296"/>
          </a:xfrm>
          <a:prstGeom prst="rect">
            <a:avLst/>
          </a:prstGeom>
          <a:solidFill>
            <a:srgbClr val="A759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29783" y="1143000"/>
            <a:ext cx="2212848" cy="2286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A759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171A1F"/>
                </a:solidFill>
                <a:latin typeface="Calibri"/>
              </a:rPr>
              <a:t>Futurum</a:t>
            </a:r>
          </a:p>
          <a:p>
            <a:pPr algn="ctr"/>
            <a:r>
              <a:rPr sz="600" b="0" i="0">
                <a:solidFill>
                  <a:srgbClr val="171A1F"/>
                </a:solidFill>
                <a:latin typeface="Calibri"/>
              </a:rPr>
              <a:t/>
            </a:r>
          </a:p>
          <a:p>
            <a:pPr algn="ctr"/>
            <a:r>
              <a:rPr sz="2200" b="1" i="0">
                <a:solidFill>
                  <a:srgbClr val="A75906"/>
                </a:solidFill>
                <a:latin typeface="Palatino Linotype"/>
              </a:rPr>
              <a:t>σ / ξ / ψ</a:t>
            </a:r>
          </a:p>
          <a:p>
            <a:pPr algn="ctr"/>
            <a:r>
              <a:rPr sz="600" b="0" i="0">
                <a:solidFill>
                  <a:srgbClr val="171A1F"/>
                </a:solidFill>
                <a:latin typeface="Calibri"/>
              </a:rPr>
              <a:t/>
            </a:r>
          </a:p>
          <a:p>
            <a:pPr algn="ctr"/>
            <a:r>
              <a:rPr sz="3000" b="1" i="0">
                <a:solidFill>
                  <a:srgbClr val="A75906"/>
                </a:solidFill>
                <a:latin typeface="Calibri"/>
              </a:rPr>
              <a:t>80%</a:t>
            </a:r>
          </a:p>
          <a:p>
            <a:pPr algn="ctr"/>
            <a:r>
              <a:rPr sz="1100" b="0" i="0">
                <a:solidFill>
                  <a:srgbClr val="5A6270"/>
                </a:solidFill>
                <a:latin typeface="Calibri"/>
              </a:rPr>
              <a:t>64 van de 80</a:t>
            </a:r>
          </a:p>
          <a:p>
            <a:pPr algn="ctr"/>
            <a:r>
              <a:rPr sz="400" b="0" i="0">
                <a:solidFill>
                  <a:srgbClr val="171A1F"/>
                </a:solidFill>
                <a:latin typeface="Calibri"/>
              </a:rPr>
              <a:t/>
            </a:r>
          </a:p>
          <a:p>
            <a:pPr algn="ctr"/>
            <a:r>
              <a:rPr sz="1050" b="0" i="0">
                <a:solidFill>
                  <a:srgbClr val="5A6270"/>
                </a:solidFill>
                <a:latin typeface="Calibri"/>
              </a:rPr>
              <a:t>14× vloeiklank, 2× eigen stam.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39512" y="3310128"/>
            <a:ext cx="1594713" cy="82296"/>
          </a:xfrm>
          <a:prstGeom prst="rect">
            <a:avLst/>
          </a:prstGeom>
          <a:solidFill>
            <a:srgbClr val="A759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43215" y="1143000"/>
            <a:ext cx="2212848" cy="2286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6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171A1F"/>
                </a:solidFill>
                <a:latin typeface="Calibri"/>
              </a:rPr>
              <a:t>Perfectum actief</a:t>
            </a:r>
          </a:p>
          <a:p>
            <a:pPr algn="ctr"/>
            <a:r>
              <a:rPr sz="600" b="0" i="0">
                <a:solidFill>
                  <a:srgbClr val="171A1F"/>
                </a:solidFill>
                <a:latin typeface="Calibri"/>
              </a:rPr>
              <a:t/>
            </a:r>
          </a:p>
          <a:p>
            <a:pPr algn="ctr"/>
            <a:r>
              <a:rPr sz="2200" b="1" i="0">
                <a:solidFill>
                  <a:srgbClr val="1B6E9C"/>
                </a:solidFill>
                <a:latin typeface="Palatino Linotype"/>
              </a:rPr>
              <a:t>‑κα</a:t>
            </a:r>
          </a:p>
          <a:p>
            <a:pPr algn="ctr"/>
            <a:r>
              <a:rPr sz="600" b="0" i="0">
                <a:solidFill>
                  <a:srgbClr val="171A1F"/>
                </a:solidFill>
                <a:latin typeface="Calibri"/>
              </a:rPr>
              <a:t/>
            </a:r>
          </a:p>
          <a:p>
            <a:pPr algn="ctr"/>
            <a:r>
              <a:rPr sz="3000" b="1" i="0">
                <a:solidFill>
                  <a:srgbClr val="1B6E9C"/>
                </a:solidFill>
                <a:latin typeface="Calibri"/>
              </a:rPr>
              <a:t>71%</a:t>
            </a:r>
          </a:p>
          <a:p>
            <a:pPr algn="ctr"/>
            <a:r>
              <a:rPr sz="1100" b="0" i="0">
                <a:solidFill>
                  <a:srgbClr val="5A6270"/>
                </a:solidFill>
                <a:latin typeface="Calibri"/>
              </a:rPr>
              <a:t>47 van de 66</a:t>
            </a:r>
          </a:p>
          <a:p>
            <a:pPr algn="ctr"/>
            <a:r>
              <a:rPr sz="400" b="0" i="0">
                <a:solidFill>
                  <a:srgbClr val="171A1F"/>
                </a:solidFill>
                <a:latin typeface="Calibri"/>
              </a:rPr>
              <a:t/>
            </a:r>
          </a:p>
          <a:p>
            <a:pPr algn="ctr"/>
            <a:r>
              <a:rPr sz="1050" b="0" i="0">
                <a:solidFill>
                  <a:srgbClr val="5A6270"/>
                </a:solidFill>
                <a:latin typeface="Calibri"/>
              </a:rPr>
              <a:t>18× tweede perfectum op ‑α.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52943" y="3310128"/>
            <a:ext cx="1415308" cy="82296"/>
          </a:xfrm>
          <a:prstGeom prst="rect">
            <a:avLst/>
          </a:prstGeom>
          <a:solidFill>
            <a:srgbClr val="1B6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756647" y="1143000"/>
            <a:ext cx="2212848" cy="2286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A759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 i="0">
                <a:solidFill>
                  <a:srgbClr val="171A1F"/>
                </a:solidFill>
                <a:latin typeface="Calibri"/>
              </a:rPr>
              <a:t>Aoristus act./med.</a:t>
            </a:r>
          </a:p>
          <a:p>
            <a:pPr algn="ctr"/>
            <a:r>
              <a:rPr sz="600" b="0" i="0">
                <a:solidFill>
                  <a:srgbClr val="171A1F"/>
                </a:solidFill>
                <a:latin typeface="Calibri"/>
              </a:rPr>
              <a:t/>
            </a:r>
          </a:p>
          <a:p>
            <a:pPr algn="ctr"/>
            <a:r>
              <a:rPr sz="2200" b="1" i="0">
                <a:solidFill>
                  <a:srgbClr val="A75906"/>
                </a:solidFill>
                <a:latin typeface="Palatino Linotype"/>
              </a:rPr>
              <a:t>‑σα</a:t>
            </a:r>
          </a:p>
          <a:p>
            <a:pPr algn="ctr"/>
            <a:r>
              <a:rPr sz="600" b="0" i="0">
                <a:solidFill>
                  <a:srgbClr val="171A1F"/>
                </a:solidFill>
                <a:latin typeface="Calibri"/>
              </a:rPr>
              <a:t/>
            </a:r>
          </a:p>
          <a:p>
            <a:pPr algn="ctr"/>
            <a:r>
              <a:rPr sz="3000" b="1" i="0">
                <a:solidFill>
                  <a:srgbClr val="A75906"/>
                </a:solidFill>
                <a:latin typeface="Calibri"/>
              </a:rPr>
              <a:t>55%</a:t>
            </a:r>
          </a:p>
          <a:p>
            <a:pPr algn="ctr"/>
            <a:r>
              <a:rPr sz="1100" b="0" i="0">
                <a:solidFill>
                  <a:srgbClr val="5A6270"/>
                </a:solidFill>
                <a:latin typeface="Calibri"/>
              </a:rPr>
              <a:t>43 van de 78</a:t>
            </a:r>
          </a:p>
          <a:p>
            <a:pPr algn="ctr"/>
            <a:r>
              <a:rPr sz="400" b="0" i="0">
                <a:solidFill>
                  <a:srgbClr val="171A1F"/>
                </a:solidFill>
                <a:latin typeface="Calibri"/>
              </a:rPr>
              <a:t/>
            </a:r>
          </a:p>
          <a:p>
            <a:pPr algn="ctr"/>
            <a:r>
              <a:rPr sz="1050" b="0" i="0">
                <a:solidFill>
                  <a:srgbClr val="5A6270"/>
                </a:solidFill>
                <a:latin typeface="Calibri"/>
              </a:rPr>
              <a:t>15× aor. II, 8× vloeiklank ‑α.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66375" y="3310128"/>
            <a:ext cx="1096365" cy="82296"/>
          </a:xfrm>
          <a:prstGeom prst="rect">
            <a:avLst/>
          </a:prstGeom>
          <a:solidFill>
            <a:srgbClr val="A759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703320"/>
            <a:ext cx="1115568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171A1F"/>
                </a:solidFill>
                <a:latin typeface="Calibri"/>
              </a:rPr>
              <a:t>Wat dat betekent voor je leerstrategie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069080"/>
            <a:ext cx="3657600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1" i="0">
                <a:solidFill>
                  <a:srgbClr val="1E8E5A"/>
                </a:solidFill>
                <a:latin typeface="Calibri"/>
              </a:rPr>
              <a:t>Het perfectum is gratis</a:t>
            </a:r>
          </a:p>
          <a:p>
            <a:pPr algn="l"/>
            <a:r>
              <a:rPr sz="1100" b="0" i="0">
                <a:solidFill>
                  <a:srgbClr val="5A6270"/>
                </a:solidFill>
                <a:latin typeface="Calibri"/>
              </a:rPr>
              <a:t>Zie je verdubbeling? Dan is het een perfectum — en ‑μαι klopt altijd. Deze twee hoef je nauwelijks te leren.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4069080"/>
            <a:ext cx="3657600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E2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1" i="0">
                <a:solidFill>
                  <a:srgbClr val="8E2C48"/>
                </a:solidFill>
                <a:latin typeface="Calibri"/>
              </a:rPr>
              <a:t>De aoristus is het werk</a:t>
            </a:r>
          </a:p>
          <a:p>
            <a:pPr algn="l"/>
            <a:r>
              <a:rPr sz="1100" b="0" i="0">
                <a:solidFill>
                  <a:srgbClr val="5A6270"/>
                </a:solidFill>
                <a:latin typeface="Calibri"/>
              </a:rPr>
              <a:t>Maar iets meer dan de helft volgt de hoofdregel. Hier zitten je 15 aoristi II — daar gaat je leertijd naartoe.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38744" y="4069080"/>
            <a:ext cx="3657600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A759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50" b="1" i="0">
                <a:solidFill>
                  <a:srgbClr val="A75906"/>
                </a:solidFill>
                <a:latin typeface="Calibri"/>
              </a:rPr>
              <a:t>Het futurum is grotendeels rekenwerk</a:t>
            </a:r>
          </a:p>
          <a:p>
            <a:pPr algn="l"/>
            <a:r>
              <a:rPr sz="1100" b="0" i="0">
                <a:solidFill>
                  <a:srgbClr val="5A6270"/>
                </a:solidFill>
                <a:latin typeface="Calibri"/>
              </a:rPr>
              <a:t>80% is gewoon een σ. Snap je hoe κ+σ→ξ en π+σ→ψ werken, dan kun je de meeste zelf afleiden.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230368"/>
            <a:ext cx="11155680" cy="566928"/>
          </a:xfrm>
          <a:prstGeom prst="roundRect">
            <a:avLst/>
          </a:prstGeom>
          <a:solidFill>
            <a:srgbClr val="F2F4F6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71A1F"/>
                </a:solidFill>
                <a:latin typeface="Calibri"/>
              </a:rPr>
              <a:t>Let op de streepjes in je rijtjes: niet elk werkwoord heeft alle vijf de stamtijden. 22 missen de aoristus passief, 24 het perfectum medium/passief — die vormen bestaan simpelweg niet in het 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7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Palatino Linotype"/>
              </a:rPr>
              <a:t>Uitzondering 1 · Aoristus II — de stam verandert</a:t>
            </a:r>
          </a:p>
          <a:p>
            <a:r>
              <a:rPr sz="1250">
                <a:solidFill>
                  <a:srgbClr val="C3CAD3"/>
                </a:solidFill>
                <a:latin typeface="Calibri"/>
              </a:rPr>
              <a:t>15 werkwoorden. Geen ‑σα, maar een kale uitgang op een ándere stam.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97280"/>
            <a:ext cx="3611880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E2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71A1F"/>
                </a:solidFill>
                <a:latin typeface="Palatino Linotype"/>
              </a:rPr>
              <a:t>γίνομαι  →  ἐγενόμην</a:t>
            </a:r>
          </a:p>
          <a:p>
            <a:pPr algn="ctr"/>
            <a:r>
              <a:rPr sz="1050" b="0" i="0">
                <a:solidFill>
                  <a:srgbClr val="5A6270"/>
                </a:solidFill>
                <a:latin typeface="Calibri"/>
              </a:rPr>
              <a:t>worden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097280"/>
            <a:ext cx="3611880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E2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71A1F"/>
                </a:solidFill>
                <a:latin typeface="Palatino Linotype"/>
              </a:rPr>
              <a:t>ἔρχομαι  →  ἦλθον</a:t>
            </a:r>
          </a:p>
          <a:p>
            <a:pPr algn="ctr"/>
            <a:r>
              <a:rPr sz="1050" b="0" i="0">
                <a:solidFill>
                  <a:srgbClr val="5A6270"/>
                </a:solidFill>
                <a:latin typeface="Calibri"/>
              </a:rPr>
              <a:t>gaan, komen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1097280"/>
            <a:ext cx="3611880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E2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71A1F"/>
                </a:solidFill>
                <a:latin typeface="Palatino Linotype"/>
              </a:rPr>
              <a:t>ἐσθίω  →  ἔφαγον</a:t>
            </a:r>
          </a:p>
          <a:p>
            <a:pPr algn="ctr"/>
            <a:r>
              <a:rPr sz="1050" b="0" i="0">
                <a:solidFill>
                  <a:srgbClr val="5A6270"/>
                </a:solidFill>
                <a:latin typeface="Calibri"/>
              </a:rPr>
              <a:t>eten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3611880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E2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71A1F"/>
                </a:solidFill>
                <a:latin typeface="Palatino Linotype"/>
              </a:rPr>
              <a:t>ἔχω  →  ἔσχον</a:t>
            </a:r>
          </a:p>
          <a:p>
            <a:pPr algn="ctr"/>
            <a:r>
              <a:rPr sz="1050" b="0" i="0">
                <a:solidFill>
                  <a:srgbClr val="5A6270"/>
                </a:solidFill>
                <a:latin typeface="Calibri"/>
              </a:rPr>
              <a:t>hebben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920240"/>
            <a:ext cx="3611880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E2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71A1F"/>
                </a:solidFill>
                <a:latin typeface="Palatino Linotype"/>
              </a:rPr>
              <a:t>λαμβάνω  →  ἔλαβον</a:t>
            </a:r>
          </a:p>
          <a:p>
            <a:pPr algn="ctr"/>
            <a:r>
              <a:rPr sz="1050" b="0" i="0">
                <a:solidFill>
                  <a:srgbClr val="5A6270"/>
                </a:solidFill>
                <a:latin typeface="Calibri"/>
              </a:rPr>
              <a:t>nemen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920240"/>
            <a:ext cx="3611880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E2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71A1F"/>
                </a:solidFill>
                <a:latin typeface="Palatino Linotype"/>
              </a:rPr>
              <a:t>λέγω  →  εἶπον</a:t>
            </a:r>
          </a:p>
          <a:p>
            <a:pPr algn="ctr"/>
            <a:r>
              <a:rPr sz="1050" b="0" i="0">
                <a:solidFill>
                  <a:srgbClr val="5A6270"/>
                </a:solidFill>
                <a:latin typeface="Calibri"/>
              </a:rPr>
              <a:t>zeggen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743200"/>
            <a:ext cx="3611880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E2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71A1F"/>
                </a:solidFill>
                <a:latin typeface="Palatino Linotype"/>
              </a:rPr>
              <a:t>ὁράω  →  εἶδον</a:t>
            </a:r>
          </a:p>
          <a:p>
            <a:pPr algn="ctr"/>
            <a:r>
              <a:rPr sz="1050" b="0" i="0">
                <a:solidFill>
                  <a:srgbClr val="5A6270"/>
                </a:solidFill>
                <a:latin typeface="Calibri"/>
              </a:rPr>
              <a:t>zien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743200"/>
            <a:ext cx="3611880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E2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71A1F"/>
                </a:solidFill>
                <a:latin typeface="Palatino Linotype"/>
              </a:rPr>
              <a:t>ἄγω  →  ἤγαγον</a:t>
            </a:r>
          </a:p>
          <a:p>
            <a:pPr algn="ctr"/>
            <a:r>
              <a:rPr sz="1050" b="0" i="0">
                <a:solidFill>
                  <a:srgbClr val="5A6270"/>
                </a:solidFill>
                <a:latin typeface="Calibri"/>
              </a:rPr>
              <a:t>leiden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743200"/>
            <a:ext cx="3611880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E2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71A1F"/>
                </a:solidFill>
                <a:latin typeface="Palatino Linotype"/>
              </a:rPr>
              <a:t>βάλλω  →  ἔβαλον</a:t>
            </a:r>
          </a:p>
          <a:p>
            <a:pPr algn="ctr"/>
            <a:r>
              <a:rPr sz="1050" b="0" i="0">
                <a:solidFill>
                  <a:srgbClr val="5A6270"/>
                </a:solidFill>
                <a:latin typeface="Calibri"/>
              </a:rPr>
              <a:t>werpen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66160"/>
            <a:ext cx="3611880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E2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71A1F"/>
                </a:solidFill>
                <a:latin typeface="Palatino Linotype"/>
              </a:rPr>
              <a:t>εὑρίσκω  →  εὗρον</a:t>
            </a:r>
          </a:p>
          <a:p>
            <a:pPr algn="ctr"/>
            <a:r>
              <a:rPr sz="1050" b="0" i="0">
                <a:solidFill>
                  <a:srgbClr val="5A6270"/>
                </a:solidFill>
                <a:latin typeface="Calibri"/>
              </a:rPr>
              <a:t>vinden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566160"/>
            <a:ext cx="3611880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E2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71A1F"/>
                </a:solidFill>
                <a:latin typeface="Palatino Linotype"/>
              </a:rPr>
              <a:t>πίπτω  →  ἔπεσον</a:t>
            </a:r>
          </a:p>
          <a:p>
            <a:pPr algn="ctr"/>
            <a:r>
              <a:rPr sz="1050" b="0" i="0">
                <a:solidFill>
                  <a:srgbClr val="5A6270"/>
                </a:solidFill>
                <a:latin typeface="Calibri"/>
              </a:rPr>
              <a:t>vallen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3566160"/>
            <a:ext cx="3611880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E2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71A1F"/>
                </a:solidFill>
                <a:latin typeface="Palatino Linotype"/>
              </a:rPr>
              <a:t>ἀποθνῄσκω  →  ἀπέθανον</a:t>
            </a:r>
          </a:p>
          <a:p>
            <a:pPr algn="ctr"/>
            <a:r>
              <a:rPr sz="1050" b="0" i="0">
                <a:solidFill>
                  <a:srgbClr val="5A6270"/>
                </a:solidFill>
                <a:latin typeface="Calibri"/>
              </a:rPr>
              <a:t>sterven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389120"/>
            <a:ext cx="3611880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E2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71A1F"/>
                </a:solidFill>
                <a:latin typeface="Palatino Linotype"/>
              </a:rPr>
              <a:t>πίνω  →  ἔπιον</a:t>
            </a:r>
          </a:p>
          <a:p>
            <a:pPr algn="ctr"/>
            <a:r>
              <a:rPr sz="1050" b="0" i="0">
                <a:solidFill>
                  <a:srgbClr val="5A6270"/>
                </a:solidFill>
                <a:latin typeface="Calibri"/>
              </a:rPr>
              <a:t>drinken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4389120"/>
            <a:ext cx="3611880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E2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71A1F"/>
                </a:solidFill>
                <a:latin typeface="Palatino Linotype"/>
              </a:rPr>
              <a:t>μέλλω  →  ἔμελλον</a:t>
            </a:r>
          </a:p>
          <a:p>
            <a:pPr algn="ctr"/>
            <a:r>
              <a:rPr sz="1050" b="0" i="0">
                <a:solidFill>
                  <a:srgbClr val="5A6270"/>
                </a:solidFill>
                <a:latin typeface="Calibri"/>
              </a:rPr>
              <a:t>op het punt staan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4389120"/>
            <a:ext cx="3611880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E2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71A1F"/>
                </a:solidFill>
                <a:latin typeface="Palatino Linotype"/>
              </a:rPr>
              <a:t>αἱρέω  →  εἱλόμην</a:t>
            </a:r>
          </a:p>
          <a:p>
            <a:pPr algn="ctr"/>
            <a:r>
              <a:rPr sz="1050" b="0" i="0">
                <a:solidFill>
                  <a:srgbClr val="5A6270"/>
                </a:solidFill>
                <a:latin typeface="Calibri"/>
              </a:rPr>
              <a:t>kiezen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394960"/>
            <a:ext cx="11155680" cy="731520"/>
          </a:xfrm>
          <a:prstGeom prst="roundRect">
            <a:avLst/>
          </a:prstGeom>
          <a:solidFill>
            <a:srgbClr val="F9E9ED"/>
          </a:solidFill>
          <a:ln w="15875">
            <a:solidFill>
              <a:srgbClr val="8E2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71A1F"/>
                </a:solidFill>
                <a:latin typeface="Calibri"/>
              </a:rPr>
              <a:t>Waarom juist deze? Het zijn bijna allemaal héél frequente werkwoorden.</a:t>
            </a:r>
          </a:p>
          <a:p>
            <a:pPr algn="ctr"/>
            <a:r>
              <a:rPr sz="1150" b="0" i="0">
                <a:solidFill>
                  <a:srgbClr val="5A6270"/>
                </a:solidFill>
                <a:latin typeface="Calibri"/>
              </a:rPr>
              <a:t>Oude, veelgebruikte woorden bewaren hun oude vormen het langst — precies zoals ‘gaan/ging/gegaan’ in het Nederlands. Deze 15 leren levert dus het meeste op.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7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Palatino Linotype"/>
              </a:rPr>
              <a:t>Uitzondering 2 en 3 · Vloeiklank-futurum en suppletie</a:t>
            </a:r>
          </a:p>
          <a:p>
            <a:r>
              <a:rPr sz="1250">
                <a:solidFill>
                  <a:srgbClr val="C3CAD3"/>
                </a:solidFill>
                <a:latin typeface="Calibri"/>
              </a:rPr>
              <a:t>14 + 3 werkwoorden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557784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A75906"/>
                </a:solidFill>
                <a:latin typeface="Calibri"/>
              </a:rPr>
              <a:t>Vloeiklank-futurum — σ weg, dakje erop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557784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5A6270"/>
                </a:solidFill>
                <a:latin typeface="Calibri"/>
              </a:rPr>
              <a:t>Stam eindigt op λ, μ, ν of ρ. Die verdragen de σ niet: hij valt weg, de klinkers trekken samen tot een circumflex.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2697480" cy="42062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A759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0" i="0">
                <a:solidFill>
                  <a:srgbClr val="171A1F"/>
                </a:solidFill>
                <a:latin typeface="Palatino Linotype"/>
              </a:rPr>
              <a:t>λέγω → ἐρῶ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874519"/>
            <a:ext cx="2697480" cy="42062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A759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0" i="0">
                <a:solidFill>
                  <a:srgbClr val="171A1F"/>
                </a:solidFill>
                <a:latin typeface="Palatino Linotype"/>
              </a:rPr>
              <a:t>βάλλω → βαλῶ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77439"/>
            <a:ext cx="2697480" cy="42062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A759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0" i="0">
                <a:solidFill>
                  <a:srgbClr val="171A1F"/>
                </a:solidFill>
                <a:latin typeface="Palatino Linotype"/>
              </a:rPr>
              <a:t>μένω → μενῶ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2377439"/>
            <a:ext cx="2697480" cy="42062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A759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0" i="0">
                <a:solidFill>
                  <a:srgbClr val="171A1F"/>
                </a:solidFill>
                <a:latin typeface="Palatino Linotype"/>
              </a:rPr>
              <a:t>κρίνω → κρινῶ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880360"/>
            <a:ext cx="2697480" cy="42062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A759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0" i="0">
                <a:solidFill>
                  <a:srgbClr val="171A1F"/>
                </a:solidFill>
                <a:latin typeface="Palatino Linotype"/>
              </a:rPr>
              <a:t>ἀποστέλλω → ἀποστελῶ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880360"/>
            <a:ext cx="2697480" cy="42062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A759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0" i="0">
                <a:solidFill>
                  <a:srgbClr val="171A1F"/>
                </a:solidFill>
                <a:latin typeface="Palatino Linotype"/>
              </a:rPr>
              <a:t>ἀγγέλλω → ἀγγελῶ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383280"/>
            <a:ext cx="2697480" cy="42062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A759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0" i="0">
                <a:solidFill>
                  <a:srgbClr val="171A1F"/>
                </a:solidFill>
                <a:latin typeface="Palatino Linotype"/>
              </a:rPr>
              <a:t>αἴρω → ἀρῶ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3383280"/>
            <a:ext cx="2697480" cy="42062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A759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0" i="0">
                <a:solidFill>
                  <a:srgbClr val="171A1F"/>
                </a:solidFill>
                <a:latin typeface="Palatino Linotype"/>
              </a:rPr>
              <a:t>ἐγείρω → ἐγερῶ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886200"/>
            <a:ext cx="2697480" cy="42062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A759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0" i="0">
                <a:solidFill>
                  <a:srgbClr val="171A1F"/>
                </a:solidFill>
                <a:latin typeface="Palatino Linotype"/>
              </a:rPr>
              <a:t>ἀποκτείνω → ἀποκτενῶ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3886200"/>
            <a:ext cx="2697480" cy="42062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A759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0" i="0">
                <a:solidFill>
                  <a:srgbClr val="171A1F"/>
                </a:solidFill>
                <a:latin typeface="Palatino Linotype"/>
              </a:rPr>
              <a:t>σπείρω → σπερῶ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389120"/>
            <a:ext cx="2697480" cy="42062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A759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0" i="0">
                <a:solidFill>
                  <a:srgbClr val="171A1F"/>
                </a:solidFill>
                <a:latin typeface="Palatino Linotype"/>
              </a:rPr>
              <a:t>πίπτω → πεσοῦμαι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4389120"/>
            <a:ext cx="2697480" cy="42062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A759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0" i="0">
                <a:solidFill>
                  <a:srgbClr val="171A1F"/>
                </a:solidFill>
                <a:latin typeface="Palatino Linotype"/>
              </a:rPr>
              <a:t>ἀποθνῄσκω → ἀποθανοῦμαι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92040"/>
            <a:ext cx="2697480" cy="42062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A759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0" i="0">
                <a:solidFill>
                  <a:srgbClr val="171A1F"/>
                </a:solidFill>
                <a:latin typeface="Palatino Linotype"/>
              </a:rPr>
              <a:t>ἀποκρίνομαι → ἀποκρινοῦμαι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4892040"/>
            <a:ext cx="2697480" cy="42062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A759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0" i="0">
                <a:solidFill>
                  <a:srgbClr val="171A1F"/>
                </a:solidFill>
                <a:latin typeface="Palatino Linotype"/>
              </a:rPr>
              <a:t>λογίζομαι → λογιοῦμαι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005840"/>
            <a:ext cx="521208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8E2C48"/>
                </a:solidFill>
                <a:latin typeface="Calibri"/>
              </a:rPr>
              <a:t>Suppletie — compleet andere stammen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1325880"/>
            <a:ext cx="521208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5A6270"/>
                </a:solidFill>
                <a:latin typeface="Calibri"/>
              </a:rPr>
              <a:t>Zoals ‘gaan / ging / gegaan’. Hier helpt geen enkele regel; deze leer je als losse woorden.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1874519"/>
            <a:ext cx="521208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E2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171A1F"/>
                </a:solidFill>
                <a:latin typeface="Palatino Linotype"/>
              </a:rPr>
              <a:t>ἔρχομαι   (gaan, komen)</a:t>
            </a:r>
          </a:p>
          <a:p>
            <a:pPr algn="l"/>
            <a:r>
              <a:rPr sz="1400" b="0" i="0">
                <a:solidFill>
                  <a:srgbClr val="8E2C48"/>
                </a:solidFill>
                <a:latin typeface="Palatino Linotype"/>
              </a:rPr>
              <a:t>ἐλεύσομαι · ἦλθον · ἐλήλυθα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2926079"/>
            <a:ext cx="521208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E2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171A1F"/>
                </a:solidFill>
                <a:latin typeface="Palatino Linotype"/>
              </a:rPr>
              <a:t>ἔχω   (hebben)</a:t>
            </a:r>
          </a:p>
          <a:p>
            <a:pPr algn="l"/>
            <a:r>
              <a:rPr sz="1400" b="0" i="0">
                <a:solidFill>
                  <a:srgbClr val="8E2C48"/>
                </a:solidFill>
                <a:latin typeface="Palatino Linotype"/>
              </a:rPr>
              <a:t>ἕξω · ἔσχον · ἔσχηκα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3977639"/>
            <a:ext cx="521208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E2C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 i="0">
                <a:solidFill>
                  <a:srgbClr val="171A1F"/>
                </a:solidFill>
                <a:latin typeface="Palatino Linotype"/>
              </a:rPr>
              <a:t>λαμβάνω   (nemen, ontvangen)</a:t>
            </a:r>
          </a:p>
          <a:p>
            <a:pPr algn="l"/>
            <a:r>
              <a:rPr sz="1400" b="0" i="0">
                <a:solidFill>
                  <a:srgbClr val="8E2C48"/>
                </a:solidFill>
                <a:latin typeface="Palatino Linotype"/>
              </a:rPr>
              <a:t>λήμψομαι · ἔλαβον · εἴληφα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440680"/>
            <a:ext cx="11201400" cy="658368"/>
          </a:xfrm>
          <a:prstGeom prst="roundRect">
            <a:avLst/>
          </a:prstGeom>
          <a:solidFill>
            <a:srgbClr val="E4F5EC"/>
          </a:solidFill>
          <a:ln w="15875">
            <a:solidFill>
              <a:srgbClr val="1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71A1F"/>
                </a:solidFill>
                <a:latin typeface="Calibri"/>
              </a:rPr>
              <a:t>Samen met de 15 aoristi II is dit alles wat je écht uit je hoofd moet kennen: ruim dertig vormen.</a:t>
            </a:r>
          </a:p>
          <a:p>
            <a:pPr algn="ctr"/>
            <a:r>
              <a:rPr sz="1150" b="0" i="0">
                <a:solidFill>
                  <a:srgbClr val="5A6270"/>
                </a:solidFill>
                <a:latin typeface="Calibri"/>
              </a:rPr>
              <a:t>De rest van de 80 werkwoorden volgt de hoofdregels van stroomschema 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7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127729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Palatino Linotype"/>
              </a:rPr>
              <a:t>De zestien die het vaakst voorkomen</a:t>
            </a:r>
          </a:p>
          <a:p>
            <a:r>
              <a:rPr sz="1250">
                <a:solidFill>
                  <a:srgbClr val="C3CAD3"/>
                </a:solidFill>
                <a:latin typeface="Calibri"/>
              </a:rPr>
              <a:t>Ken je deze rijtjes, dan herken je de meeste werkwoordsvormen in het 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05840"/>
          <a:ext cx="11475719" cy="4974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874519"/>
                <a:gridCol w="1783080"/>
                <a:gridCol w="1737360"/>
                <a:gridCol w="1737360"/>
                <a:gridCol w="1828800"/>
                <a:gridCol w="731520"/>
              </a:tblGrid>
              <a:tr h="292608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Praesens</a:t>
                      </a:r>
                    </a:p>
                  </a:txBody>
                  <a:tcPr>
                    <a:solidFill>
                      <a:srgbClr val="17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Futurum</a:t>
                      </a:r>
                    </a:p>
                  </a:txBody>
                  <a:tcPr>
                    <a:solidFill>
                      <a:srgbClr val="17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Aoristus</a:t>
                      </a:r>
                    </a:p>
                  </a:txBody>
                  <a:tcPr>
                    <a:solidFill>
                      <a:srgbClr val="17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Aor. passief</a:t>
                      </a:r>
                    </a:p>
                  </a:txBody>
                  <a:tcPr>
                    <a:solidFill>
                      <a:srgbClr val="17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Perfectum</a:t>
                      </a:r>
                    </a:p>
                  </a:txBody>
                  <a:tcPr>
                    <a:solidFill>
                      <a:srgbClr val="17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Perf. med./pass.</a:t>
                      </a:r>
                    </a:p>
                  </a:txBody>
                  <a:tcPr>
                    <a:solidFill>
                      <a:srgbClr val="17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× in NT</a:t>
                      </a:r>
                    </a:p>
                  </a:txBody>
                  <a:tcPr>
                    <a:solidFill>
                      <a:srgbClr val="171A1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λέγω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ἐρῶ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εἶπον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ἐρρήθην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εἴρηκα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εἴρημαι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Calibri"/>
                        </a:rPr>
                        <a:t>2353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ἔρχομαι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ἐλεύσομαι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ἦλθον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—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ἐλήλυθα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—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Calibri"/>
                        </a:rPr>
                        <a:t>1394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ἔχω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ἕξω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ἔσχον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ἔσχηκα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ἔσχημαι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Calibri"/>
                        </a:rPr>
                        <a:t>841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γίνομαι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γενήσομαι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ἐγενόμην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ἐγενήθην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γέγονα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γεγένημαι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Calibri"/>
                        </a:rPr>
                        <a:t>712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ὁράω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ὄψομαι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εἶδον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ὤφθην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ἑώρακα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ἐώραμαι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Calibri"/>
                        </a:rPr>
                        <a:t>696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ποιέω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ποιήσω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ἐποίησα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ἐποιήθην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πεποίηκα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πεποίημαι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Calibri"/>
                        </a:rPr>
                        <a:t>600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δίδωμι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δώσω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ἔδωκα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ἐδόθην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δέδωκα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δέδομαι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Calibri"/>
                        </a:rPr>
                        <a:t>548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ἀκούω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ἀκούσω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ἤκουσα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ἠκούσθην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ἀκήκοα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ἤκουσμαι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Calibri"/>
                        </a:rPr>
                        <a:t>460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λαμβάνω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λήμψομαι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ἔλαβον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ἐλήμφθην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εἴληφα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εἴλημμαι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Calibri"/>
                        </a:rPr>
                        <a:t>390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καλέω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καλέσω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ἐκάλεσα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ἐκλήθην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κέκληκα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κέκλημαι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Calibri"/>
                        </a:rPr>
                        <a:t>338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λαλέω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λαλήσω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ἐλάλησα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ἐλαλήθην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λελάληκα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λελάλημαι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Calibri"/>
                        </a:rPr>
                        <a:t>314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γινώσκω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γνώσομαι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ἔγνων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ἐγνώσθην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ἔγνωκα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ἔγνωσμαι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Calibri"/>
                        </a:rPr>
                        <a:t>307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βάλλω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βαλῶ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ἔβαλον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ἐβλήθην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βέβληκα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βέβλημαι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Calibri"/>
                        </a:rPr>
                        <a:t>270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ἄγω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ἄξω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ἤγαγον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ἤχθην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ἦχα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ἦγμαι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Calibri"/>
                        </a:rPr>
                        <a:t>261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πιστεύω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πιστεύσω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ἐπίστευσα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ἐπιστεύθην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πεπίστευκα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πεπίστευμαι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Calibri"/>
                        </a:rPr>
                        <a:t>241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ἀποκρίνομαι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ἀποκρινοῦμαι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ἀπεκρινάμην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ἀπεκρίθην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—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Palatino Linotype"/>
                        </a:rPr>
                        <a:t>—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1A1F"/>
                          </a:solidFill>
                          <a:latin typeface="Calibri"/>
                        </a:rPr>
                        <a:t>231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263640"/>
            <a:ext cx="1147572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5A6270"/>
                </a:solidFill>
                <a:latin typeface="Calibri"/>
              </a:rPr>
              <a:t>Dek één kolom af en reconstrueer hem. Fout? Vraag je dan af wélke regel je toepaste — niet alleen wat het juiste antwoord was.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7315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Palatino Linotype"/>
              </a:rPr>
              <a:t>Drie dingen om te onthouden</a:t>
            </a:r>
          </a:p>
        </p:txBody>
      </p:sp>
      <p:sp>
        <p:nvSpPr>
          <p:cNvPr id="4" name="Oval 3"/>
          <p:cNvSpPr/>
          <p:nvPr/>
        </p:nvSpPr>
        <p:spPr>
          <a:xfrm>
            <a:off x="1463040" y="2468880"/>
            <a:ext cx="566928" cy="566928"/>
          </a:xfrm>
          <a:prstGeom prst="ellipse">
            <a:avLst/>
          </a:prstGeom>
          <a:solidFill>
            <a:srgbClr val="A759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450592"/>
            <a:ext cx="859536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Palatino Linotype"/>
              </a:rPr>
              <a:t>Lees van buiten naar binnen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816352"/>
            <a:ext cx="859536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50" b="0" i="0">
                <a:solidFill>
                  <a:srgbClr val="A8B4C0"/>
                </a:solidFill>
                <a:latin typeface="Calibri"/>
              </a:rPr>
              <a:t>Eerst het voorteken, dan de uitgang, pas daarna welk werkwoord het is.</a:t>
            </a:r>
          </a:p>
        </p:txBody>
      </p:sp>
      <p:sp>
        <p:nvSpPr>
          <p:cNvPr id="7" name="Oval 6"/>
          <p:cNvSpPr/>
          <p:nvPr/>
        </p:nvSpPr>
        <p:spPr>
          <a:xfrm>
            <a:off x="1463040" y="3611880"/>
            <a:ext cx="566928" cy="566928"/>
          </a:xfrm>
          <a:prstGeom prst="ellipse">
            <a:avLst/>
          </a:prstGeom>
          <a:solidFill>
            <a:srgbClr val="A759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593592"/>
            <a:ext cx="859536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Palatino Linotype"/>
              </a:rPr>
              <a:t>Futurum of aoristus? Kijk naar het voorteken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959352"/>
            <a:ext cx="859536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50" b="0" i="0">
                <a:solidFill>
                  <a:srgbClr val="A8B4C0"/>
                </a:solidFill>
                <a:latin typeface="Calibri"/>
              </a:rPr>
              <a:t>Allebei hebben een σ. Alleen de aoristus heeft een ἐ‑ ervoor.</a:t>
            </a:r>
          </a:p>
        </p:txBody>
      </p:sp>
      <p:sp>
        <p:nvSpPr>
          <p:cNvPr id="10" name="Oval 9"/>
          <p:cNvSpPr/>
          <p:nvPr/>
        </p:nvSpPr>
        <p:spPr>
          <a:xfrm>
            <a:off x="1463040" y="4754880"/>
            <a:ext cx="566928" cy="566928"/>
          </a:xfrm>
          <a:prstGeom prst="ellipse">
            <a:avLst/>
          </a:prstGeom>
          <a:solidFill>
            <a:srgbClr val="A759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4736592"/>
            <a:ext cx="859536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Palatino Linotype"/>
              </a:rPr>
              <a:t>ξ en ψ zijn verklede sigma's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5102352"/>
            <a:ext cx="859536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50" b="0" i="0">
                <a:solidFill>
                  <a:srgbClr val="A8B4C0"/>
                </a:solidFill>
                <a:latin typeface="Calibri"/>
              </a:rPr>
              <a:t>ἄξω is gewoon ἀγ + σω. Zodra je dat ziet, wordt het futurum voorspelbaar.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