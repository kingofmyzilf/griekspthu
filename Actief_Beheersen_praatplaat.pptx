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965960"/>
            <a:ext cx="10332720" cy="10058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Palatino Linotype"/>
              </a:rPr>
              <a:t>Rijtjes leren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71800"/>
            <a:ext cx="1033272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2400" b="0" i="0">
                <a:solidFill>
                  <a:srgbClr val="8FC8E6"/>
                </a:solidFill>
                <a:latin typeface="Palatino Linotype"/>
              </a:rPr>
              <a:t>zonder twintig rijtjes te stampen</a:t>
            </a:r>
          </a:p>
        </p:txBody>
      </p:sp>
      <p:sp>
        <p:nvSpPr>
          <p:cNvPr id="5" name="Rectangle 4"/>
          <p:cNvSpPr/>
          <p:nvPr/>
        </p:nvSpPr>
        <p:spPr>
          <a:xfrm>
            <a:off x="5394960" y="3794760"/>
            <a:ext cx="1371600" cy="36576"/>
          </a:xfrm>
          <a:prstGeom prst="rect">
            <a:avLst/>
          </a:prstGeom>
          <a:solidFill>
            <a:srgbClr val="A759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4114800"/>
            <a:ext cx="9235440" cy="9144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500" b="0" i="0">
                <a:solidFill>
                  <a:srgbClr val="B9C3CE"/>
                </a:solidFill>
                <a:latin typeface="Calibri"/>
              </a:rPr>
              <a:t>In je 554 oefencellen zitten maar een handvol uitgangen-sets.</a:t>
            </a:r>
          </a:p>
          <a:p>
            <a:pPr algn="ctr"/>
            <a:r>
              <a:rPr sz="1500" b="0" i="0">
                <a:solidFill>
                  <a:srgbClr val="B9C3CE"/>
                </a:solidFill>
                <a:latin typeface="Calibri"/>
              </a:rPr>
              <a:t>Ken je die, dan kun je de meeste rijtjes zelf afleiden.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852160"/>
            <a:ext cx="1033272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50" b="0" i="0">
                <a:solidFill>
                  <a:srgbClr val="7C8A99"/>
                </a:solidFill>
                <a:latin typeface="Calibri"/>
              </a:rPr>
              <a:t>Geteld over alle paradigma's in actief_beheersen.json · Grieks 1, 2 en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71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127729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Palatino Linotype"/>
              </a:rPr>
              <a:t>De grote truc: je leert vier sets, geen twintig rijtjes</a:t>
            </a:r>
          </a:p>
          <a:p>
            <a:r>
              <a:rPr sz="1250">
                <a:solidFill>
                  <a:srgbClr val="C3CAD3"/>
                </a:solidFill>
                <a:latin typeface="Calibri"/>
              </a:rPr>
              <a:t>Alle indicativus-rijtjes van λύω komen uit dezelfde vier sets persoonsuitgangen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51560"/>
            <a:ext cx="2743200" cy="1920240"/>
          </a:xfrm>
          <a:prstGeom prst="roundRect">
            <a:avLst/>
          </a:prstGeom>
          <a:solidFill>
            <a:srgbClr val="E4F1F8"/>
          </a:solidFill>
          <a:ln w="15875">
            <a:solidFill>
              <a:srgbClr val="1B6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>
                <a:solidFill>
                  <a:srgbClr val="1B6E9C"/>
                </a:solidFill>
                <a:latin typeface="Calibri"/>
              </a:rPr>
              <a:t>ACTIEF · nu en straks</a:t>
            </a:r>
          </a:p>
          <a:p>
            <a:pPr algn="ctr"/>
            <a:r>
              <a:rPr sz="1050" b="0" i="0">
                <a:solidFill>
                  <a:srgbClr val="5A6270"/>
                </a:solidFill>
                <a:latin typeface="Calibri"/>
              </a:rPr>
              <a:t>praesens · futurum</a:t>
            </a:r>
          </a:p>
          <a:p>
            <a:pPr algn="ctr"/>
            <a:r>
              <a:rPr sz="600" b="0" i="0">
                <a:solidFill>
                  <a:srgbClr val="171A1F"/>
                </a:solidFill>
                <a:latin typeface="Calibri"/>
              </a:rPr>
              <a:t/>
            </a:r>
          </a:p>
          <a:p>
            <a:pPr algn="ctr"/>
            <a:r>
              <a:rPr sz="1500" b="0" i="0">
                <a:solidFill>
                  <a:srgbClr val="171A1F"/>
                </a:solidFill>
                <a:latin typeface="Palatino Linotype"/>
              </a:rPr>
              <a:t>‑ω  ‑εις  ‑ει</a:t>
            </a:r>
          </a:p>
          <a:p>
            <a:pPr algn="ctr"/>
            <a:r>
              <a:rPr sz="1500" b="0" i="0">
                <a:solidFill>
                  <a:srgbClr val="171A1F"/>
                </a:solidFill>
                <a:latin typeface="Palatino Linotype"/>
              </a:rPr>
              <a:t>‑ομεν  ‑ετε  ‑ουσι(ν)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01568" y="1051560"/>
            <a:ext cx="2743200" cy="1920240"/>
          </a:xfrm>
          <a:prstGeom prst="roundRect">
            <a:avLst/>
          </a:prstGeom>
          <a:solidFill>
            <a:srgbClr val="FAEEDF"/>
          </a:solidFill>
          <a:ln w="15875">
            <a:solidFill>
              <a:srgbClr val="A759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>
                <a:solidFill>
                  <a:srgbClr val="A75906"/>
                </a:solidFill>
                <a:latin typeface="Calibri"/>
              </a:rPr>
              <a:t>ACTIEF · verleden</a:t>
            </a:r>
          </a:p>
          <a:p>
            <a:pPr algn="ctr"/>
            <a:r>
              <a:rPr sz="1050" b="0" i="0">
                <a:solidFill>
                  <a:srgbClr val="5A6270"/>
                </a:solidFill>
                <a:latin typeface="Calibri"/>
              </a:rPr>
              <a:t>imperfectum · aoristus</a:t>
            </a:r>
          </a:p>
          <a:p>
            <a:pPr algn="ctr"/>
            <a:r>
              <a:rPr sz="600" b="0" i="0">
                <a:solidFill>
                  <a:srgbClr val="171A1F"/>
                </a:solidFill>
                <a:latin typeface="Calibri"/>
              </a:rPr>
              <a:t/>
            </a:r>
          </a:p>
          <a:p>
            <a:pPr algn="ctr"/>
            <a:r>
              <a:rPr sz="1500" b="0" i="0">
                <a:solidFill>
                  <a:srgbClr val="171A1F"/>
                </a:solidFill>
                <a:latin typeface="Palatino Linotype"/>
              </a:rPr>
              <a:t>‑ον  ‑ες  ‑ε(ν)</a:t>
            </a:r>
          </a:p>
          <a:p>
            <a:pPr algn="ctr"/>
            <a:r>
              <a:rPr sz="1500" b="0" i="0">
                <a:solidFill>
                  <a:srgbClr val="171A1F"/>
                </a:solidFill>
                <a:latin typeface="Palatino Linotype"/>
              </a:rPr>
              <a:t>‑ομεν  ‑ετε  ‑ον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0216" y="1051560"/>
            <a:ext cx="2743200" cy="1920240"/>
          </a:xfrm>
          <a:prstGeom prst="roundRect">
            <a:avLst/>
          </a:prstGeom>
          <a:solidFill>
            <a:srgbClr val="E4F1F8"/>
          </a:solidFill>
          <a:ln w="15875">
            <a:solidFill>
              <a:srgbClr val="1B6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>
                <a:solidFill>
                  <a:srgbClr val="1B6E9C"/>
                </a:solidFill>
                <a:latin typeface="Calibri"/>
              </a:rPr>
              <a:t>MEDIUM · nu en straks</a:t>
            </a:r>
          </a:p>
          <a:p>
            <a:pPr algn="ctr"/>
            <a:r>
              <a:rPr sz="1050" b="0" i="0">
                <a:solidFill>
                  <a:srgbClr val="5A6270"/>
                </a:solidFill>
                <a:latin typeface="Calibri"/>
              </a:rPr>
              <a:t>praesens · futurum</a:t>
            </a:r>
          </a:p>
          <a:p>
            <a:pPr algn="ctr"/>
            <a:r>
              <a:rPr sz="600" b="0" i="0">
                <a:solidFill>
                  <a:srgbClr val="171A1F"/>
                </a:solidFill>
                <a:latin typeface="Calibri"/>
              </a:rPr>
              <a:t/>
            </a:r>
          </a:p>
          <a:p>
            <a:pPr algn="ctr"/>
            <a:r>
              <a:rPr sz="1500" b="0" i="0">
                <a:solidFill>
                  <a:srgbClr val="171A1F"/>
                </a:solidFill>
                <a:latin typeface="Palatino Linotype"/>
              </a:rPr>
              <a:t>‑ομαι  ‑ῃ  ‑εται</a:t>
            </a:r>
          </a:p>
          <a:p>
            <a:pPr algn="ctr"/>
            <a:r>
              <a:rPr sz="1500" b="0" i="0">
                <a:solidFill>
                  <a:srgbClr val="171A1F"/>
                </a:solidFill>
                <a:latin typeface="Palatino Linotype"/>
              </a:rPr>
              <a:t>‑όμεθα  ‑εσθε  ‑ονται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98864" y="1051560"/>
            <a:ext cx="2743200" cy="1920240"/>
          </a:xfrm>
          <a:prstGeom prst="roundRect">
            <a:avLst/>
          </a:prstGeom>
          <a:solidFill>
            <a:srgbClr val="FAEEDF"/>
          </a:solidFill>
          <a:ln w="15875">
            <a:solidFill>
              <a:srgbClr val="A759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>
                <a:solidFill>
                  <a:srgbClr val="A75906"/>
                </a:solidFill>
                <a:latin typeface="Calibri"/>
              </a:rPr>
              <a:t>MEDIUM · verleden</a:t>
            </a:r>
          </a:p>
          <a:p>
            <a:pPr algn="ctr"/>
            <a:r>
              <a:rPr sz="1050" b="0" i="0">
                <a:solidFill>
                  <a:srgbClr val="5A6270"/>
                </a:solidFill>
                <a:latin typeface="Calibri"/>
              </a:rPr>
              <a:t>imperfectum · aoristus</a:t>
            </a:r>
          </a:p>
          <a:p>
            <a:pPr algn="ctr"/>
            <a:r>
              <a:rPr sz="600" b="0" i="0">
                <a:solidFill>
                  <a:srgbClr val="171A1F"/>
                </a:solidFill>
                <a:latin typeface="Calibri"/>
              </a:rPr>
              <a:t/>
            </a:r>
          </a:p>
          <a:p>
            <a:pPr algn="ctr"/>
            <a:r>
              <a:rPr sz="1500" b="0" i="0">
                <a:solidFill>
                  <a:srgbClr val="171A1F"/>
                </a:solidFill>
                <a:latin typeface="Palatino Linotype"/>
              </a:rPr>
              <a:t>‑όμην  ‑ου  ‑ετο</a:t>
            </a:r>
          </a:p>
          <a:p>
            <a:pPr algn="ctr"/>
            <a:r>
              <a:rPr sz="1500" b="0" i="0">
                <a:solidFill>
                  <a:srgbClr val="171A1F"/>
                </a:solidFill>
                <a:latin typeface="Palatino Linotype"/>
              </a:rPr>
              <a:t>‑όμεθα  ‑εσθε  ‑οντο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108960"/>
            <a:ext cx="11155680" cy="3200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500" b="1" i="0">
                <a:solidFill>
                  <a:srgbClr val="171A1F"/>
                </a:solidFill>
                <a:latin typeface="Calibri"/>
              </a:rPr>
              <a:t>En dan de twee regels die de rest doen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474720"/>
            <a:ext cx="5486400" cy="1143000"/>
          </a:xfrm>
          <a:prstGeom prst="roundRect">
            <a:avLst/>
          </a:prstGeom>
          <a:solidFill>
            <a:srgbClr val="FAEEDF"/>
          </a:solidFill>
          <a:ln w="15875">
            <a:solidFill>
              <a:srgbClr val="A759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50" b="1" i="0">
                <a:solidFill>
                  <a:srgbClr val="A75906"/>
                </a:solidFill>
                <a:latin typeface="Calibri"/>
              </a:rPr>
              <a:t>1 · Zet er een σ voor en je hebt de toekomst</a:t>
            </a:r>
          </a:p>
          <a:p>
            <a:pPr algn="ctr"/>
            <a:r>
              <a:rPr sz="1400" b="0" i="0">
                <a:solidFill>
                  <a:srgbClr val="171A1F"/>
                </a:solidFill>
                <a:latin typeface="Palatino Linotype"/>
              </a:rPr>
              <a:t>λύω → λύσω · λύεις → λύσεις · λύομαι → λύσομαι</a:t>
            </a:r>
          </a:p>
          <a:p>
            <a:pPr algn="ctr"/>
            <a:r>
              <a:rPr sz="1100" b="0" i="0">
                <a:solidFill>
                  <a:srgbClr val="5A6270"/>
                </a:solidFill>
                <a:latin typeface="Calibri"/>
              </a:rPr>
              <a:t>Dezelfde uitgangen, alleen een σ ertussen.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3474720"/>
            <a:ext cx="5486400" cy="1143000"/>
          </a:xfrm>
          <a:prstGeom prst="roundRect">
            <a:avLst/>
          </a:prstGeom>
          <a:solidFill>
            <a:srgbClr val="FAEEDF"/>
          </a:solidFill>
          <a:ln w="15875">
            <a:solidFill>
              <a:srgbClr val="A759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50" b="1" i="0">
                <a:solidFill>
                  <a:srgbClr val="A75906"/>
                </a:solidFill>
                <a:latin typeface="Calibri"/>
              </a:rPr>
              <a:t>2 · Zet er σα in en je hebt de aoristus</a:t>
            </a:r>
          </a:p>
          <a:p>
            <a:pPr algn="ctr"/>
            <a:r>
              <a:rPr sz="1400" b="0" i="0">
                <a:solidFill>
                  <a:srgbClr val="171A1F"/>
                </a:solidFill>
                <a:latin typeface="Palatino Linotype"/>
              </a:rPr>
              <a:t>ἔλυον → ἔλυσα · ἔλυες → ἔλυσας</a:t>
            </a:r>
          </a:p>
          <a:p>
            <a:pPr algn="ctr"/>
            <a:r>
              <a:rPr sz="1100" b="0" i="0">
                <a:solidFill>
                  <a:srgbClr val="5A6270"/>
                </a:solidFill>
                <a:latin typeface="Calibri"/>
              </a:rPr>
              <a:t>Verleden-set + σα, mét het augment ἐ‑ ervoor.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800600"/>
            <a:ext cx="11155680" cy="1371600"/>
          </a:xfrm>
          <a:prstGeom prst="roundRect">
            <a:avLst/>
          </a:prstGeom>
          <a:solidFill>
            <a:srgbClr val="F2F4F6"/>
          </a:solidFill>
          <a:ln w="1587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171A1F"/>
                </a:solidFill>
                <a:latin typeface="Calibri"/>
              </a:rPr>
              <a:t>Wat je daarmee wint</a:t>
            </a:r>
          </a:p>
          <a:p>
            <a:pPr algn="ctr"/>
            <a:r>
              <a:rPr sz="1250" b="0" i="0">
                <a:solidFill>
                  <a:srgbClr val="5A6270"/>
                </a:solidFill>
                <a:latin typeface="Calibri"/>
              </a:rPr>
              <a:t>Van de acht indicativus-rijtjes van λύω (praesens, imperfectum, futurum, aoristus — actief én medium) hoef je er dus eigenlijk maar vier te kennen. De andere vier zijn diezelfde uitgangen met een σ of σα erin.</a:t>
            </a:r>
          </a:p>
          <a:p>
            <a:pPr algn="ctr"/>
            <a:r>
              <a:rPr sz="1200" b="0" i="0">
                <a:solidFill>
                  <a:srgbClr val="8E2C48"/>
                </a:solidFill>
                <a:latin typeface="Calibri"/>
              </a:rPr>
              <a:t>Uitzondering: de aoristus passief heeft een eigen set op ‑θη‑  (ἐλύθην, ἐλύθης, ἐλύθη, ἐλύθημεν, ἐλύθητε, ἐλύθησαν).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71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127729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Palatino Linotype"/>
              </a:rPr>
              <a:t>Stroomschema · Welke uitgangen heb ik nodig?</a:t>
            </a:r>
          </a:p>
          <a:p>
            <a:r>
              <a:rPr sz="1250">
                <a:solidFill>
                  <a:srgbClr val="C3CAD3"/>
                </a:solidFill>
                <a:latin typeface="Calibri"/>
              </a:rPr>
              <a:t>Drie vragen en je weet welke set je moet pakken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0" y="960120"/>
            <a:ext cx="2743200" cy="457200"/>
          </a:xfrm>
          <a:prstGeom prst="roundRect">
            <a:avLst/>
          </a:prstGeom>
          <a:solidFill>
            <a:srgbClr val="171A1F"/>
          </a:solidFill>
          <a:ln w="15875">
            <a:solidFill>
              <a:srgbClr val="171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Ik wil een vorm maken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126480" y="1417320"/>
            <a:ext cx="0" cy="274320"/>
          </a:xfrm>
          <a:prstGeom prst="line">
            <a:avLst/>
          </a:prstGeom>
          <a:ln w="222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840480" y="1691640"/>
            <a:ext cx="4572000" cy="5669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71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50" b="1" i="0">
                <a:solidFill>
                  <a:srgbClr val="171A1F"/>
                </a:solidFill>
                <a:latin typeface="Calibri"/>
              </a:rPr>
              <a:t>1 · Actief of medium/passief?</a:t>
            </a:r>
          </a:p>
        </p:txBody>
      </p:sp>
      <p:cxnSp>
        <p:nvCxnSpPr>
          <p:cNvPr id="7" name="Connector 6"/>
          <p:cNvCxnSpPr/>
          <p:nvPr/>
        </p:nvCxnSpPr>
        <p:spPr>
          <a:xfrm flipH="1">
            <a:off x="2377440" y="1975104"/>
            <a:ext cx="1463040" cy="0"/>
          </a:xfrm>
          <a:prstGeom prst="line">
            <a:avLst/>
          </a:prstGeom>
          <a:ln w="22225">
            <a:solidFill>
              <a:srgbClr val="1B6E9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412480" y="1975104"/>
            <a:ext cx="1463040" cy="0"/>
          </a:xfrm>
          <a:prstGeom prst="line">
            <a:avLst/>
          </a:prstGeom>
          <a:ln w="22225">
            <a:solidFill>
              <a:srgbClr val="5B469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743200" y="1719072"/>
            <a:ext cx="1097280" cy="25603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1" i="0">
                <a:solidFill>
                  <a:srgbClr val="1B6E9C"/>
                </a:solidFill>
                <a:latin typeface="Calibri"/>
              </a:rPr>
              <a:t>actief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1719072"/>
            <a:ext cx="1280160" cy="25603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1" i="0">
                <a:solidFill>
                  <a:srgbClr val="5B469E"/>
                </a:solidFill>
                <a:latin typeface="Calibri"/>
              </a:rPr>
              <a:t>medium/passief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377440"/>
            <a:ext cx="5120640" cy="502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B6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1" i="0">
                <a:solidFill>
                  <a:srgbClr val="1B6E9C"/>
                </a:solidFill>
                <a:latin typeface="Calibri"/>
              </a:rPr>
              <a:t>2 · Nu/straks of verleden?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063240"/>
            <a:ext cx="5120640" cy="731520"/>
          </a:xfrm>
          <a:prstGeom prst="roundRect">
            <a:avLst/>
          </a:prstGeom>
          <a:solidFill>
            <a:srgbClr val="E4F1F8"/>
          </a:solidFill>
          <a:ln w="15875">
            <a:solidFill>
              <a:srgbClr val="1B6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>
                <a:solidFill>
                  <a:srgbClr val="1B6E9C"/>
                </a:solidFill>
                <a:latin typeface="Calibri"/>
              </a:rPr>
              <a:t>nu / straks</a:t>
            </a:r>
          </a:p>
          <a:p>
            <a:pPr algn="ctr"/>
            <a:r>
              <a:rPr sz="1400" b="0" i="0">
                <a:solidFill>
                  <a:srgbClr val="171A1F"/>
                </a:solidFill>
                <a:latin typeface="Palatino Linotype"/>
              </a:rPr>
              <a:t>‑ω ‑εις ‑ει ‑ομεν ‑ετε ‑ουσι(ν)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931920"/>
            <a:ext cx="5120640" cy="731520"/>
          </a:xfrm>
          <a:prstGeom prst="roundRect">
            <a:avLst/>
          </a:prstGeom>
          <a:solidFill>
            <a:srgbClr val="E4F1F8"/>
          </a:solidFill>
          <a:ln w="15875">
            <a:solidFill>
              <a:srgbClr val="1B6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>
                <a:solidFill>
                  <a:srgbClr val="1B6E9C"/>
                </a:solidFill>
                <a:latin typeface="Calibri"/>
              </a:rPr>
              <a:t>verleden</a:t>
            </a:r>
          </a:p>
          <a:p>
            <a:pPr algn="ctr"/>
            <a:r>
              <a:rPr sz="1400" b="0" i="0">
                <a:solidFill>
                  <a:srgbClr val="171A1F"/>
                </a:solidFill>
                <a:latin typeface="Palatino Linotype"/>
              </a:rPr>
              <a:t>‑ον ‑ες ‑ε(ν) ‑ομεν ‑ετε ‑ον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2377440"/>
            <a:ext cx="5120640" cy="502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5B46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1" i="0">
                <a:solidFill>
                  <a:srgbClr val="5B469E"/>
                </a:solidFill>
                <a:latin typeface="Calibri"/>
              </a:rPr>
              <a:t>2 · Nu/straks of verleden?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3063240"/>
            <a:ext cx="5120640" cy="731520"/>
          </a:xfrm>
          <a:prstGeom prst="roundRect">
            <a:avLst/>
          </a:prstGeom>
          <a:solidFill>
            <a:srgbClr val="ECE9F7"/>
          </a:solidFill>
          <a:ln w="15875">
            <a:solidFill>
              <a:srgbClr val="5B46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>
                <a:solidFill>
                  <a:srgbClr val="5B469E"/>
                </a:solidFill>
                <a:latin typeface="Calibri"/>
              </a:rPr>
              <a:t>nu / straks</a:t>
            </a:r>
          </a:p>
          <a:p>
            <a:pPr algn="ctr"/>
            <a:r>
              <a:rPr sz="1400" b="0" i="0">
                <a:solidFill>
                  <a:srgbClr val="171A1F"/>
                </a:solidFill>
                <a:latin typeface="Palatino Linotype"/>
              </a:rPr>
              <a:t>‑ομαι ‑ῃ ‑εται ‑όμεθα ‑εσθε ‑ονται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37960" y="3931920"/>
            <a:ext cx="5120640" cy="731520"/>
          </a:xfrm>
          <a:prstGeom prst="roundRect">
            <a:avLst/>
          </a:prstGeom>
          <a:solidFill>
            <a:srgbClr val="ECE9F7"/>
          </a:solidFill>
          <a:ln w="15875">
            <a:solidFill>
              <a:srgbClr val="5B46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>
                <a:solidFill>
                  <a:srgbClr val="5B469E"/>
                </a:solidFill>
                <a:latin typeface="Calibri"/>
              </a:rPr>
              <a:t>verleden</a:t>
            </a:r>
          </a:p>
          <a:p>
            <a:pPr algn="ctr"/>
            <a:r>
              <a:rPr sz="1400" b="0" i="0">
                <a:solidFill>
                  <a:srgbClr val="171A1F"/>
                </a:solidFill>
                <a:latin typeface="Palatino Linotype"/>
              </a:rPr>
              <a:t>‑όμην ‑ου ‑ετο ‑όμεθα ‑εσθε ‑οντο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892040"/>
            <a:ext cx="11155680" cy="658368"/>
          </a:xfrm>
          <a:prstGeom prst="roundRect">
            <a:avLst/>
          </a:prstGeom>
          <a:solidFill>
            <a:srgbClr val="FAEEDF"/>
          </a:solidFill>
          <a:ln w="15875">
            <a:solidFill>
              <a:srgbClr val="A759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50" b="1" i="0">
                <a:solidFill>
                  <a:srgbClr val="A75906"/>
                </a:solidFill>
                <a:latin typeface="Calibri"/>
              </a:rPr>
              <a:t>3 · Verleden tijd? Zet dan het augment ἐ‑ vooraan — en voor de aoristus ook nog σα erin.</a:t>
            </a:r>
          </a:p>
          <a:p>
            <a:pPr algn="ctr"/>
            <a:r>
              <a:rPr sz="1400" b="0" i="0">
                <a:solidFill>
                  <a:srgbClr val="171A1F"/>
                </a:solidFill>
                <a:latin typeface="Palatino Linotype"/>
              </a:rPr>
              <a:t>ἔ‑λυ‑ον (imperfectum)   ·   ἔ‑λυ‑σα (aoristus)   ·   λύ‑σω (futurum, géén augment)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715000"/>
            <a:ext cx="11155680" cy="621792"/>
          </a:xfrm>
          <a:prstGeom prst="roundRect">
            <a:avLst/>
          </a:prstGeom>
          <a:solidFill>
            <a:srgbClr val="E4F5EC"/>
          </a:solidFill>
          <a:ln w="15875">
            <a:solidFill>
              <a:srgbClr val="1E8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1E8E5A"/>
                </a:solidFill>
                <a:latin typeface="Calibri"/>
              </a:rPr>
              <a:t>Conjunctivus nodig? Neem dezelfde uitgangen en maak de klinker lang: ο→ω en ε→η.</a:t>
            </a:r>
          </a:p>
          <a:p>
            <a:pPr algn="ctr"/>
            <a:r>
              <a:rPr sz="1350" b="0" i="0">
                <a:solidFill>
                  <a:srgbClr val="171A1F"/>
                </a:solidFill>
                <a:latin typeface="Palatino Linotype"/>
              </a:rPr>
              <a:t>λύομεν → λύωμεν  ·  λύετε → λύητε  ·  λύεται → λύηται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71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127729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Palatino Linotype"/>
              </a:rPr>
              <a:t>De conjunctivus is geen nieuw rijtje</a:t>
            </a:r>
          </a:p>
          <a:p>
            <a:r>
              <a:rPr sz="1250">
                <a:solidFill>
                  <a:srgbClr val="C3CAD3"/>
                </a:solidFill>
                <a:latin typeface="Calibri"/>
              </a:rPr>
              <a:t>Het is de indicativus met een lange klinker — dat scheelt je vijf rijtjes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051560"/>
          <a:ext cx="1115568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3200400"/>
                <a:gridCol w="3200400"/>
                <a:gridCol w="3200400"/>
              </a:tblGrid>
              <a:tr h="384048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Persoon</a:t>
                      </a:r>
                    </a:p>
                  </a:txBody>
                  <a:tcPr>
                    <a:solidFill>
                      <a:srgbClr val="171A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Indicativus praesens</a:t>
                      </a:r>
                    </a:p>
                  </a:txBody>
                  <a:tcPr>
                    <a:solidFill>
                      <a:srgbClr val="171A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Conjunctivus praesens</a:t>
                      </a:r>
                    </a:p>
                  </a:txBody>
                  <a:tcPr>
                    <a:solidFill>
                      <a:srgbClr val="171A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Wat er verandert</a:t>
                      </a:r>
                    </a:p>
                  </a:txBody>
                  <a:tcPr>
                    <a:solidFill>
                      <a:srgbClr val="171A1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71A1F"/>
                          </a:solidFill>
                          <a:latin typeface="Calibri"/>
                        </a:rPr>
                        <a:t>1e ev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71A1F"/>
                          </a:solidFill>
                          <a:latin typeface="Palatino Linotype"/>
                        </a:rPr>
                        <a:t>λύω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71A1F"/>
                          </a:solidFill>
                          <a:latin typeface="Palatino Linotype"/>
                        </a:rPr>
                        <a:t>λύω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71A1F"/>
                          </a:solidFill>
                          <a:latin typeface="Calibri"/>
                        </a:rPr>
                        <a:t>gelijk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71A1F"/>
                          </a:solidFill>
                          <a:latin typeface="Calibri"/>
                        </a:rPr>
                        <a:t>2e ev</a:t>
                      </a:r>
                    </a:p>
                  </a:txBody>
                  <a:tcPr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71A1F"/>
                          </a:solidFill>
                          <a:latin typeface="Palatino Linotype"/>
                        </a:rPr>
                        <a:t>λύεις</a:t>
                      </a:r>
                    </a:p>
                  </a:txBody>
                  <a:tcPr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71A1F"/>
                          </a:solidFill>
                          <a:latin typeface="Palatino Linotype"/>
                        </a:rPr>
                        <a:t>λύῃς</a:t>
                      </a:r>
                    </a:p>
                  </a:txBody>
                  <a:tcPr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71A1F"/>
                          </a:solidFill>
                          <a:latin typeface="Calibri"/>
                        </a:rPr>
                        <a:t>ε → ῃ</a:t>
                      </a:r>
                    </a:p>
                  </a:txBody>
                  <a:tcPr>
                    <a:solidFill>
                      <a:srgbClr val="F2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71A1F"/>
                          </a:solidFill>
                          <a:latin typeface="Calibri"/>
                        </a:rPr>
                        <a:t>3e ev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71A1F"/>
                          </a:solidFill>
                          <a:latin typeface="Palatino Linotype"/>
                        </a:rPr>
                        <a:t>λύει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71A1F"/>
                          </a:solidFill>
                          <a:latin typeface="Palatino Linotype"/>
                        </a:rPr>
                        <a:t>λύῃ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71A1F"/>
                          </a:solidFill>
                          <a:latin typeface="Calibri"/>
                        </a:rPr>
                        <a:t>ε → 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71A1F"/>
                          </a:solidFill>
                          <a:latin typeface="Calibri"/>
                        </a:rPr>
                        <a:t>1e mv</a:t>
                      </a:r>
                    </a:p>
                  </a:txBody>
                  <a:tcPr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71A1F"/>
                          </a:solidFill>
                          <a:latin typeface="Palatino Linotype"/>
                        </a:rPr>
                        <a:t>λύομεν</a:t>
                      </a:r>
                    </a:p>
                  </a:txBody>
                  <a:tcPr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71A1F"/>
                          </a:solidFill>
                          <a:latin typeface="Palatino Linotype"/>
                        </a:rPr>
                        <a:t>λύωμεν</a:t>
                      </a:r>
                    </a:p>
                  </a:txBody>
                  <a:tcPr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71A1F"/>
                          </a:solidFill>
                          <a:latin typeface="Calibri"/>
                        </a:rPr>
                        <a:t>ο → ω</a:t>
                      </a:r>
                    </a:p>
                  </a:txBody>
                  <a:tcPr>
                    <a:solidFill>
                      <a:srgbClr val="F2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71A1F"/>
                          </a:solidFill>
                          <a:latin typeface="Calibri"/>
                        </a:rPr>
                        <a:t>2e mv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71A1F"/>
                          </a:solidFill>
                          <a:latin typeface="Palatino Linotype"/>
                        </a:rPr>
                        <a:t>λύετε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71A1F"/>
                          </a:solidFill>
                          <a:latin typeface="Palatino Linotype"/>
                        </a:rPr>
                        <a:t>λύητε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71A1F"/>
                          </a:solidFill>
                          <a:latin typeface="Calibri"/>
                        </a:rPr>
                        <a:t>ε → 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71A1F"/>
                          </a:solidFill>
                          <a:latin typeface="Calibri"/>
                        </a:rPr>
                        <a:t>3e mv</a:t>
                      </a:r>
                    </a:p>
                  </a:txBody>
                  <a:tcPr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71A1F"/>
                          </a:solidFill>
                          <a:latin typeface="Palatino Linotype"/>
                        </a:rPr>
                        <a:t>λύουσι(ν)</a:t>
                      </a:r>
                    </a:p>
                  </a:txBody>
                  <a:tcPr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71A1F"/>
                          </a:solidFill>
                          <a:latin typeface="Palatino Linotype"/>
                        </a:rPr>
                        <a:t>λύωσι(ν)</a:t>
                      </a:r>
                    </a:p>
                  </a:txBody>
                  <a:tcPr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71A1F"/>
                          </a:solidFill>
                          <a:latin typeface="Calibri"/>
                        </a:rPr>
                        <a:t>ου → ω</a:t>
                      </a:r>
                    </a:p>
                  </a:txBody>
                  <a:tcPr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02920" y="4114800"/>
            <a:ext cx="5486400" cy="1051560"/>
          </a:xfrm>
          <a:prstGeom prst="roundRect">
            <a:avLst/>
          </a:prstGeom>
          <a:solidFill>
            <a:srgbClr val="ECE9F7"/>
          </a:solidFill>
          <a:ln w="15875">
            <a:solidFill>
              <a:srgbClr val="5B46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5B469E"/>
                </a:solidFill>
                <a:latin typeface="Calibri"/>
              </a:rPr>
              <a:t>Ook in het medium</a:t>
            </a:r>
          </a:p>
          <a:p>
            <a:pPr algn="ctr"/>
            <a:r>
              <a:rPr sz="1350" b="0" i="0">
                <a:solidFill>
                  <a:srgbClr val="171A1F"/>
                </a:solidFill>
                <a:latin typeface="Palatino Linotype"/>
              </a:rPr>
              <a:t>λύομαι → λύωμαι · λύεται → λύηται · λύεσθε → λύησθε</a:t>
            </a:r>
          </a:p>
          <a:p>
            <a:pPr algn="ctr"/>
            <a:r>
              <a:rPr sz="1100" b="0" i="0">
                <a:solidFill>
                  <a:srgbClr val="5A6270"/>
                </a:solidFill>
                <a:latin typeface="Calibri"/>
              </a:rPr>
              <a:t>Precies dezelfde verlenging.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4114800"/>
            <a:ext cx="5486400" cy="1051560"/>
          </a:xfrm>
          <a:prstGeom prst="roundRect">
            <a:avLst/>
          </a:prstGeom>
          <a:solidFill>
            <a:srgbClr val="FAEEDF"/>
          </a:solidFill>
          <a:ln w="15875">
            <a:solidFill>
              <a:srgbClr val="A759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A75906"/>
                </a:solidFill>
                <a:latin typeface="Calibri"/>
              </a:rPr>
              <a:t>En in de aoristus</a:t>
            </a:r>
          </a:p>
          <a:p>
            <a:pPr algn="ctr"/>
            <a:r>
              <a:rPr sz="1350" b="0" i="0">
                <a:solidFill>
                  <a:srgbClr val="171A1F"/>
                </a:solidFill>
                <a:latin typeface="Palatino Linotype"/>
              </a:rPr>
              <a:t>λύσω · λύσῃς · λύσῃ · λύσωμεν · λύσητε · λύσωσι(ν)</a:t>
            </a:r>
          </a:p>
          <a:p>
            <a:pPr algn="ctr"/>
            <a:r>
              <a:rPr sz="1100" b="0" i="0">
                <a:solidFill>
                  <a:srgbClr val="5A6270"/>
                </a:solidFill>
                <a:latin typeface="Calibri"/>
              </a:rPr>
              <a:t>Aoristus-σ + dezelfde lange klinkers — en géén augment.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349240"/>
            <a:ext cx="11155680" cy="868680"/>
          </a:xfrm>
          <a:prstGeom prst="roundRect">
            <a:avLst/>
          </a:prstGeom>
          <a:solidFill>
            <a:srgbClr val="F2F4F6"/>
          </a:solidFill>
          <a:ln w="1587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50" b="1" i="0">
                <a:solidFill>
                  <a:srgbClr val="171A1F"/>
                </a:solidFill>
                <a:latin typeface="Calibri"/>
              </a:rPr>
              <a:t>Waarom dit werkt</a:t>
            </a:r>
          </a:p>
          <a:p>
            <a:pPr algn="ctr"/>
            <a:r>
              <a:rPr sz="1200" b="0" i="0">
                <a:solidFill>
                  <a:srgbClr val="5A6270"/>
                </a:solidFill>
                <a:latin typeface="Calibri"/>
              </a:rPr>
              <a:t>De conjunctivus drukt onzekerheid uit (‘opdat hij zou…’). Grieks markeert dat niet met een nieuw rijtje, maar door de bindklinker te rekken. Zie je onverwacht een ω of η waar je ο of ε verwachtte — denk aan de conjunctivus.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71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127729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Palatino Linotype"/>
              </a:rPr>
              <a:t>Naamwoorden · vier regels die in élk rijtje gelden</a:t>
            </a:r>
          </a:p>
          <a:p>
            <a:r>
              <a:rPr sz="1250">
                <a:solidFill>
                  <a:srgbClr val="C3CAD3"/>
                </a:solidFill>
                <a:latin typeface="Calibri"/>
              </a:rPr>
              <a:t>Getoetst over alle naamwoord-, lidwoord-, adjectief- en participium-rijtjes in je oefenstof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51560"/>
            <a:ext cx="5486400" cy="1097280"/>
          </a:xfrm>
          <a:prstGeom prst="roundRect">
            <a:avLst/>
          </a:prstGeom>
          <a:solidFill>
            <a:srgbClr val="E4F5EC"/>
          </a:solidFill>
          <a:ln w="15875">
            <a:solidFill>
              <a:srgbClr val="1E8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400" b="1" i="0">
                <a:solidFill>
                  <a:srgbClr val="1E8E5A"/>
                </a:solidFill>
                <a:latin typeface="Calibri"/>
              </a:rPr>
              <a:t>Genitivus meervoud is altijd ‑ων</a:t>
            </a:r>
          </a:p>
          <a:p>
            <a:pPr algn="l"/>
            <a:r>
              <a:rPr sz="1350" b="0" i="0">
                <a:solidFill>
                  <a:srgbClr val="171A1F"/>
                </a:solidFill>
                <a:latin typeface="Palatino Linotype"/>
              </a:rPr>
              <a:t>τῶν λόγων · τῶν ἡμερῶν · τῶν σωμάτων</a:t>
            </a:r>
          </a:p>
          <a:p>
            <a:pPr algn="l"/>
            <a:r>
              <a:rPr sz="1050" b="0" i="0">
                <a:solidFill>
                  <a:srgbClr val="5A6270"/>
                </a:solidFill>
                <a:latin typeface="Calibri"/>
              </a:rPr>
              <a:t>23 van de 23 rijtjes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051560"/>
            <a:ext cx="5486400" cy="1097280"/>
          </a:xfrm>
          <a:prstGeom prst="roundRect">
            <a:avLst/>
          </a:prstGeom>
          <a:solidFill>
            <a:srgbClr val="E4F5EC"/>
          </a:solidFill>
          <a:ln w="15875">
            <a:solidFill>
              <a:srgbClr val="1E8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400" b="1" i="0">
                <a:solidFill>
                  <a:srgbClr val="1E8E5A"/>
                </a:solidFill>
                <a:latin typeface="Calibri"/>
              </a:rPr>
              <a:t>De datief heeft altijd een iota</a:t>
            </a:r>
          </a:p>
          <a:p>
            <a:pPr algn="l"/>
            <a:r>
              <a:rPr sz="1350" b="0" i="0">
                <a:solidFill>
                  <a:srgbClr val="171A1F"/>
                </a:solidFill>
                <a:latin typeface="Palatino Linotype"/>
              </a:rPr>
              <a:t>τῷ λόγῳ · τῇ ἡμέρᾳ · τῷ σώματι</a:t>
            </a:r>
          </a:p>
          <a:p>
            <a:pPr algn="l"/>
            <a:r>
              <a:rPr sz="1050" b="0" i="0">
                <a:solidFill>
                  <a:srgbClr val="5A6270"/>
                </a:solidFill>
                <a:latin typeface="Calibri"/>
              </a:rPr>
              <a:t>24 van de 24 in het enkelvoud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286000"/>
            <a:ext cx="5486400" cy="1097280"/>
          </a:xfrm>
          <a:prstGeom prst="roundRect">
            <a:avLst/>
          </a:prstGeom>
          <a:solidFill>
            <a:srgbClr val="E4F5EC"/>
          </a:solidFill>
          <a:ln w="15875">
            <a:solidFill>
              <a:srgbClr val="1E8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400" b="1" i="0">
                <a:solidFill>
                  <a:srgbClr val="1E8E5A"/>
                </a:solidFill>
                <a:latin typeface="Calibri"/>
              </a:rPr>
              <a:t>Onzijdig: nominativus = accusativus</a:t>
            </a:r>
          </a:p>
          <a:p>
            <a:pPr algn="l"/>
            <a:r>
              <a:rPr sz="1350" b="0" i="0">
                <a:solidFill>
                  <a:srgbClr val="171A1F"/>
                </a:solidFill>
                <a:latin typeface="Palatino Linotype"/>
              </a:rPr>
              <a:t>τὸ ἔργον · τὰ ἔργα (nom én acc)</a:t>
            </a:r>
          </a:p>
          <a:p>
            <a:pPr algn="l"/>
            <a:r>
              <a:rPr sz="1050" b="0" i="0">
                <a:solidFill>
                  <a:srgbClr val="5A6270"/>
                </a:solidFill>
                <a:latin typeface="Calibri"/>
              </a:rPr>
              <a:t>12 van de 12 rijtjes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2286000"/>
            <a:ext cx="5486400" cy="1097280"/>
          </a:xfrm>
          <a:prstGeom prst="roundRect">
            <a:avLst/>
          </a:prstGeom>
          <a:solidFill>
            <a:srgbClr val="E4F5EC"/>
          </a:solidFill>
          <a:ln w="15875">
            <a:solidFill>
              <a:srgbClr val="1E8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400" b="1" i="0">
                <a:solidFill>
                  <a:srgbClr val="1E8E5A"/>
                </a:solidFill>
                <a:latin typeface="Calibri"/>
              </a:rPr>
              <a:t>Datief meervoud eindigt op ‑ς</a:t>
            </a:r>
          </a:p>
          <a:p>
            <a:pPr algn="l"/>
            <a:r>
              <a:rPr sz="1350" b="0" i="0">
                <a:solidFill>
                  <a:srgbClr val="171A1F"/>
                </a:solidFill>
                <a:latin typeface="Palatino Linotype"/>
              </a:rPr>
              <a:t>τοῖς λόγοις · ταῖς ἡμέραις · τοῖς σώμασι(ν)</a:t>
            </a:r>
          </a:p>
          <a:p>
            <a:pPr algn="l"/>
            <a:r>
              <a:rPr sz="1050" b="0" i="0">
                <a:solidFill>
                  <a:srgbClr val="5A6270"/>
                </a:solidFill>
                <a:latin typeface="Calibri"/>
              </a:rPr>
              <a:t>‑οις · ‑αις · ‑σι(ν)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611880"/>
            <a:ext cx="11155680" cy="3200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500" b="1" i="0">
                <a:solidFill>
                  <a:srgbClr val="171A1F"/>
                </a:solidFill>
                <a:latin typeface="Calibri"/>
              </a:rPr>
              <a:t>Wat je dan nog per groep moet weten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3977639"/>
          <a:ext cx="111556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377440"/>
                <a:gridCol w="1554480"/>
                <a:gridCol w="1554480"/>
                <a:gridCol w="3291840"/>
              </a:tblGrid>
              <a:tr h="36576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Groep</a:t>
                      </a:r>
                    </a:p>
                  </a:txBody>
                  <a:tcPr>
                    <a:solidFill>
                      <a:srgbClr val="171A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Herken je aan</a:t>
                      </a:r>
                    </a:p>
                  </a:txBody>
                  <a:tcPr>
                    <a:solidFill>
                      <a:srgbClr val="171A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Nom ev</a:t>
                      </a:r>
                    </a:p>
                  </a:txBody>
                  <a:tcPr>
                    <a:solidFill>
                      <a:srgbClr val="171A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Gen ev</a:t>
                      </a:r>
                    </a:p>
                  </a:txBody>
                  <a:tcPr>
                    <a:solidFill>
                      <a:srgbClr val="171A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Voorbeeld</a:t>
                      </a:r>
                    </a:p>
                  </a:txBody>
                  <a:tcPr>
                    <a:solidFill>
                      <a:srgbClr val="171A1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A1F"/>
                          </a:solidFill>
                          <a:latin typeface="Calibri"/>
                        </a:rPr>
                        <a:t>1e (α/η-stammen)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A1F"/>
                          </a:solidFill>
                          <a:latin typeface="Calibri"/>
                        </a:rPr>
                        <a:t>meestal vrouwelijk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A1F"/>
                          </a:solidFill>
                          <a:latin typeface="Palatino Linotype"/>
                        </a:rPr>
                        <a:t>‑α / ‑η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A1F"/>
                          </a:solidFill>
                          <a:latin typeface="Palatino Linotype"/>
                        </a:rPr>
                        <a:t>‑ας / ‑ης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A1F"/>
                          </a:solidFill>
                          <a:latin typeface="Palatino Linotype"/>
                        </a:rPr>
                        <a:t>ἡμέρα, κώμη, προφήτης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A1F"/>
                          </a:solidFill>
                          <a:latin typeface="Calibri"/>
                        </a:rPr>
                        <a:t>2e (ο-stammen)</a:t>
                      </a:r>
                    </a:p>
                  </a:txBody>
                  <a:tcPr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A1F"/>
                          </a:solidFill>
                          <a:latin typeface="Calibri"/>
                        </a:rPr>
                        <a:t>mannelijk of onzijdig</a:t>
                      </a:r>
                    </a:p>
                  </a:txBody>
                  <a:tcPr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A1F"/>
                          </a:solidFill>
                          <a:latin typeface="Palatino Linotype"/>
                        </a:rPr>
                        <a:t>‑ος / ‑ον</a:t>
                      </a:r>
                    </a:p>
                  </a:txBody>
                  <a:tcPr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A1F"/>
                          </a:solidFill>
                          <a:latin typeface="Palatino Linotype"/>
                        </a:rPr>
                        <a:t>‑ου</a:t>
                      </a:r>
                    </a:p>
                  </a:txBody>
                  <a:tcPr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A1F"/>
                          </a:solidFill>
                          <a:latin typeface="Palatino Linotype"/>
                        </a:rPr>
                        <a:t>λόγος, ἔργον</a:t>
                      </a:r>
                    </a:p>
                  </a:txBody>
                  <a:tcPr>
                    <a:solidFill>
                      <a:srgbClr val="F2F4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A1F"/>
                          </a:solidFill>
                          <a:latin typeface="Calibri"/>
                        </a:rPr>
                        <a:t>3e (medeklinker)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A1F"/>
                          </a:solidFill>
                          <a:latin typeface="Calibri"/>
                        </a:rPr>
                        <a:t>gen. ev op ‑ος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A1F"/>
                          </a:solidFill>
                          <a:latin typeface="Palatino Linotype"/>
                        </a:rPr>
                        <a:t>wisselt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A1F"/>
                          </a:solidFill>
                          <a:latin typeface="Palatino Linotype"/>
                        </a:rPr>
                        <a:t>‑ος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A1F"/>
                          </a:solidFill>
                          <a:latin typeface="Palatino Linotype"/>
                        </a:rPr>
                        <a:t>σῶμα (σώματος), νύξ (νυκτός)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02920" y="5623560"/>
            <a:ext cx="11155680" cy="713232"/>
          </a:xfrm>
          <a:prstGeom prst="roundRect">
            <a:avLst/>
          </a:prstGeom>
          <a:solidFill>
            <a:srgbClr val="F9E9ED"/>
          </a:solidFill>
          <a:ln w="15875">
            <a:solidFill>
              <a:srgbClr val="8E2C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8E2C48"/>
                </a:solidFill>
                <a:latin typeface="Calibri"/>
              </a:rPr>
              <a:t>De 3e declinatie is de lastige — en juist daar helpt de genitivus.</a:t>
            </a:r>
          </a:p>
          <a:p>
            <a:pPr algn="ctr"/>
            <a:r>
              <a:rPr sz="1150" b="0" i="0">
                <a:solidFill>
                  <a:srgbClr val="5A6270"/>
                </a:solidFill>
                <a:latin typeface="Calibri"/>
              </a:rPr>
              <a:t>De nominativus is vaak vervormd (σῶμα, νύξ), maar de genitivus laat de échte stam zien: σώματ‑, νυκτ‑. Hang de uitgangen aan díe stam, niet aan de nominativus.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71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127729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Palatino Linotype"/>
              </a:rPr>
              <a:t>Wat er per niveau te leren valt</a:t>
            </a:r>
          </a:p>
          <a:p>
            <a:r>
              <a:rPr sz="1250">
                <a:solidFill>
                  <a:srgbClr val="C3CAD3"/>
                </a:solidFill>
                <a:latin typeface="Calibri"/>
              </a:rPr>
              <a:t>554 cellen in totaal — maar niet allemaal even zwaar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97280"/>
            <a:ext cx="3657600" cy="1828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B6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 i="0">
                <a:solidFill>
                  <a:srgbClr val="1B6E9C"/>
                </a:solidFill>
                <a:latin typeface="Palatino Linotype"/>
              </a:rPr>
              <a:t>Grieks 1</a:t>
            </a:r>
          </a:p>
          <a:p>
            <a:pPr algn="ctr"/>
            <a:r>
              <a:rPr sz="1100" b="0" i="0">
                <a:solidFill>
                  <a:srgbClr val="5A6270"/>
                </a:solidFill>
                <a:latin typeface="Calibri"/>
              </a:rPr>
              <a:t>216 cellen</a:t>
            </a:r>
          </a:p>
          <a:p>
            <a:pPr algn="ctr"/>
            <a:r>
              <a:rPr sz="600" b="0" i="0">
                <a:solidFill>
                  <a:srgbClr val="171A1F"/>
                </a:solidFill>
                <a:latin typeface="Calibri"/>
              </a:rPr>
              <a:t/>
            </a:r>
          </a:p>
          <a:p>
            <a:pPr algn="ctr"/>
            <a:r>
              <a:rPr sz="1150" b="0" i="0">
                <a:solidFill>
                  <a:srgbClr val="171A1F"/>
                </a:solidFill>
                <a:latin typeface="Calibri"/>
              </a:rPr>
              <a:t>Lidwoord · 1e en 2e declinatie · adjectiva</a:t>
            </a:r>
          </a:p>
          <a:p>
            <a:pPr algn="ctr"/>
            <a:r>
              <a:rPr sz="1150" b="0" i="0">
                <a:solidFill>
                  <a:srgbClr val="171A1F"/>
                </a:solidFill>
                <a:latin typeface="Calibri"/>
              </a:rPr>
              <a:t>εἰμί · λύω actief (praesens t/m aoristus)</a:t>
            </a:r>
          </a:p>
          <a:p>
            <a:pPr algn="ctr"/>
            <a:r>
              <a:rPr sz="1150" b="0" i="0">
                <a:solidFill>
                  <a:srgbClr val="171A1F"/>
                </a:solidFill>
                <a:latin typeface="Calibri"/>
              </a:rPr>
              <a:t>Persoonlijke voornaamwoorden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70832" y="1097280"/>
            <a:ext cx="3657600" cy="1828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A759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 i="0">
                <a:solidFill>
                  <a:srgbClr val="A75906"/>
                </a:solidFill>
                <a:latin typeface="Palatino Linotype"/>
              </a:rPr>
              <a:t>Grieks 2</a:t>
            </a:r>
          </a:p>
          <a:p>
            <a:pPr algn="ctr"/>
            <a:r>
              <a:rPr sz="1100" b="0" i="0">
                <a:solidFill>
                  <a:srgbClr val="5A6270"/>
                </a:solidFill>
                <a:latin typeface="Calibri"/>
              </a:rPr>
              <a:t>267 cellen</a:t>
            </a:r>
          </a:p>
          <a:p>
            <a:pPr algn="ctr"/>
            <a:r>
              <a:rPr sz="600" b="0" i="0">
                <a:solidFill>
                  <a:srgbClr val="171A1F"/>
                </a:solidFill>
                <a:latin typeface="Calibri"/>
              </a:rPr>
              <a:t/>
            </a:r>
          </a:p>
          <a:p>
            <a:pPr algn="ctr"/>
            <a:r>
              <a:rPr sz="1150" b="0" i="0">
                <a:solidFill>
                  <a:srgbClr val="171A1F"/>
                </a:solidFill>
                <a:latin typeface="Calibri"/>
              </a:rPr>
              <a:t>3e declinatie (znw. én bijv.)</a:t>
            </a:r>
          </a:p>
          <a:p>
            <a:pPr algn="ctr"/>
            <a:r>
              <a:rPr sz="1150" b="0" i="0">
                <a:solidFill>
                  <a:srgbClr val="171A1F"/>
                </a:solidFill>
                <a:latin typeface="Calibri"/>
              </a:rPr>
              <a:t>λύω medium/passief — tien rijtjes</a:t>
            </a:r>
          </a:p>
          <a:p>
            <a:pPr algn="ctr"/>
            <a:r>
              <a:rPr sz="1150" b="0" i="0">
                <a:solidFill>
                  <a:srgbClr val="171A1F"/>
                </a:solidFill>
                <a:latin typeface="Calibri"/>
              </a:rPr>
              <a:t>Participia (96 cellen!) · speciale aoristi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38744" y="1097280"/>
            <a:ext cx="3657600" cy="1828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5B46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 i="0">
                <a:solidFill>
                  <a:srgbClr val="5B469E"/>
                </a:solidFill>
                <a:latin typeface="Palatino Linotype"/>
              </a:rPr>
              <a:t>Grieks 3</a:t>
            </a:r>
          </a:p>
          <a:p>
            <a:pPr algn="ctr"/>
            <a:r>
              <a:rPr sz="1100" b="0" i="0">
                <a:solidFill>
                  <a:srgbClr val="5A6270"/>
                </a:solidFill>
                <a:latin typeface="Calibri"/>
              </a:rPr>
              <a:t>71 cellen</a:t>
            </a:r>
          </a:p>
          <a:p>
            <a:pPr algn="ctr"/>
            <a:r>
              <a:rPr sz="600" b="0" i="0">
                <a:solidFill>
                  <a:srgbClr val="171A1F"/>
                </a:solidFill>
                <a:latin typeface="Calibri"/>
              </a:rPr>
              <a:t/>
            </a:r>
          </a:p>
          <a:p>
            <a:pPr algn="ctr"/>
            <a:r>
              <a:rPr sz="1150" b="0" i="0">
                <a:solidFill>
                  <a:srgbClr val="171A1F"/>
                </a:solidFill>
                <a:latin typeface="Calibri"/>
              </a:rPr>
              <a:t>Conjunctivus (vijf rijtjes)</a:t>
            </a:r>
          </a:p>
          <a:p>
            <a:pPr algn="ctr"/>
            <a:r>
              <a:rPr sz="1150" b="0" i="0">
                <a:solidFill>
                  <a:srgbClr val="171A1F"/>
                </a:solidFill>
                <a:latin typeface="Calibri"/>
              </a:rPr>
              <a:t>Werkwoorden op ‑μι (δείκνυμι)</a:t>
            </a:r>
          </a:p>
          <a:p>
            <a:pPr algn="ctr"/>
            <a:r>
              <a:rPr sz="1150" b="0" i="0">
                <a:solidFill>
                  <a:srgbClr val="171A1F"/>
                </a:solidFill>
                <a:latin typeface="Calibri"/>
              </a:rPr>
              <a:t>Participium op ‑μι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108960"/>
            <a:ext cx="11155680" cy="3200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500" b="1" i="0">
                <a:solidFill>
                  <a:srgbClr val="171A1F"/>
                </a:solidFill>
                <a:latin typeface="Calibri"/>
              </a:rPr>
              <a:t>Waar je tijd echt naartoe gaat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474720"/>
            <a:ext cx="11155680" cy="914400"/>
          </a:xfrm>
          <a:prstGeom prst="roundRect">
            <a:avLst/>
          </a:prstGeom>
          <a:solidFill>
            <a:srgbClr val="FAEEDF"/>
          </a:solidFill>
          <a:ln w="15875">
            <a:solidFill>
              <a:srgbClr val="A759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A75906"/>
                </a:solidFill>
                <a:latin typeface="Calibri"/>
              </a:rPr>
              <a:t>De participia van Grieks 2 zijn in hun eentje 96 cellen — bijna een vijfde van alles.</a:t>
            </a:r>
          </a:p>
          <a:p>
            <a:pPr algn="ctr"/>
            <a:r>
              <a:rPr sz="1200" b="0" i="0">
                <a:solidFill>
                  <a:srgbClr val="5A6270"/>
                </a:solidFill>
                <a:latin typeface="Calibri"/>
              </a:rPr>
              <a:t>Logisch: een participium heeft drie geslachten × vier naamvallen × twee getallen. Maar het gebruikt gewoon de bekende naamwoorduitgangen; alleen de stam (λύων, λύσας, λυθείς) is nieuw.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526280"/>
            <a:ext cx="11155680" cy="1691640"/>
          </a:xfrm>
          <a:prstGeom prst="roundRect">
            <a:avLst/>
          </a:prstGeom>
          <a:solidFill>
            <a:srgbClr val="F2F4F6"/>
          </a:solidFill>
          <a:ln w="1587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400" b="1" i="0">
                <a:solidFill>
                  <a:srgbClr val="171A1F"/>
                </a:solidFill>
                <a:latin typeface="Calibri"/>
              </a:rPr>
              <a:t>Een werkbare volgorde</a:t>
            </a:r>
          </a:p>
          <a:p>
            <a:pPr algn="l"/>
            <a:r>
              <a:rPr sz="500" b="0" i="0">
                <a:solidFill>
                  <a:srgbClr val="171A1F"/>
                </a:solidFill>
                <a:latin typeface="Calibri"/>
              </a:rPr>
              <a:t/>
            </a:r>
          </a:p>
          <a:p>
            <a:pPr algn="l"/>
            <a:r>
              <a:rPr sz="1200" b="0" i="0">
                <a:solidFill>
                  <a:srgbClr val="171A1F"/>
                </a:solidFill>
                <a:latin typeface="Calibri"/>
              </a:rPr>
              <a:t>1 · Het lidwoord. Dat is 24 cellen en het geeft je meteen alle naamvalsuitgangen van groep 1 en 2.</a:t>
            </a:r>
          </a:p>
          <a:p>
            <a:pPr algn="l"/>
            <a:r>
              <a:rPr sz="1200" b="0" i="0">
                <a:solidFill>
                  <a:srgbClr val="171A1F"/>
                </a:solidFill>
                <a:latin typeface="Calibri"/>
              </a:rPr>
              <a:t>2 · λύω actief indicativus. Daarmee heb je de vier sets uitgangen te pakken.</a:t>
            </a:r>
          </a:p>
          <a:p>
            <a:pPr algn="l"/>
            <a:r>
              <a:rPr sz="1200" b="0" i="0">
                <a:solidFill>
                  <a:srgbClr val="171A1F"/>
                </a:solidFill>
                <a:latin typeface="Calibri"/>
              </a:rPr>
              <a:t>3 · De 1e en 2e declinatie. Die volgen het lidwoord op de voet.</a:t>
            </a:r>
          </a:p>
          <a:p>
            <a:pPr algn="l"/>
            <a:r>
              <a:rPr sz="1200" b="0" i="0">
                <a:solidFill>
                  <a:srgbClr val="171A1F"/>
                </a:solidFill>
                <a:latin typeface="Calibri"/>
              </a:rPr>
              <a:t>4 · Medium/passief. Nieuwe set, maar dezelfde logica van nu/verleden.</a:t>
            </a:r>
          </a:p>
          <a:p>
            <a:pPr algn="l"/>
            <a:r>
              <a:rPr sz="1200" b="0" i="0">
                <a:solidFill>
                  <a:srgbClr val="171A1F"/>
                </a:solidFill>
                <a:latin typeface="Calibri"/>
              </a:rPr>
              <a:t>5 · De 3e declinatie en de participia. Die bouwen op alles hierboven.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7315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Palatino Linotype"/>
              </a:rPr>
              <a:t>Drie dingen om te onthouden</a:t>
            </a:r>
          </a:p>
        </p:txBody>
      </p:sp>
      <p:sp>
        <p:nvSpPr>
          <p:cNvPr id="4" name="Oval 3"/>
          <p:cNvSpPr/>
          <p:nvPr/>
        </p:nvSpPr>
        <p:spPr>
          <a:xfrm>
            <a:off x="1463040" y="2468880"/>
            <a:ext cx="566928" cy="566928"/>
          </a:xfrm>
          <a:prstGeom prst="ellipse">
            <a:avLst/>
          </a:prstGeom>
          <a:solidFill>
            <a:srgbClr val="A759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2450592"/>
            <a:ext cx="859536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Palatino Linotype"/>
              </a:rPr>
              <a:t>Vier sets uitgangen dragen alles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2816352"/>
            <a:ext cx="859536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50" b="0" i="0">
                <a:solidFill>
                  <a:srgbClr val="A8B4C0"/>
                </a:solidFill>
                <a:latin typeface="Calibri"/>
              </a:rPr>
              <a:t>Actief/medium × nu/verleden. De rest is die sets met een σ of σα erin.</a:t>
            </a:r>
          </a:p>
        </p:txBody>
      </p:sp>
      <p:sp>
        <p:nvSpPr>
          <p:cNvPr id="7" name="Oval 6"/>
          <p:cNvSpPr/>
          <p:nvPr/>
        </p:nvSpPr>
        <p:spPr>
          <a:xfrm>
            <a:off x="1463040" y="3611880"/>
            <a:ext cx="566928" cy="566928"/>
          </a:xfrm>
          <a:prstGeom prst="ellipse">
            <a:avLst/>
          </a:prstGeom>
          <a:solidFill>
            <a:srgbClr val="A759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3593592"/>
            <a:ext cx="859536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Palatino Linotype"/>
              </a:rPr>
              <a:t>De conjunctivus is een lange klinker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3959352"/>
            <a:ext cx="859536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50" b="0" i="0">
                <a:solidFill>
                  <a:srgbClr val="A8B4C0"/>
                </a:solidFill>
                <a:latin typeface="Calibri"/>
              </a:rPr>
              <a:t>Onverwacht een ω of η waar je ο of ε verwachtte? Denk aan de conjunctivus.</a:t>
            </a:r>
          </a:p>
        </p:txBody>
      </p:sp>
      <p:sp>
        <p:nvSpPr>
          <p:cNvPr id="10" name="Oval 9"/>
          <p:cNvSpPr/>
          <p:nvPr/>
        </p:nvSpPr>
        <p:spPr>
          <a:xfrm>
            <a:off x="1463040" y="4754880"/>
            <a:ext cx="566928" cy="566928"/>
          </a:xfrm>
          <a:prstGeom prst="ellipse">
            <a:avLst/>
          </a:prstGeom>
          <a:solidFill>
            <a:srgbClr val="A759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4736592"/>
            <a:ext cx="859536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Palatino Linotype"/>
              </a:rPr>
              <a:t>Bij naamwoorden: kijk naar de genitivus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5102352"/>
            <a:ext cx="859536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50" b="0" i="0">
                <a:solidFill>
                  <a:srgbClr val="A8B4C0"/>
                </a:solidFill>
                <a:latin typeface="Calibri"/>
              </a:rPr>
              <a:t>Die laat de echte stam zien. Gen. mv is altijd ‑ων, de datief heeft altijd een iota.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